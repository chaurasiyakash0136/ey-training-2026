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74" r:id="rId10"/>
    <p:sldId id="273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435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team and the platform. Mention it is live on Azure.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manual bottleneck. Banks receive hundreds of loan applications. Human review is slow and inconsistent.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what we built. Emphasise the end-to-end nature — not just a chatbot but a full financial analysis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five layers. PDF comes in at the top, risk decision comes out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customer journey from login to recommendations. Mention loan gating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entity-aware prompting — the AI knows whether it is talking to a customer or a bank and changes its analysis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every suggested question is pre-validated. The AI never shows a question it cannot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3F0D0-12F3-41A7-5B88-B5C426E2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A2477-0CD1-C5FB-A80A-A533B06AF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8E4C8-6876-1C9A-4F69-619B062E3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82C18-C76A-DB58-2DC1-68A113845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56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9-step pipeline. Emphasise the hybrid search and year-aware re-ranking as the key innovation for reducing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62% reduction in hallucination. Explain that DeepEval gives us proof the AI is not making things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96 tests, 6 seconds, zero API keys. Show the green tick in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workflows run on every push. main.yml is the quality gate. The Azure workflow only runs if tests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user action is traced. Open smith.langchain.com during demo to show live traces from the Azure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URL. Explain the LLM fallback — if OpenAI is down, Groq takes over. If Groq hits rate limit, Gemini handles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hardest one and explain it in depth. The hallucination problem is the most impressive technically.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here. The learnings section is where the trainer sees your engineering maturity — knowing what to do differently is as important as what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 Offer to show the live app and LangSmith traces.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ditriskplatform.azurewebsites.ne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82296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891B2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891B2"/>
                </a:solidFill>
              </a:rPr>
              <a:t>EY TRAINING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Platform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Credit Risk Assessment &amp; Financial Document Analysis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Akash Chaurasiya   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 Ashu Sharma</a:t>
            </a:r>
            <a:endParaRPr lang="en-US" sz="120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creditriskplatform.azurewebsites.net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DC2626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DC2626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This Platform Exist?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463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3774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Bank officers read 50–100 page PDFs manually. Takes 3–5 days per application.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32588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463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Human Error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5768" y="23774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Inconsistent scoring. Same applicant gets different risk ratings from different officers.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49240" y="1463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Slow Decisions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23774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Customers wait weeks for loan approvals due to document processing bottlenecks.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03720" y="132588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1463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95160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Revenue Loss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13448" y="23774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Banks lose creditworthy customers to competitors who approve faster.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71600" y="384048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2563EB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3840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Our platform processes documents in minutes, not days — with consistent, explainable AI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9669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4A3B8"/>
                </a:solidFill>
              </a:rPr>
              <a:t>Credit Risk Intelligence Platform that: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9578" y="1315577"/>
            <a:ext cx="783679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key financial data from uploaded PDFs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credit risk scores with full explanation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AI-powered loan recommendations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individual customers and financial institutions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next steps: safer loan amounts, better rates, and ways to improve loan application.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fully on Azure with CI/CD pipeline.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Built with: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08760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Streamlit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87752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587752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LangChain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66744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66744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Pinecone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45736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45736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Docker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24728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824728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Azure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03720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LangSmith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982712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3" name="Text 31"/>
          <p:cNvSpPr/>
          <p:nvPr/>
        </p:nvSpPr>
        <p:spPr>
          <a:xfrm>
            <a:off x="7982712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3B82F6"/>
                </a:solidFill>
              </a:rPr>
              <a:t>OpenAi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563EB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2563EB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572768" cy="2651760"/>
          </a:xfrm>
          <a:prstGeom prst="roundRect">
            <a:avLst>
              <a:gd name="adj" fmla="val 5814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0891B2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UI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Streamlit Web 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Auth (JWT + bcrypt)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73405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Customer + Institution Views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38528" y="2651760"/>
            <a:ext cx="146304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2084832" y="1325880"/>
            <a:ext cx="1572768" cy="2651760"/>
          </a:xfrm>
          <a:prstGeom prst="roundRect">
            <a:avLst>
              <a:gd name="adj" fmla="val 5814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84832" y="132588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2563EB">
              <a:alpha val="7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084832" y="1325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Orchestrator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76272" y="1783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Chat Agent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76272" y="225856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Document Agent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76272" y="273405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Retrieval Agent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2651760"/>
            <a:ext cx="14630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3803904" y="1325880"/>
            <a:ext cx="1572768" cy="2651760"/>
          </a:xfrm>
          <a:prstGeom prst="roundRect">
            <a:avLst>
              <a:gd name="adj" fmla="val 5814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03904" y="132588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D97706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803904" y="1325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/ LLM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95344" y="1783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OpenAI → Groq → Gemini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95344" y="225856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3-tier fallback chain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95344" y="273405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LangSmith tracing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2651760"/>
            <a:ext cx="146304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5522976" y="1325880"/>
            <a:ext cx="1572768" cy="2651760"/>
          </a:xfrm>
          <a:prstGeom prst="roundRect">
            <a:avLst>
              <a:gd name="adj" fmla="val 5814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22976" y="132588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059669">
              <a:alpha val="7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522976" y="1325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Layer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14416" y="1783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Pinecone Vector DB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14416" y="225856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BM25 Hybrid Search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14416" y="273405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SQLite User Auth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95744" y="2651760"/>
            <a:ext cx="146304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ysDash"/>
          </a:ln>
        </p:spPr>
      </p:sp>
      <p:sp>
        <p:nvSpPr>
          <p:cNvPr id="33" name="Shape 31"/>
          <p:cNvSpPr/>
          <p:nvPr/>
        </p:nvSpPr>
        <p:spPr>
          <a:xfrm>
            <a:off x="7242048" y="1325880"/>
            <a:ext cx="1572768" cy="2651760"/>
          </a:xfrm>
          <a:prstGeom prst="roundRect">
            <a:avLst>
              <a:gd name="adj" fmla="val 5814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42048" y="132588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DC2626">
              <a:alpha val="7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242048" y="1325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33488" y="1783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Azure App Service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96912" y="227685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GitHub Actions CI/CD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← User uploads PDF → Chunks → Vectors → LLM → Risk Score + Recommendations →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217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Secure Login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671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JWT auth with bcrypt password hashing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298448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18470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Upload PDFs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1671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Salary slips, bank statements, ITR, credit reports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1298448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18470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1671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AI-generated credit score with strengths &amp; red flags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3493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Recommendations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81304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Personalised action plan sorted by urgency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944368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29000" y="3493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Chat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81304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Ask questions about your own documents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63640" y="2944368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🏙️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55080" y="3493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Retirement Planner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81304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City-aware retirement corpus calculator — 40 cities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11480" y="1298448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3977640" cy="384048"/>
          </a:xfrm>
          <a:prstGeom prst="roundRect">
            <a:avLst>
              <a:gd name="adj" fmla="val 28571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984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Customer Sees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Personal risk score (0–100)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Loan approval probability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Safe borrowing amount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Recommended banks &amp;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Debt-to-income ratio (DTI)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Improvement action 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98448"/>
            <a:ext cx="3977640" cy="384048"/>
          </a:xfrm>
          <a:prstGeom prst="roundRect">
            <a:avLst>
              <a:gd name="adj" fmla="val 28571"/>
            </a:avLst>
          </a:prstGeom>
          <a:solidFill>
            <a:srgbClr val="D9770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2984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🏦  Bank Officer Sees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NPA risk &amp; CRAR indicators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Fraud detection flags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Applicant financial summary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Loan Approve / Reject decision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Capital adequacy assessment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Structured executive report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7719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kern="0" spc="150" dirty="0">
                <a:solidFill>
                  <a:srgbClr val="EF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480060" y="61722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documents, then scoring the risk</a:t>
            </a:r>
            <a:endParaRPr lang="en-US" sz="2025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80060" y="1200150"/>
            <a:ext cx="3954666" cy="3360420"/>
          </a:xfrm>
          <a:prstGeom prst="roundRect">
            <a:avLst>
              <a:gd name="adj" fmla="val 1837"/>
            </a:avLst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0589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508760"/>
            <a:ext cx="205740" cy="2057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0150" y="1405890"/>
            <a:ext cx="30631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Summary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685800" y="1954530"/>
            <a:ext cx="354318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every uploaded PDF and pulls out the numbers that actually matter — income, expenses, existing loans, balances — and lays them out in plain language instead of raw pages.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2811780"/>
            <a:ext cx="3543186" cy="1611630"/>
          </a:xfrm>
          <a:prstGeom prst="roundRect">
            <a:avLst>
              <a:gd name="adj" fmla="val 3404"/>
            </a:avLst>
          </a:prstGeom>
          <a:solidFill>
            <a:srgbClr val="FBFBFD"/>
          </a:solidFill>
          <a:ln w="19050">
            <a:solidFill>
              <a:srgbClr val="C7CCE0"/>
            </a:solidFill>
            <a:prstDash val="dash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798" y="3116961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583305"/>
            <a:ext cx="32688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b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Summary Screen</a:t>
            </a:r>
            <a:endParaRPr lang="en-US" sz="863" dirty="0"/>
          </a:p>
        </p:txBody>
      </p:sp>
      <p:sp>
        <p:nvSpPr>
          <p:cNvPr id="12" name="Text 8"/>
          <p:cNvSpPr/>
          <p:nvPr/>
        </p:nvSpPr>
        <p:spPr>
          <a:xfrm>
            <a:off x="822960" y="3837051"/>
            <a:ext cx="326886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i="1" dirty="0">
                <a:solidFill>
                  <a:srgbClr val="AE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713" dirty="0"/>
          </a:p>
        </p:txBody>
      </p:sp>
      <p:sp>
        <p:nvSpPr>
          <p:cNvPr id="13" name="Shape 9"/>
          <p:cNvSpPr/>
          <p:nvPr/>
        </p:nvSpPr>
        <p:spPr>
          <a:xfrm>
            <a:off x="4709046" y="1200150"/>
            <a:ext cx="3954666" cy="3360420"/>
          </a:xfrm>
          <a:prstGeom prst="roundRect">
            <a:avLst>
              <a:gd name="adj" fmla="val 1837"/>
            </a:avLst>
          </a:prstGeom>
          <a:solidFill>
            <a:srgbClr val="F5F6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914786" y="140589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7656" y="1508760"/>
            <a:ext cx="205740" cy="2057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29136" y="1405890"/>
            <a:ext cx="30631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</a:t>
            </a:r>
            <a:endParaRPr lang="en-US" sz="1275" dirty="0"/>
          </a:p>
        </p:txBody>
      </p:sp>
      <p:sp>
        <p:nvSpPr>
          <p:cNvPr id="17" name="Text 12"/>
          <p:cNvSpPr/>
          <p:nvPr/>
        </p:nvSpPr>
        <p:spPr>
          <a:xfrm>
            <a:off x="4914786" y="1954530"/>
            <a:ext cx="354318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that summary, the app calculates a credit risk score out of 100, and explains it — what's working in the applicant's favor, what the red flags are, and how much of their income already goes toward debt.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914786" y="2811780"/>
            <a:ext cx="3543186" cy="1611630"/>
          </a:xfrm>
          <a:prstGeom prst="roundRect">
            <a:avLst>
              <a:gd name="adj" fmla="val 3404"/>
            </a:avLst>
          </a:prstGeom>
          <a:solidFill>
            <a:srgbClr val="FBFBFD"/>
          </a:solidFill>
          <a:ln w="19050">
            <a:solidFill>
              <a:srgbClr val="C7CCE0"/>
            </a:solidFill>
            <a:prstDash val="dash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83" y="3116961"/>
            <a:ext cx="377190" cy="37719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51946" y="3583305"/>
            <a:ext cx="32688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b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Screen</a:t>
            </a:r>
            <a:endParaRPr lang="en-US" sz="863" dirty="0"/>
          </a:p>
        </p:txBody>
      </p:sp>
      <p:sp>
        <p:nvSpPr>
          <p:cNvPr id="21" name="Text 15"/>
          <p:cNvSpPr/>
          <p:nvPr/>
        </p:nvSpPr>
        <p:spPr>
          <a:xfrm>
            <a:off x="5051946" y="3837051"/>
            <a:ext cx="326886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i="1" dirty="0">
                <a:solidFill>
                  <a:srgbClr val="AE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screenshot here</a:t>
            </a:r>
            <a:endParaRPr lang="en-US" sz="713" dirty="0"/>
          </a:p>
        </p:txBody>
      </p:sp>
      <p:sp>
        <p:nvSpPr>
          <p:cNvPr id="22" name="Text 16"/>
          <p:cNvSpPr/>
          <p:nvPr/>
        </p:nvSpPr>
        <p:spPr>
          <a:xfrm>
            <a:off x="480060" y="4800600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Intelligence Platform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8526551" y="4800600"/>
            <a:ext cx="411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9C93F49-5CBB-6A40-7F34-5B986D7259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74" y="2811781"/>
            <a:ext cx="3567201" cy="16116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0E07E07-A533-5DD9-13AD-7FA66E0874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476" y="2811780"/>
            <a:ext cx="3504495" cy="16116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563EB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2563EB"/>
                </a:solidFill>
              </a:rPr>
              <a:t>AI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Recommendations Engine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94960" y="1298448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0" y="134416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35040" y="13441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</a:rPr>
              <a:t>Generates a clear loan decision (Approve / Review / Reject) with explainable reasons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0" y="2121408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216712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21671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</a:rPr>
              <a:t>Generates personalized recommendations based on the customer's financial profile.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2944368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299008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35040" y="299008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</a:rPr>
              <a:t>Suggests alternative financing options suitable for the applicant's risk profile.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3767328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381304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35040" y="381304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</a:rPr>
              <a:t>Suggests practical improvements to increase future approval chances.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FE7C047-548A-A99F-51E4-3445EB300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37" y="1216152"/>
            <a:ext cx="4926263" cy="3653028"/>
          </a:xfrm>
          <a:prstGeom prst="rect">
            <a:avLst/>
          </a:prstGeom>
          <a:ln w="3175">
            <a:solidFill>
              <a:schemeClr val="bg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7719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kern="0" spc="150" dirty="0">
                <a:solidFill>
                  <a:srgbClr val="EF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480060" y="617220"/>
            <a:ext cx="5486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ahead: the retirement risk planner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80060" y="1110996"/>
            <a:ext cx="384048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isn't only about today's loan — it's also about whether someone is financially prepared for the future. This planner answers that question.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480060" y="1817370"/>
            <a:ext cx="329184" cy="329184"/>
          </a:xfrm>
          <a:prstGeom prst="ellipse">
            <a:avLst/>
          </a:prstGeom>
          <a:solidFill>
            <a:srgbClr val="F5F6F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1899666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5830" y="1796796"/>
            <a:ext cx="3497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City-aware costs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925830" y="2023110"/>
            <a:ext cx="353187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81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40+ Indian cities — housing, healthcare, and inflation are adjusted automatically.</a:t>
            </a:r>
            <a:endParaRPr lang="en-US" sz="810" dirty="0"/>
          </a:p>
        </p:txBody>
      </p:sp>
      <p:sp>
        <p:nvSpPr>
          <p:cNvPr id="9" name="Shape 6"/>
          <p:cNvSpPr/>
          <p:nvPr/>
        </p:nvSpPr>
        <p:spPr>
          <a:xfrm>
            <a:off x="480060" y="2448306"/>
            <a:ext cx="329184" cy="329184"/>
          </a:xfrm>
          <a:prstGeom prst="ellipse">
            <a:avLst/>
          </a:prstGeom>
          <a:solidFill>
            <a:srgbClr val="F5F6F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2530602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" y="2427732"/>
            <a:ext cx="3497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Retirement corpus</a:t>
            </a:r>
            <a:endParaRPr lang="en-US" sz="975" dirty="0"/>
          </a:p>
        </p:txBody>
      </p:sp>
      <p:sp>
        <p:nvSpPr>
          <p:cNvPr id="12" name="Text 8"/>
          <p:cNvSpPr/>
          <p:nvPr/>
        </p:nvSpPr>
        <p:spPr>
          <a:xfrm>
            <a:off x="925830" y="2654046"/>
            <a:ext cx="353187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81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how much money you'll actually need to retire comfortably in that city.</a:t>
            </a:r>
            <a:endParaRPr lang="en-US" sz="810" dirty="0"/>
          </a:p>
        </p:txBody>
      </p:sp>
      <p:sp>
        <p:nvSpPr>
          <p:cNvPr id="13" name="Shape 9"/>
          <p:cNvSpPr/>
          <p:nvPr/>
        </p:nvSpPr>
        <p:spPr>
          <a:xfrm>
            <a:off x="480060" y="3079242"/>
            <a:ext cx="329184" cy="329184"/>
          </a:xfrm>
          <a:prstGeom prst="ellipse">
            <a:avLst/>
          </a:prstGeom>
          <a:solidFill>
            <a:srgbClr val="F5F6F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" y="316153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5830" y="3058668"/>
            <a:ext cx="3497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savings needed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925830" y="3284982"/>
            <a:ext cx="353187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81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backward to show the monthly SIP amount required to hit that target.</a:t>
            </a:r>
            <a:endParaRPr lang="en-US" sz="810" dirty="0"/>
          </a:p>
        </p:txBody>
      </p:sp>
      <p:sp>
        <p:nvSpPr>
          <p:cNvPr id="17" name="Shape 12"/>
          <p:cNvSpPr/>
          <p:nvPr/>
        </p:nvSpPr>
        <p:spPr>
          <a:xfrm>
            <a:off x="480060" y="3710178"/>
            <a:ext cx="329184" cy="329184"/>
          </a:xfrm>
          <a:prstGeom prst="ellipse">
            <a:avLst/>
          </a:prstGeom>
          <a:solidFill>
            <a:srgbClr val="F5F6F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" y="3792474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5830" y="3689604"/>
            <a:ext cx="3497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check</a:t>
            </a:r>
            <a:endParaRPr lang="en-US" sz="975" dirty="0"/>
          </a:p>
        </p:txBody>
      </p:sp>
      <p:sp>
        <p:nvSpPr>
          <p:cNvPr id="20" name="Text 14"/>
          <p:cNvSpPr/>
          <p:nvPr/>
        </p:nvSpPr>
        <p:spPr>
          <a:xfrm>
            <a:off x="925830" y="3915918"/>
            <a:ext cx="353187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81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plan against current income to flag whether the goal is realistic today.</a:t>
            </a:r>
            <a:endParaRPr lang="en-US" sz="810" dirty="0"/>
          </a:p>
        </p:txBody>
      </p:sp>
      <p:sp>
        <p:nvSpPr>
          <p:cNvPr id="25" name="Text 18"/>
          <p:cNvSpPr/>
          <p:nvPr/>
        </p:nvSpPr>
        <p:spPr>
          <a:xfrm>
            <a:off x="480060" y="4800600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Intelligence Platform</a:t>
            </a:r>
            <a:endParaRPr lang="en-US" sz="750" dirty="0"/>
          </a:p>
        </p:txBody>
      </p:sp>
      <p:sp>
        <p:nvSpPr>
          <p:cNvPr id="26" name="Text 19"/>
          <p:cNvSpPr/>
          <p:nvPr/>
        </p:nvSpPr>
        <p:spPr>
          <a:xfrm>
            <a:off x="8526551" y="4800600"/>
            <a:ext cx="411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E06AA5A-B643-6C85-3D1C-A578BF2E24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700" y="1032129"/>
            <a:ext cx="4607388" cy="373418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4EB40-CF0F-6859-D077-7C271D28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D8BCE1-D082-A5FA-35D8-AD136D0F51C6}"/>
              </a:ext>
            </a:extLst>
          </p:cNvPr>
          <p:cNvSpPr/>
          <p:nvPr/>
        </p:nvSpPr>
        <p:spPr>
          <a:xfrm>
            <a:off x="399993" y="125393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kern="0" spc="150" dirty="0">
                <a:solidFill>
                  <a:srgbClr val="EF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938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F3CDAB-144B-1061-9179-BE5EBDA9E197}"/>
              </a:ext>
            </a:extLst>
          </p:cNvPr>
          <p:cNvSpPr/>
          <p:nvPr/>
        </p:nvSpPr>
        <p:spPr>
          <a:xfrm>
            <a:off x="440951" y="387052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the documents into advice you can act on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001A2C31-D4B0-767B-4979-F2AA80213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798" y="3116961"/>
            <a:ext cx="377190" cy="377190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51D2245D-DC19-E7A2-73EB-2BFDF423FCD9}"/>
              </a:ext>
            </a:extLst>
          </p:cNvPr>
          <p:cNvSpPr/>
          <p:nvPr/>
        </p:nvSpPr>
        <p:spPr>
          <a:xfrm>
            <a:off x="511637" y="1059981"/>
            <a:ext cx="6811048" cy="750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window where you can ask plain questions about your own uploaded documents — "how much did I spend last month?" — and get answers grounded only in what you actually uploaded, not guesses.</a:t>
            </a:r>
          </a:p>
          <a:p>
            <a:pPr>
              <a:lnSpc>
                <a:spcPct val="120000"/>
              </a:lnSpc>
            </a:pPr>
            <a:endParaRPr lang="en-US" sz="9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19C85C4A-7796-DE30-D7EA-59E6523E7981}"/>
              </a:ext>
            </a:extLst>
          </p:cNvPr>
          <p:cNvSpPr/>
          <p:nvPr/>
        </p:nvSpPr>
        <p:spPr>
          <a:xfrm>
            <a:off x="480060" y="4800600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Intelligence Platform</a:t>
            </a:r>
            <a:endParaRPr lang="en-US" sz="75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B98A64C-F3CF-D577-C8A6-CE910A91B8A4}"/>
              </a:ext>
            </a:extLst>
          </p:cNvPr>
          <p:cNvSpPr/>
          <p:nvPr/>
        </p:nvSpPr>
        <p:spPr>
          <a:xfrm>
            <a:off x="8526551" y="4800600"/>
            <a:ext cx="411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BF1F125-622A-004E-6CC2-B5AFB6379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82" y="1868295"/>
            <a:ext cx="8780221" cy="301317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174829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891B2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891B2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408176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 PDF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User uploads financial documents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65960" y="192024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0552" y="1298448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24912" y="1408176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21992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 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21992" y="2121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PyMuPDF extracts content by page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30752" y="192024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95344" y="1298448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9704" y="1408176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4489704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86784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Chunk + Embed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86784" y="2121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Split into chunks, create vectors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95544" y="192024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0136" y="1298448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54496" y="140817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254496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51576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Store Vectors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51576" y="2121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Indexed in Pinecone cloud DB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60336" y="192024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24928" y="1298448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19288" y="1408176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8019288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16368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Retrieve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16368" y="2121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BM25 + vector hybrid search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274320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60120" y="285292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3291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Re-rank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5661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Year-aware re-ranking removes stale data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65960" y="3364992"/>
            <a:ext cx="5760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42032" y="274320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36392" y="285292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3136392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633472" y="3291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LLM Call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33472" y="35661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OpenAI → Groq → Gemini fallback chain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42232" y="3364992"/>
            <a:ext cx="5760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18304" y="274320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312664" y="285292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5312664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809744" y="3291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09744" y="35661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DeepEval + RAGAS hallucination check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18504" y="3364992"/>
            <a:ext cx="5760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94576" y="274320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488936" y="285292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4" name="Text 52"/>
          <p:cNvSpPr/>
          <p:nvPr/>
        </p:nvSpPr>
        <p:spPr>
          <a:xfrm>
            <a:off x="7488936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986016" y="3291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Display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86016" y="35661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Risk score, recommendations, chat answer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9669"/>
                </a:solidFill>
              </a:rPr>
              <a:t>AI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5303520" cy="1645920"/>
          </a:xfrm>
          <a:prstGeom prst="roundRect">
            <a:avLst>
              <a:gd name="adj" fmla="val 6667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DeepEval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Hallucination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Checks every statement in the AI answer against retrieved chunks. Score 0.0 = perfect.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77640" y="173736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2563EB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1737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</a:rPr>
              <a:t>0.22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977640" y="23591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Avg. score (bad profile)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3127248"/>
            <a:ext cx="5303520" cy="1645920"/>
          </a:xfrm>
          <a:prstGeom prst="roundRect">
            <a:avLst>
              <a:gd name="adj" fmla="val 6667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RAGAS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3218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Answer Quality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Measures faithfulness (did AI use only document facts?) and relevancy (did it answer the question?).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77640" y="356616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0891B2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977640" y="35661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</a:rPr>
              <a:t>0.88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977640" y="4187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Avg. faithfulness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9669"/>
                </a:solidFill>
              </a:rPr>
              <a:t>TESTING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Unit Tests — Every Module Covered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48132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2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4813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4712" y="1389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test_auth.py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Login, register, JWT, password hashing, reset flow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298448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0328" y="148132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0891B2">
              <a:alpha val="2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4813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</a:rPr>
              <a:t>16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13832" y="1389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test_loan_workflow.py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13832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Loan gate logic, prompt branching, institution vs customer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139696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" y="2322576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059669">
              <a:alpha val="2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23225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</a:rPr>
              <a:t>19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4712" y="2231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test_entity_aware_fixes.py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Bank gets NPA/CRAR, individual gets DTI — never mixed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139696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2322576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D97706">
              <a:alpha val="2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23225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</a:rPr>
              <a:t>14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13832" y="2231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test_reranker.py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13832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BM25 hybrid search, year-aware re-ranking, hallucination prevention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2980944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" y="3163824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2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31638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13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24712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test_city_and_validator.py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" y="33467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40-city dataset, autocomplete, missing document detection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2980944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163824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0891B2">
              <a:alpha val="2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10328" y="31638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13832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test_retirement_calc.py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13832" y="33467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Corpus maths, city-adjusted expenses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822192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21208" y="4005072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059669">
              <a:alpha val="2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40050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24712" y="3913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test_sampling.py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4712" y="4187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Financial content extraction, document header inclusion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3822192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10328" y="4005072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D97706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910328" y="40050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513832" y="3913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test_schemas.py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4187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Data models, risk score bounds, platform state defaults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</a:rPr>
              <a:t>All 96 tests run automatically in GitHub Actions on every push — in 6 seconds with no API keys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D97706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D97706"/>
                </a:solidFill>
              </a:rPr>
              <a:t>CI/CD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CI/CD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1298448" cy="1417320"/>
          </a:xfrm>
          <a:prstGeom prst="roundRect">
            <a:avLst>
              <a:gd name="adj" fmla="val 7042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898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git push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origin main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09928" y="2011680"/>
            <a:ext cx="16459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1298448"/>
            <a:ext cx="1298448" cy="1417320"/>
          </a:xfrm>
          <a:prstGeom prst="roundRect">
            <a:avLst>
              <a:gd name="adj" fmla="val 7042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74520" y="13898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874520" y="19659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96 Unit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Tests Run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2011680"/>
            <a:ext cx="164592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298448"/>
            <a:ext cx="1298448" cy="1417320"/>
          </a:xfrm>
          <a:prstGeom prst="roundRect">
            <a:avLst>
              <a:gd name="adj" fmla="val 7042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13898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🐳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37560" y="19659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 Built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36008" y="2011680"/>
            <a:ext cx="16459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298448"/>
            <a:ext cx="1298448" cy="1417320"/>
          </a:xfrm>
          <a:prstGeom prst="roundRect">
            <a:avLst>
              <a:gd name="adj" fmla="val 7042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3898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00600" y="19659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Push to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ACR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99048" y="2011680"/>
            <a:ext cx="16459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1298448"/>
            <a:ext cx="1298448" cy="1417320"/>
          </a:xfrm>
          <a:prstGeom prst="roundRect">
            <a:avLst>
              <a:gd name="adj" fmla="val 7042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13898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63640" y="19659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 to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App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62088" y="2011680"/>
            <a:ext cx="16459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1298448"/>
            <a:ext cx="1298448" cy="1417320"/>
          </a:xfrm>
          <a:prstGeom prst="roundRect">
            <a:avLst>
              <a:gd name="adj" fmla="val 7042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26680" y="13898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726680" y="19659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App Live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on Azure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297180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main.yml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Quality Gate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3456432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Run 96 unit tests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Build Docker image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Fail on any test error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297180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8348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main_creditriskplatform.yml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Azure Deploy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456432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Build Docker image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Push to Azure ACR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Deploy to App Service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891B2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891B2"/>
                </a:solidFill>
              </a:rPr>
              <a:t>OBSERVABILITY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LangSmith — Full Request Tracing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1E3251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298448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87568" y="1353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auth.login_attempt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87568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User logs 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577840" y="1783080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87568" y="1837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auth.register_attempt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87568" y="18379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Account created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77840" y="2267712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87568" y="23225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document_upload_complete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87568" y="23225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Files processed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77840" y="2752344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87568" y="2807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document_processing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87568" y="2807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AI summary generated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77840" y="3236976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87568" y="3291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run_risk_analysis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87568" y="3291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Risk score computed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77840" y="3721608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87568" y="3776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retrieval_agent.retrieve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87568" y="3776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Chunks fetched from Pinecone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77840" y="4206240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87568" y="4261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chat_agent.answer_question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87568" y="42611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AI answers question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Traces appear from live Azure app — no local run needed.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D77249B-9C95-C572-83BF-C8B08D13F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298448"/>
            <a:ext cx="4937760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563EB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2563EB"/>
                </a:solidFill>
              </a:rPr>
              <a:t>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 Azure App Service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4081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Azure Container Registry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709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creditriskakash7272.azurecr.io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8872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Stores versioned Docker images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298448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4081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 Service Plan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709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— 2 CPU, 3.5GB RAM, Linux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7784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Minimum spec for AI model loading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624328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734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Azure Web 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035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creditriskplatform.azurewebsites.net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88720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Public URL, auto-restarts on failure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624328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2734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Environment Variables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3035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secure settings on Azure Portal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77840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API keys never baked into Docker image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041648"/>
            <a:ext cx="832104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LLM Fallback Chain: 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40280" y="411480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59669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240280" y="4114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OpenAI  ·  PRIMARY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420624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0" y="411480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D97706">
              <a:alpha val="1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4114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Groq  ·  FALLBACK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420624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03720" y="411480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4114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Gemini  ·  BACKUP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DC2626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DC2626"/>
                </a:solidFill>
              </a:rPr>
              <a:t>KEY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Hardest Problems We Solved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89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Hallucination in RAG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Problem: AI was making up CIBIL scores, salary figures — numbers not in the uploaded documents.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59669"/>
                </a:solidFill>
              </a:rPr>
              <a:t>✅  Implemented hybrid BM25 + vector search with year-aware re-ranking. Hallucination dropped from 0.58 to 0.22.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298448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89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Python 3.11 vs Docker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099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Problem: App worked locally (Python 3.12) but crashed in Docker (Python 3.11) due to backslash in f-strings.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59669"/>
                </a:solidFill>
              </a:rPr>
              <a:t>✅  Fixed SyntaxError in recommendations.py. Caught by running tests inside Docker before deploying.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990088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Azure CI/CD Permissions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Problem: Learner account lacked Owner permissions — could not create service principal for GitHub Actions auto-deploy.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59669"/>
                </a:solidFill>
              </a:rPr>
              <a:t>✅  Used Azure Portal Deployment Center with system-assigned identity + basic auth. Achieved full CI/CD without Owner role.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990088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LLM Provider Reliability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Problem: Gemini deprecated gemini-1.5-pro mid-project. OpenAI 401 errors on Azure. Groq rate limits.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3886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59669"/>
                </a:solidFill>
              </a:rPr>
              <a:t>✅  Built 3-tier fallback chain: OpenAI → Groq → Gemini. Any single provider failure is transparent to users.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9669"/>
                </a:solidFill>
              </a:rPr>
              <a:t>LEARNINGS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4206240" cy="365760"/>
          </a:xfrm>
          <a:prstGeom prst="roundRect">
            <a:avLst>
              <a:gd name="adj" fmla="val 30000"/>
            </a:avLst>
          </a:prstGeom>
          <a:solidFill>
            <a:srgbClr val="059669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98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Worked Well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7947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RAG pipeline with hybrid search dramatically reduces hallucination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LangSmith observability — seeing every trace was invaluable for debugging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Pydantic settings — catching config errors at startup, not at runtime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96 unit tests caught Docker/Python version incompatibilities before they reached Azure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298448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16203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98448"/>
            <a:ext cx="4206240" cy="365760"/>
          </a:xfrm>
          <a:prstGeom prst="roundRect">
            <a:avLst>
              <a:gd name="adj" fmla="val 30000"/>
            </a:avLst>
          </a:prstGeom>
          <a:solidFill>
            <a:srgbClr val="D97706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98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We'd Do Differently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7947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Use a managed auth service (Supabase/Auth0) from day one — SQLite in containers loses data on redeploy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Pin all package versions from the start — version conflicts between local and Docker caused many hours of debugging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Set up LangSmith tracing from day one — we added it later and had to retrofit spans everywhere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Async document processing — large PDFs block the UI; background job queue would improve UX significantly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2743200"/>
            <a:ext cx="3200400" cy="3200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36576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365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9669"/>
                </a:solidFill>
              </a:rPr>
              <a:t>SUBMITTED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27558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4871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🌐 Live App 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487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creditriskplatform.azurewebsites.net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242316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4871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💻 GitHub 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2487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github.com/Chaurasiyakash0136/EY-Training-2026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" y="3136392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3200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🔍 LangSmith 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smith.langchain.com → credit-risk-platform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136392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62032"/>
          </a:solidFill>
          <a:ln/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200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🏷️ Version 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v1.0 — main branch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Akash Chaurasiya  ·  Ashu Sharma  ·  EY Training 2026  ·  Capstone Day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1940</Words>
  <Application>Microsoft Office PowerPoint</Application>
  <PresentationFormat>On-screen Show (16:9)</PresentationFormat>
  <Paragraphs>345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Intelligence Platform</dc:title>
  <dc:subject>EY Training 2026 Capstone</dc:subject>
  <dc:creator>Akash Chaurasiya &amp; Ashu Sharma</dc:creator>
  <cp:lastModifiedBy>azuser7270_mml.local</cp:lastModifiedBy>
  <cp:revision>38</cp:revision>
  <dcterms:created xsi:type="dcterms:W3CDTF">2026-07-02T07:39:23Z</dcterms:created>
  <dcterms:modified xsi:type="dcterms:W3CDTF">2026-07-02T09:42:06Z</dcterms:modified>
</cp:coreProperties>
</file>