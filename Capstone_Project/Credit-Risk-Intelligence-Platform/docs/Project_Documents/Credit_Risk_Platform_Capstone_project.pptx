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760" r:id="rId2"/>
  </p:sldMasterIdLst>
  <p:notesMasterIdLst>
    <p:notesMasterId r:id="rId22"/>
  </p:notesMasterIdLst>
  <p:sldIdLst>
    <p:sldId id="256" r:id="rId3"/>
    <p:sldId id="300" r:id="rId4"/>
    <p:sldId id="301" r:id="rId5"/>
    <p:sldId id="302" r:id="rId6"/>
    <p:sldId id="303" r:id="rId7"/>
    <p:sldId id="304" r:id="rId8"/>
    <p:sldId id="305" r:id="rId9"/>
    <p:sldId id="307" r:id="rId10"/>
    <p:sldId id="308" r:id="rId11"/>
    <p:sldId id="257" r:id="rId12"/>
    <p:sldId id="259" r:id="rId13"/>
    <p:sldId id="260" r:id="rId14"/>
    <p:sldId id="272" r:id="rId15"/>
    <p:sldId id="262" r:id="rId16"/>
    <p:sldId id="263" r:id="rId17"/>
    <p:sldId id="264" r:id="rId18"/>
    <p:sldId id="266" r:id="rId19"/>
    <p:sldId id="269" r:id="rId20"/>
    <p:sldId id="271"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2" d="100"/>
          <a:sy n="92" d="100"/>
        </p:scale>
        <p:origin x="51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9435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Introduce the team and the platform. Mention it is live on Azure.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manual bottleneck. Banks receive hundreds of loan applications. Human review is slow and inconsistent.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five layers. PDF comes in at the top, risk decision comes out at the bottom.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customer journey from login to recommendations. Mention loan gating feature.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9-step pipeline. Emphasise the hybrid search and year-aware re-ranking as the key innovation for reducing hallucination.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reduction in hallucination. Explain that DeepEval gives us proof the AI is not making things up.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workflows run on every push. main.yml is the quality gate. The Azure workflow only runs if tests pass.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hardest one and explain it in depth. The hallucination problem is the most impressive technically.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Offer to show the live app and LangSmith traces.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ditriskplatform.azurewebsites.ne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7132320" y="-1097280"/>
            <a:ext cx="3657600" cy="3657600"/>
          </a:xfrm>
          <a:prstGeom prst="ellipse">
            <a:avLst/>
          </a:prstGeom>
          <a:solidFill>
            <a:srgbClr val="2563EB">
              <a:alpha val="12000"/>
            </a:srgbClr>
          </a:solidFill>
          <a:ln/>
        </p:spPr>
      </p:sp>
      <p:sp>
        <p:nvSpPr>
          <p:cNvPr id="3" name="Shape 1"/>
          <p:cNvSpPr/>
          <p:nvPr/>
        </p:nvSpPr>
        <p:spPr>
          <a:xfrm>
            <a:off x="7772400" y="-457200"/>
            <a:ext cx="2286000" cy="2286000"/>
          </a:xfrm>
          <a:prstGeom prst="ellipse">
            <a:avLst/>
          </a:prstGeom>
          <a:solidFill>
            <a:srgbClr val="0891B2">
              <a:alpha val="20000"/>
            </a:srgbClr>
          </a:solidFill>
          <a:ln/>
        </p:spPr>
      </p:sp>
      <p:sp>
        <p:nvSpPr>
          <p:cNvPr id="4" name="Shape 2"/>
          <p:cNvSpPr/>
          <p:nvPr/>
        </p:nvSpPr>
        <p:spPr>
          <a:xfrm>
            <a:off x="-731520" y="3474720"/>
            <a:ext cx="2560320" cy="2560320"/>
          </a:xfrm>
          <a:prstGeom prst="ellipse">
            <a:avLst/>
          </a:prstGeom>
          <a:solidFill>
            <a:srgbClr val="2563EB">
              <a:alpha val="10000"/>
            </a:srgbClr>
          </a:solidFill>
          <a:ln/>
        </p:spPr>
      </p:sp>
      <p:sp>
        <p:nvSpPr>
          <p:cNvPr id="5" name="Shape 3"/>
          <p:cNvSpPr/>
          <p:nvPr/>
        </p:nvSpPr>
        <p:spPr>
          <a:xfrm>
            <a:off x="640080" y="822960"/>
            <a:ext cx="1280160" cy="256032"/>
          </a:xfrm>
          <a:prstGeom prst="roundRect">
            <a:avLst>
              <a:gd name="adj" fmla="val 50000"/>
            </a:avLst>
          </a:prstGeom>
          <a:solidFill>
            <a:srgbClr val="0891B2">
              <a:alpha val="25000"/>
            </a:srgbClr>
          </a:solidFill>
          <a:ln/>
        </p:spPr>
      </p:sp>
      <p:sp>
        <p:nvSpPr>
          <p:cNvPr id="6" name="Text 4"/>
          <p:cNvSpPr/>
          <p:nvPr/>
        </p:nvSpPr>
        <p:spPr>
          <a:xfrm>
            <a:off x="640080" y="82296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EY TRAINING 2026</a:t>
            </a:r>
            <a:endParaRPr lang="en-US" sz="900" dirty="0"/>
          </a:p>
        </p:txBody>
      </p:sp>
      <p:sp>
        <p:nvSpPr>
          <p:cNvPr id="7" name="Text 5"/>
          <p:cNvSpPr/>
          <p:nvPr/>
        </p:nvSpPr>
        <p:spPr>
          <a:xfrm>
            <a:off x="640080" y="1188720"/>
            <a:ext cx="7772400" cy="822960"/>
          </a:xfrm>
          <a:prstGeom prst="rect">
            <a:avLst/>
          </a:prstGeom>
          <a:noFill/>
          <a:ln/>
        </p:spPr>
        <p:txBody>
          <a:bodyPr wrap="square" lIns="0" tIns="0" rIns="0" bIns="0"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Credit Risk</a:t>
            </a:r>
            <a:endParaRPr lang="en-US" sz="5200" dirty="0"/>
          </a:p>
        </p:txBody>
      </p:sp>
      <p:sp>
        <p:nvSpPr>
          <p:cNvPr id="8" name="Text 6"/>
          <p:cNvSpPr/>
          <p:nvPr/>
        </p:nvSpPr>
        <p:spPr>
          <a:xfrm>
            <a:off x="640080" y="1965960"/>
            <a:ext cx="7772400" cy="822960"/>
          </a:xfrm>
          <a:prstGeom prst="rect">
            <a:avLst/>
          </a:prstGeom>
          <a:noFill/>
          <a:ln/>
        </p:spPr>
        <p:txBody>
          <a:bodyPr wrap="square" lIns="0" tIns="0" rIns="0" bIns="0" rtlCol="0" anchor="ctr"/>
          <a:lstStyle/>
          <a:p>
            <a:pPr marL="0" indent="0">
              <a:buNone/>
            </a:pPr>
            <a:r>
              <a:rPr lang="en-US" sz="5200" b="1" dirty="0">
                <a:solidFill>
                  <a:srgbClr val="2563EB"/>
                </a:solidFill>
                <a:latin typeface="Cambria" pitchFamily="34" charset="0"/>
                <a:ea typeface="Cambria" pitchFamily="34" charset="-122"/>
                <a:cs typeface="Cambria" pitchFamily="34" charset="-120"/>
              </a:rPr>
              <a:t>Intelligence Platform</a:t>
            </a:r>
            <a:endParaRPr lang="en-US" sz="5200" dirty="0"/>
          </a:p>
        </p:txBody>
      </p:sp>
      <p:sp>
        <p:nvSpPr>
          <p:cNvPr id="9" name="Text 7"/>
          <p:cNvSpPr/>
          <p:nvPr/>
        </p:nvSpPr>
        <p:spPr>
          <a:xfrm>
            <a:off x="640080" y="2926080"/>
            <a:ext cx="7772400" cy="411480"/>
          </a:xfrm>
          <a:prstGeom prst="rect">
            <a:avLst/>
          </a:prstGeom>
          <a:noFill/>
          <a:ln/>
        </p:spPr>
        <p:txBody>
          <a:bodyPr wrap="square" lIns="0" tIns="0" rIns="0" bIns="0" rtlCol="0" anchor="ctr"/>
          <a:lstStyle/>
          <a:p>
            <a:pPr marL="0" indent="0">
              <a:buNone/>
            </a:pPr>
            <a:r>
              <a:rPr lang="en-US" sz="1500" dirty="0">
                <a:solidFill>
                  <a:srgbClr val="94A3B8"/>
                </a:solidFill>
                <a:latin typeface="Calibri" pitchFamily="34" charset="0"/>
                <a:ea typeface="Calibri" pitchFamily="34" charset="-122"/>
                <a:cs typeface="Calibri" pitchFamily="34" charset="-120"/>
              </a:rPr>
              <a:t>AI-Powered Credit Risk Assessment &amp; Financial Document Analysis</a:t>
            </a:r>
            <a:endParaRPr lang="en-US" sz="1500" dirty="0"/>
          </a:p>
        </p:txBody>
      </p:sp>
      <p:sp>
        <p:nvSpPr>
          <p:cNvPr id="10" name="Shape 8"/>
          <p:cNvSpPr/>
          <p:nvPr/>
        </p:nvSpPr>
        <p:spPr>
          <a:xfrm>
            <a:off x="640080" y="3703320"/>
            <a:ext cx="3840480" cy="594360"/>
          </a:xfrm>
          <a:prstGeom prst="roundRect">
            <a:avLst>
              <a:gd name="adj" fmla="val 12308"/>
            </a:avLst>
          </a:prstGeom>
          <a:solidFill>
            <a:srgbClr val="162032"/>
          </a:solidFill>
          <a:ln/>
          <a:effectLst>
            <a:outerShdw blurRad="50800" dist="25400" dir="2700000" algn="bl" rotWithShape="0">
              <a:srgbClr val="000000">
                <a:alpha val="12000"/>
              </a:srgbClr>
            </a:outerShdw>
          </a:effectLst>
        </p:spPr>
      </p:sp>
      <p:sp>
        <p:nvSpPr>
          <p:cNvPr id="11" name="Text 9"/>
          <p:cNvSpPr/>
          <p:nvPr/>
        </p:nvSpPr>
        <p:spPr>
          <a:xfrm>
            <a:off x="640080" y="3703320"/>
            <a:ext cx="3840480" cy="594360"/>
          </a:xfrm>
          <a:prstGeom prst="rect">
            <a:avLst/>
          </a:prstGeom>
          <a:noFill/>
          <a:ln/>
        </p:spPr>
        <p:txBody>
          <a:bodyPr wrap="square" lIns="0" tIns="0" rIns="0" bIns="0" rtlCol="0" anchor="ctr"/>
          <a:lstStyle/>
          <a:p>
            <a:pPr marL="0" indent="0" algn="ctr">
              <a:buNone/>
            </a:pPr>
            <a:r>
              <a:rPr lang="en-US" sz="1200" b="1" dirty="0">
                <a:solidFill>
                  <a:srgbClr val="FFFFFF"/>
                </a:solidFill>
              </a:rPr>
              <a:t>Akash Chaurasiya   </a:t>
            </a:r>
          </a:p>
          <a:p>
            <a:pPr marL="0" indent="0" algn="ctr">
              <a:buNone/>
            </a:pPr>
            <a:r>
              <a:rPr lang="en-US" sz="1200" b="1" dirty="0">
                <a:solidFill>
                  <a:srgbClr val="FFFFFF"/>
                </a:solidFill>
              </a:rPr>
              <a:t> Ashu Sharma</a:t>
            </a:r>
            <a:endParaRPr lang="en-US" sz="1200" dirty="0"/>
          </a:p>
        </p:txBody>
      </p:sp>
      <p:sp>
        <p:nvSpPr>
          <p:cNvPr id="12" name="Text 10">
            <a:hlinkClick r:id="rId3"/>
          </p:cNvPr>
          <p:cNvSpPr/>
          <p:nvPr/>
        </p:nvSpPr>
        <p:spPr>
          <a:xfrm>
            <a:off x="640080" y="4434840"/>
            <a:ext cx="4572000" cy="274320"/>
          </a:xfrm>
          <a:prstGeom prst="rect">
            <a:avLst/>
          </a:prstGeom>
          <a:noFill/>
          <a:ln/>
        </p:spPr>
        <p:txBody>
          <a:bodyPr wrap="square" lIns="0" tIns="0" rIns="0" bIns="0" rtlCol="0" anchor="ctr"/>
          <a:lstStyle/>
          <a:p>
            <a:pPr marL="0" indent="0">
              <a:buNone/>
            </a:pPr>
            <a:r>
              <a:rPr lang="en-US" sz="1000" u="sng" dirty="0">
                <a:solidFill>
                  <a:srgbClr val="0891B2"/>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  creditriskplatform.azurewebsites.net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p:cNvSpPr/>
          <p:nvPr/>
        </p:nvSpPr>
        <p:spPr>
          <a:xfrm>
            <a:off x="0" y="0"/>
            <a:ext cx="5918454" cy="5143500"/>
          </a:xfrm>
          <a:prstGeom prst="rect">
            <a:avLst/>
          </a:prstGeom>
          <a:solidFill>
            <a:srgbClr val="12213A"/>
          </a:solidFill>
          <a:ln/>
        </p:spPr>
      </p:sp>
      <p:sp>
        <p:nvSpPr>
          <p:cNvPr id="4" name="Shape 1"/>
          <p:cNvSpPr/>
          <p:nvPr/>
        </p:nvSpPr>
        <p:spPr>
          <a:xfrm>
            <a:off x="480060" y="685800"/>
            <a:ext cx="2468880" cy="246888"/>
          </a:xfrm>
          <a:prstGeom prst="roundRect">
            <a:avLst>
              <a:gd name="adj" fmla="val 50000"/>
            </a:avLst>
          </a:prstGeom>
          <a:solidFill>
            <a:srgbClr val="1E2C4A"/>
          </a:solidFill>
          <a:ln/>
        </p:spPr>
      </p:sp>
      <p:sp>
        <p:nvSpPr>
          <p:cNvPr id="5" name="Text 2"/>
          <p:cNvSpPr/>
          <p:nvPr/>
        </p:nvSpPr>
        <p:spPr>
          <a:xfrm>
            <a:off x="480060" y="685800"/>
            <a:ext cx="2468880" cy="246888"/>
          </a:xfrm>
          <a:prstGeom prst="rect">
            <a:avLst/>
          </a:prstGeom>
          <a:noFill/>
          <a:ln/>
        </p:spPr>
        <p:txBody>
          <a:bodyPr wrap="square" lIns="0" tIns="0" rIns="0" bIns="0" rtlCol="0" anchor="ctr"/>
          <a:lstStyle/>
          <a:p>
            <a:pPr marL="0" indent="0" algn="ctr">
              <a:buNone/>
            </a:pPr>
            <a:r>
              <a:rPr lang="en-US" sz="825" b="1" kern="0" spc="150" dirty="0">
                <a:solidFill>
                  <a:srgbClr val="9FB0E8"/>
                </a:solidFill>
                <a:latin typeface="Calibri" pitchFamily="34" charset="0"/>
                <a:ea typeface="Calibri" pitchFamily="34" charset="-122"/>
                <a:cs typeface="Calibri" pitchFamily="34" charset="-120"/>
              </a:rPr>
              <a:t>A CREDIT RISK STORY</a:t>
            </a:r>
            <a:endParaRPr lang="en-US" sz="825" dirty="0"/>
          </a:p>
        </p:txBody>
      </p:sp>
      <p:sp>
        <p:nvSpPr>
          <p:cNvPr id="6" name="Text 3"/>
          <p:cNvSpPr/>
          <p:nvPr/>
        </p:nvSpPr>
        <p:spPr>
          <a:xfrm>
            <a:off x="466344" y="1097280"/>
            <a:ext cx="5143500" cy="617220"/>
          </a:xfrm>
          <a:prstGeom prst="rect">
            <a:avLst/>
          </a:prstGeom>
          <a:noFill/>
          <a:ln/>
        </p:spPr>
        <p:txBody>
          <a:bodyPr wrap="square" lIns="0" tIns="0" rIns="0" bIns="0" rtlCol="0" anchor="ctr"/>
          <a:lstStyle/>
          <a:p>
            <a:pPr marL="0" indent="0">
              <a:buNone/>
            </a:pPr>
            <a:r>
              <a:rPr lang="en-US" sz="3150" b="1" dirty="0">
                <a:solidFill>
                  <a:srgbClr val="FFFFFF"/>
                </a:solidFill>
                <a:latin typeface="Cambria" pitchFamily="34" charset="0"/>
                <a:ea typeface="Cambria" pitchFamily="34" charset="-122"/>
                <a:cs typeface="Cambria" pitchFamily="34" charset="-120"/>
              </a:rPr>
              <a:t>What Rohan Needed</a:t>
            </a:r>
            <a:endParaRPr lang="en-US" sz="3150" dirty="0"/>
          </a:p>
        </p:txBody>
      </p:sp>
      <p:sp>
        <p:nvSpPr>
          <p:cNvPr id="7" name="Text 4"/>
          <p:cNvSpPr/>
          <p:nvPr/>
        </p:nvSpPr>
        <p:spPr>
          <a:xfrm>
            <a:off x="466344" y="1611630"/>
            <a:ext cx="5143500" cy="617220"/>
          </a:xfrm>
          <a:prstGeom prst="rect">
            <a:avLst/>
          </a:prstGeom>
          <a:noFill/>
          <a:ln/>
        </p:spPr>
        <p:txBody>
          <a:bodyPr wrap="square" lIns="0" tIns="0" rIns="0" bIns="0" rtlCol="0" anchor="ctr"/>
          <a:lstStyle/>
          <a:p>
            <a:pPr marL="0" indent="0">
              <a:buNone/>
            </a:pPr>
            <a:r>
              <a:rPr lang="en-US" sz="3150" b="1" dirty="0">
                <a:solidFill>
                  <a:srgbClr val="FFFFFF"/>
                </a:solidFill>
                <a:latin typeface="Cambria" pitchFamily="34" charset="0"/>
                <a:ea typeface="Cambria" pitchFamily="34" charset="-122"/>
                <a:cs typeface="Cambria" pitchFamily="34" charset="-120"/>
              </a:rPr>
              <a:t>Was an Answer.</a:t>
            </a:r>
            <a:endParaRPr lang="en-US" sz="3150" dirty="0"/>
          </a:p>
        </p:txBody>
      </p:sp>
      <p:sp>
        <p:nvSpPr>
          <p:cNvPr id="8" name="Text 5"/>
          <p:cNvSpPr/>
          <p:nvPr/>
        </p:nvSpPr>
        <p:spPr>
          <a:xfrm>
            <a:off x="466344" y="2297430"/>
            <a:ext cx="4526280" cy="480060"/>
          </a:xfrm>
          <a:prstGeom prst="rect">
            <a:avLst/>
          </a:prstGeom>
          <a:noFill/>
          <a:ln/>
        </p:spPr>
        <p:txBody>
          <a:bodyPr wrap="square" lIns="0" tIns="0" rIns="0" bIns="0" rtlCol="0" anchor="ctr"/>
          <a:lstStyle/>
          <a:p>
            <a:pPr>
              <a:lnSpc>
                <a:spcPct val="130000"/>
              </a:lnSpc>
            </a:pPr>
            <a:r>
              <a:rPr lang="en-IN" sz="1200" dirty="0">
                <a:solidFill>
                  <a:schemeClr val="bg2"/>
                </a:solidFill>
              </a:rPr>
              <a:t>Rohan applied for a business loan and heard nothing for four days. Here's what happened next.</a:t>
            </a:r>
            <a:endParaRPr lang="en-US" sz="1125" dirty="0"/>
          </a:p>
        </p:txBody>
      </p:sp>
      <p:sp>
        <p:nvSpPr>
          <p:cNvPr id="9" name="Shape 6"/>
          <p:cNvSpPr/>
          <p:nvPr/>
        </p:nvSpPr>
        <p:spPr>
          <a:xfrm>
            <a:off x="480060" y="2983230"/>
            <a:ext cx="1783080" cy="0"/>
          </a:xfrm>
          <a:prstGeom prst="line">
            <a:avLst/>
          </a:prstGeom>
          <a:noFill/>
          <a:ln w="9525">
            <a:solidFill>
              <a:srgbClr val="2E3D5E"/>
            </a:solidFill>
            <a:prstDash val="solid"/>
          </a:ln>
        </p:spPr>
      </p:sp>
      <p:sp>
        <p:nvSpPr>
          <p:cNvPr id="10" name="Text 7"/>
          <p:cNvSpPr/>
          <p:nvPr/>
        </p:nvSpPr>
        <p:spPr>
          <a:xfrm>
            <a:off x="466344" y="3154680"/>
            <a:ext cx="4594860" cy="960120"/>
          </a:xfrm>
          <a:prstGeom prst="rect">
            <a:avLst/>
          </a:prstGeom>
          <a:noFill/>
          <a:ln/>
        </p:spPr>
        <p:txBody>
          <a:bodyPr wrap="square" lIns="0" tIns="0" rIns="0" bIns="0" rtlCol="0" anchor="ctr"/>
          <a:lstStyle/>
          <a:p>
            <a:pPr>
              <a:lnSpc>
                <a:spcPct val="135000"/>
              </a:lnSpc>
            </a:pPr>
            <a:r>
              <a:rPr lang="en-US" sz="825" b="1" kern="0" spc="150" dirty="0">
                <a:solidFill>
                  <a:srgbClr val="7C8CE8"/>
                </a:solidFill>
                <a:latin typeface="Calibri" pitchFamily="34" charset="0"/>
                <a:ea typeface="Calibri" pitchFamily="34" charset="-122"/>
                <a:cs typeface="Calibri" pitchFamily="34" charset="-120"/>
              </a:rPr>
              <a:t>IN ONE SENTENCE
</a:t>
            </a:r>
            <a:r>
              <a:rPr lang="en-IN" sz="1100" dirty="0">
                <a:solidFill>
                  <a:schemeClr val="bg2"/>
                </a:solidFill>
              </a:rPr>
              <a:t>A loan decision that once took days — and still felt unfair — now takes minutes and comes with a clear reason.</a:t>
            </a:r>
          </a:p>
          <a:p>
            <a:pPr marL="0" indent="0">
              <a:lnSpc>
                <a:spcPct val="135000"/>
              </a:lnSpc>
              <a:buNone/>
            </a:pPr>
            <a:endParaRPr lang="en-US" sz="825" dirty="0"/>
          </a:p>
        </p:txBody>
      </p:sp>
      <p:sp>
        <p:nvSpPr>
          <p:cNvPr id="11" name="Text 8"/>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AEB0C4"/>
                </a:solidFill>
                <a:latin typeface="Calibri" pitchFamily="34" charset="0"/>
                <a:ea typeface="Calibri" pitchFamily="34" charset="-122"/>
                <a:cs typeface="Calibri" pitchFamily="34" charset="-120"/>
              </a:rPr>
              <a:t>Cover</a:t>
            </a:r>
            <a:endParaRPr lang="en-US" sz="712" dirty="0"/>
          </a:p>
        </p:txBody>
      </p:sp>
      <p:sp>
        <p:nvSpPr>
          <p:cNvPr id="12" name="Text 9"/>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AEB0C4"/>
                </a:solidFill>
                <a:latin typeface="Calibri" pitchFamily="34" charset="0"/>
                <a:ea typeface="Calibri" pitchFamily="34" charset="-122"/>
                <a:cs typeface="Calibri" pitchFamily="34" charset="-120"/>
              </a:rPr>
              <a:t>Rohan's Story</a:t>
            </a:r>
            <a:endParaRPr lang="en-US" sz="712" dirty="0"/>
          </a:p>
        </p:txBody>
      </p:sp>
      <p:pic>
        <p:nvPicPr>
          <p:cNvPr id="13" name="Picture 12" descr="s2.png"/>
          <p:cNvPicPr>
            <a:picLocks noChangeAspect="1"/>
          </p:cNvPicPr>
          <p:nvPr/>
        </p:nvPicPr>
        <p:blipFill>
          <a:blip r:embed="rId2"/>
          <a:stretch>
            <a:fillRect/>
          </a:stretch>
        </p:blipFill>
        <p:spPr>
          <a:xfrm>
            <a:off x="5438394" y="0"/>
            <a:ext cx="3703320" cy="5143500"/>
          </a:xfrm>
          <a:prstGeom prst="rect">
            <a:avLst/>
          </a:prstGeom>
        </p:spPr>
      </p:pic>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D97757"/>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OLD WAY</a:t>
            </a:r>
            <a:endParaRPr lang="en-US" sz="862" dirty="0"/>
          </a:p>
        </p:txBody>
      </p:sp>
      <p:sp>
        <p:nvSpPr>
          <p:cNvPr id="4" name="Shape 2"/>
          <p:cNvSpPr/>
          <p:nvPr/>
        </p:nvSpPr>
        <p:spPr>
          <a:xfrm>
            <a:off x="7317486" y="411480"/>
            <a:ext cx="109728" cy="109728"/>
          </a:xfrm>
          <a:prstGeom prst="ellipse">
            <a:avLst/>
          </a:prstGeom>
          <a:solidFill>
            <a:srgbClr val="D97757"/>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8" name="Shape 6"/>
          <p:cNvSpPr/>
          <p:nvPr/>
        </p:nvSpPr>
        <p:spPr>
          <a:xfrm>
            <a:off x="8140446" y="411480"/>
            <a:ext cx="109728" cy="109728"/>
          </a:xfrm>
          <a:prstGeom prst="ellipse">
            <a:avLst/>
          </a:prstGeom>
          <a:solidFill>
            <a:srgbClr val="E4E0D6"/>
          </a:solidFill>
          <a:ln/>
        </p:spPr>
      </p:sp>
      <p:sp>
        <p:nvSpPr>
          <p:cNvPr id="9" name="Shape 7"/>
          <p:cNvSpPr/>
          <p:nvPr/>
        </p:nvSpPr>
        <p:spPr>
          <a:xfrm>
            <a:off x="8346186" y="411480"/>
            <a:ext cx="109728" cy="109728"/>
          </a:xfrm>
          <a:prstGeom prst="ellipse">
            <a:avLst/>
          </a:prstGeom>
          <a:solidFill>
            <a:srgbClr val="E4E0D6"/>
          </a:solidFill>
          <a:ln/>
        </p:spPr>
      </p:sp>
      <p:sp>
        <p:nvSpPr>
          <p:cNvPr id="10" name="Shape 8"/>
          <p:cNvSpPr/>
          <p:nvPr/>
        </p:nvSpPr>
        <p:spPr>
          <a:xfrm>
            <a:off x="855192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D97757"/>
                </a:solidFill>
                <a:latin typeface="Calibri" pitchFamily="34" charset="0"/>
                <a:ea typeface="Calibri" pitchFamily="34" charset="-122"/>
                <a:cs typeface="Calibri" pitchFamily="34" charset="-120"/>
              </a:rPr>
              <a:t>MEET ROHAN</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Rohan owns a shop and is applying for a loan to grow his business</a:t>
            </a:r>
            <a:endParaRPr lang="en-US" sz="2025" dirty="0"/>
          </a:p>
        </p:txBody>
      </p:sp>
      <p:sp>
        <p:nvSpPr>
          <p:cNvPr id="15" name="Shape 12"/>
          <p:cNvSpPr/>
          <p:nvPr/>
        </p:nvSpPr>
        <p:spPr>
          <a:xfrm>
            <a:off x="4629150" y="2023110"/>
            <a:ext cx="822960" cy="0"/>
          </a:xfrm>
          <a:prstGeom prst="line">
            <a:avLst/>
          </a:prstGeom>
          <a:noFill/>
          <a:ln w="28575">
            <a:solidFill>
              <a:srgbClr val="D97757"/>
            </a:solidFill>
            <a:prstDash val="solid"/>
          </a:ln>
        </p:spPr>
      </p:sp>
      <p:sp>
        <p:nvSpPr>
          <p:cNvPr id="16" name="Text 13"/>
          <p:cNvSpPr/>
          <p:nvPr/>
        </p:nvSpPr>
        <p:spPr>
          <a:xfrm>
            <a:off x="4615434" y="202311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runs a small electronics shop. Festival season is six weeks away, and he needs a loan to buy new products to sell before demand goes up. He applies for the loan and waits — hopeful, not worried yet.</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OLD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3.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D97757"/>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OLD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D97757"/>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8" name="Shape 6"/>
          <p:cNvSpPr/>
          <p:nvPr/>
        </p:nvSpPr>
        <p:spPr>
          <a:xfrm>
            <a:off x="8140446" y="411480"/>
            <a:ext cx="109728" cy="109728"/>
          </a:xfrm>
          <a:prstGeom prst="ellipse">
            <a:avLst/>
          </a:prstGeom>
          <a:solidFill>
            <a:srgbClr val="E4E0D6"/>
          </a:solidFill>
          <a:ln/>
        </p:spPr>
      </p:sp>
      <p:sp>
        <p:nvSpPr>
          <p:cNvPr id="9" name="Shape 7"/>
          <p:cNvSpPr/>
          <p:nvPr/>
        </p:nvSpPr>
        <p:spPr>
          <a:xfrm>
            <a:off x="8346186" y="411480"/>
            <a:ext cx="109728" cy="109728"/>
          </a:xfrm>
          <a:prstGeom prst="ellipse">
            <a:avLst/>
          </a:prstGeom>
          <a:solidFill>
            <a:srgbClr val="E4E0D6"/>
          </a:solidFill>
          <a:ln/>
        </p:spPr>
      </p:sp>
      <p:sp>
        <p:nvSpPr>
          <p:cNvPr id="10" name="Shape 8"/>
          <p:cNvSpPr/>
          <p:nvPr/>
        </p:nvSpPr>
        <p:spPr>
          <a:xfrm>
            <a:off x="855192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D97757"/>
                </a:solidFill>
                <a:latin typeface="Calibri" pitchFamily="34" charset="0"/>
                <a:ea typeface="Calibri" pitchFamily="34" charset="-122"/>
                <a:cs typeface="Calibri" pitchFamily="34" charset="-120"/>
              </a:rPr>
              <a:t>THE WAIT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Someone at the bank is reviewing his loan application</a:t>
            </a:r>
            <a:endParaRPr lang="en-US" sz="2025" dirty="0"/>
          </a:p>
        </p:txBody>
      </p:sp>
      <p:sp>
        <p:nvSpPr>
          <p:cNvPr id="15" name="Shape 12"/>
          <p:cNvSpPr/>
          <p:nvPr/>
        </p:nvSpPr>
        <p:spPr>
          <a:xfrm>
            <a:off x="4629150" y="2023110"/>
            <a:ext cx="822960" cy="0"/>
          </a:xfrm>
          <a:prstGeom prst="line">
            <a:avLst/>
          </a:prstGeom>
          <a:noFill/>
          <a:ln w="28575">
            <a:solidFill>
              <a:srgbClr val="D97757"/>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At the bank, a loan officer is reviewing his file. Day one turns into day four, with no explanation — the officer is still working through a stack of paperwork. Rohan has no idea where he stands.</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OLD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C1583B"/>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WHERE IT BROKE</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C1583B"/>
          </a:solidFill>
          <a:ln/>
        </p:spPr>
      </p:sp>
      <p:sp>
        <p:nvSpPr>
          <p:cNvPr id="7" name="Shape 5"/>
          <p:cNvSpPr/>
          <p:nvPr/>
        </p:nvSpPr>
        <p:spPr>
          <a:xfrm>
            <a:off x="7934706" y="411480"/>
            <a:ext cx="109728" cy="109728"/>
          </a:xfrm>
          <a:prstGeom prst="ellipse">
            <a:avLst/>
          </a:prstGeom>
          <a:solidFill>
            <a:srgbClr val="E4E0D6"/>
          </a:solidFill>
          <a:ln/>
        </p:spPr>
      </p:sp>
      <p:sp>
        <p:nvSpPr>
          <p:cNvPr id="8" name="Shape 6"/>
          <p:cNvSpPr/>
          <p:nvPr/>
        </p:nvSpPr>
        <p:spPr>
          <a:xfrm>
            <a:off x="8140446" y="411480"/>
            <a:ext cx="109728" cy="109728"/>
          </a:xfrm>
          <a:prstGeom prst="ellipse">
            <a:avLst/>
          </a:prstGeom>
          <a:solidFill>
            <a:srgbClr val="E4E0D6"/>
          </a:solidFill>
          <a:ln/>
        </p:spPr>
      </p:sp>
      <p:sp>
        <p:nvSpPr>
          <p:cNvPr id="9" name="Shape 7"/>
          <p:cNvSpPr/>
          <p:nvPr/>
        </p:nvSpPr>
        <p:spPr>
          <a:xfrm>
            <a:off x="8346186" y="411480"/>
            <a:ext cx="109728" cy="109728"/>
          </a:xfrm>
          <a:prstGeom prst="ellipse">
            <a:avLst/>
          </a:prstGeom>
          <a:solidFill>
            <a:srgbClr val="E4E0D6"/>
          </a:solidFill>
          <a:ln/>
        </p:spPr>
      </p:sp>
      <p:sp>
        <p:nvSpPr>
          <p:cNvPr id="10" name="Shape 8"/>
          <p:cNvSpPr/>
          <p:nvPr/>
        </p:nvSpPr>
        <p:spPr>
          <a:xfrm>
            <a:off x="855192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C1583B"/>
                </a:solidFill>
                <a:latin typeface="Calibri" pitchFamily="34" charset="0"/>
                <a:ea typeface="Calibri" pitchFamily="34" charset="-122"/>
                <a:cs typeface="Calibri" pitchFamily="34" charset="-120"/>
              </a:rPr>
              <a:t>THE ANSWER HE GOT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Loan Application Rejected — No Reason Given by the Bank</a:t>
            </a:r>
            <a:endParaRPr lang="en-US" sz="2025" dirty="0"/>
          </a:p>
        </p:txBody>
      </p:sp>
      <p:sp>
        <p:nvSpPr>
          <p:cNvPr id="15" name="Shape 12"/>
          <p:cNvSpPr/>
          <p:nvPr/>
        </p:nvSpPr>
        <p:spPr>
          <a:xfrm>
            <a:off x="4629150" y="2023110"/>
            <a:ext cx="822960" cy="0"/>
          </a:xfrm>
          <a:prstGeom prst="line">
            <a:avLst/>
          </a:prstGeom>
          <a:noFill/>
          <a:ln w="28575">
            <a:solidFill>
              <a:srgbClr val="C1583B"/>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Four days of waiting ends in one word: rejected. No explanation — not what went wrong, not what to fix, not whether to try again. Just a decision he doesn't understand.</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WHERE IT BROKE</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5.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C1583B"/>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WHERE IT BROKE</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C1583B"/>
          </a:solidFill>
          <a:ln/>
        </p:spPr>
      </p:sp>
      <p:sp>
        <p:nvSpPr>
          <p:cNvPr id="8" name="Shape 6"/>
          <p:cNvSpPr/>
          <p:nvPr/>
        </p:nvSpPr>
        <p:spPr>
          <a:xfrm>
            <a:off x="8140446" y="411480"/>
            <a:ext cx="109728" cy="109728"/>
          </a:xfrm>
          <a:prstGeom prst="ellipse">
            <a:avLst/>
          </a:prstGeom>
          <a:solidFill>
            <a:srgbClr val="E4E0D6"/>
          </a:solidFill>
          <a:ln/>
        </p:spPr>
      </p:sp>
      <p:sp>
        <p:nvSpPr>
          <p:cNvPr id="9" name="Shape 7"/>
          <p:cNvSpPr/>
          <p:nvPr/>
        </p:nvSpPr>
        <p:spPr>
          <a:xfrm>
            <a:off x="8346186" y="411480"/>
            <a:ext cx="109728" cy="109728"/>
          </a:xfrm>
          <a:prstGeom prst="ellipse">
            <a:avLst/>
          </a:prstGeom>
          <a:solidFill>
            <a:srgbClr val="E4E0D6"/>
          </a:solidFill>
          <a:ln/>
        </p:spPr>
      </p:sp>
      <p:sp>
        <p:nvSpPr>
          <p:cNvPr id="10" name="Shape 8"/>
          <p:cNvSpPr/>
          <p:nvPr/>
        </p:nvSpPr>
        <p:spPr>
          <a:xfrm>
            <a:off x="855192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C1583B"/>
                </a:solidFill>
                <a:latin typeface="Calibri" pitchFamily="34" charset="0"/>
                <a:ea typeface="Calibri" pitchFamily="34" charset="-122"/>
                <a:cs typeface="Calibri" pitchFamily="34" charset="-120"/>
              </a:rPr>
              <a:t>WHAT IT COST HIM</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The Shop That Couldn't Restock</a:t>
            </a:r>
            <a:endParaRPr lang="en-US" sz="2025" dirty="0"/>
          </a:p>
        </p:txBody>
      </p:sp>
      <p:sp>
        <p:nvSpPr>
          <p:cNvPr id="15" name="Shape 12"/>
          <p:cNvSpPr/>
          <p:nvPr/>
        </p:nvSpPr>
        <p:spPr>
          <a:xfrm>
            <a:off x="4629150" y="2023110"/>
            <a:ext cx="822960" cy="0"/>
          </a:xfrm>
          <a:prstGeom prst="line">
            <a:avLst/>
          </a:prstGeom>
          <a:noFill/>
          <a:ln w="28575">
            <a:solidFill>
              <a:srgbClr val="C1583B"/>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Festival season doesn't wait for anyone. Rohan couldn't order the products he needed because his loan never came through. A slow, unexplained 'no' didn't just cost him an application — it cost him his season.</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WHERE IT BROKE</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6.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8" name="Shape 6"/>
          <p:cNvSpPr/>
          <p:nvPr/>
        </p:nvSpPr>
        <p:spPr>
          <a:xfrm>
            <a:off x="8140446" y="411480"/>
            <a:ext cx="109728" cy="109728"/>
          </a:xfrm>
          <a:prstGeom prst="ellipse">
            <a:avLst/>
          </a:prstGeom>
          <a:solidFill>
            <a:srgbClr val="5C7A54"/>
          </a:solidFill>
          <a:ln/>
        </p:spPr>
      </p:sp>
      <p:sp>
        <p:nvSpPr>
          <p:cNvPr id="9" name="Shape 7"/>
          <p:cNvSpPr/>
          <p:nvPr/>
        </p:nvSpPr>
        <p:spPr>
          <a:xfrm>
            <a:off x="8346186" y="411480"/>
            <a:ext cx="109728" cy="109728"/>
          </a:xfrm>
          <a:prstGeom prst="ellipse">
            <a:avLst/>
          </a:prstGeom>
          <a:solidFill>
            <a:srgbClr val="E4E0D6"/>
          </a:solidFill>
          <a:ln/>
        </p:spPr>
      </p:sp>
      <p:sp>
        <p:nvSpPr>
          <p:cNvPr id="10" name="Shape 8"/>
          <p:cNvSpPr/>
          <p:nvPr/>
        </p:nvSpPr>
        <p:spPr>
          <a:xfrm>
            <a:off x="855192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TURNING POINT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The same documents. This time, read in minutes.</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This time, Rohan checks his documents on the Credit Risk Intelligence Platform before applying. It shows him why he was rejected and what to fix. He fixes the issues, then applies for the loan again with confidence.</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7.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8" name="Shape 6"/>
          <p:cNvSpPr/>
          <p:nvPr/>
        </p:nvSpPr>
        <p:spPr>
          <a:xfrm>
            <a:off x="8140446" y="411480"/>
            <a:ext cx="109728" cy="109728"/>
          </a:xfrm>
          <a:prstGeom prst="ellipse">
            <a:avLst/>
          </a:prstGeom>
          <a:solidFill>
            <a:srgbClr val="E4E0D6"/>
          </a:solidFill>
          <a:ln/>
        </p:spPr>
      </p:sp>
      <p:sp>
        <p:nvSpPr>
          <p:cNvPr id="9" name="Shape 7"/>
          <p:cNvSpPr/>
          <p:nvPr/>
        </p:nvSpPr>
        <p:spPr>
          <a:xfrm>
            <a:off x="8346186" y="411480"/>
            <a:ext cx="109728" cy="109728"/>
          </a:xfrm>
          <a:prstGeom prst="ellipse">
            <a:avLst/>
          </a:prstGeom>
          <a:solidFill>
            <a:srgbClr val="E4E0D6"/>
          </a:solidFill>
          <a:ln/>
        </p:spPr>
      </p:sp>
      <p:sp>
        <p:nvSpPr>
          <p:cNvPr id="10" name="Shape 8"/>
          <p:cNvSpPr/>
          <p:nvPr/>
        </p:nvSpPr>
        <p:spPr>
          <a:xfrm>
            <a:off x="8551926" y="411480"/>
            <a:ext cx="109728" cy="109728"/>
          </a:xfrm>
          <a:prstGeom prst="ellipse">
            <a:avLst/>
          </a:prstGeom>
          <a:solidFill>
            <a:srgbClr val="5C7A54"/>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NEW NORMAL</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Approved — and this time, he understood why</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orders his inventory in time for the season. The bank keeps a loyal customer instead of losing him. Same documents were read properly, by both the bank and Rohan.</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9.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13A"/>
        </a:solidFill>
        <a:effectLst/>
      </p:bgPr>
    </p:bg>
    <p:spTree>
      <p:nvGrpSpPr>
        <p:cNvPr id="1" name=""/>
        <p:cNvGrpSpPr/>
        <p:nvPr/>
      </p:nvGrpSpPr>
      <p:grpSpPr>
        <a:xfrm>
          <a:off x="0" y="0"/>
          <a:ext cx="0" cy="0"/>
          <a:chOff x="0" y="0"/>
          <a:chExt cx="0" cy="0"/>
        </a:xfrm>
      </p:grpSpPr>
      <p:sp>
        <p:nvSpPr>
          <p:cNvPr id="2" name="Shape 0"/>
          <p:cNvSpPr/>
          <p:nvPr/>
        </p:nvSpPr>
        <p:spPr>
          <a:xfrm>
            <a:off x="0" y="0"/>
            <a:ext cx="9141714" cy="5143500"/>
          </a:xfrm>
          <a:prstGeom prst="rect">
            <a:avLst/>
          </a:prstGeom>
          <a:solidFill>
            <a:srgbClr val="12213A"/>
          </a:solidFill>
          <a:ln/>
        </p:spPr>
      </p:sp>
      <p:sp>
        <p:nvSpPr>
          <p:cNvPr id="3" name="Text 1"/>
          <p:cNvSpPr/>
          <p:nvPr/>
        </p:nvSpPr>
        <p:spPr>
          <a:xfrm>
            <a:off x="0" y="1028700"/>
            <a:ext cx="9141714" cy="274320"/>
          </a:xfrm>
          <a:prstGeom prst="rect">
            <a:avLst/>
          </a:prstGeom>
          <a:noFill/>
          <a:ln/>
        </p:spPr>
        <p:txBody>
          <a:bodyPr wrap="square" lIns="0" tIns="0" rIns="0" bIns="0" rtlCol="0" anchor="ctr"/>
          <a:lstStyle/>
          <a:p>
            <a:pPr marL="0" indent="0" algn="ctr">
              <a:buNone/>
            </a:pPr>
            <a:r>
              <a:rPr lang="en-US" sz="975" b="1" kern="0" spc="250" dirty="0">
                <a:solidFill>
                  <a:srgbClr val="7C8CE8"/>
                </a:solidFill>
                <a:latin typeface="Calibri" pitchFamily="34" charset="0"/>
                <a:ea typeface="Calibri" pitchFamily="34" charset="-122"/>
                <a:cs typeface="Calibri" pitchFamily="34" charset="-120"/>
              </a:rPr>
              <a:t>IN ONE SENTENCE</a:t>
            </a:r>
            <a:endParaRPr lang="en-US" sz="975" dirty="0"/>
          </a:p>
        </p:txBody>
      </p:sp>
      <p:sp>
        <p:nvSpPr>
          <p:cNvPr id="4" name="Text 2"/>
          <p:cNvSpPr/>
          <p:nvPr/>
        </p:nvSpPr>
        <p:spPr>
          <a:xfrm>
            <a:off x="1028700" y="1440180"/>
            <a:ext cx="7084314" cy="1508760"/>
          </a:xfrm>
          <a:prstGeom prst="rect">
            <a:avLst/>
          </a:prstGeom>
          <a:noFill/>
          <a:ln/>
        </p:spPr>
        <p:txBody>
          <a:bodyPr wrap="square" lIns="0" tIns="0" rIns="0" bIns="0" rtlCol="0" anchor="ctr"/>
          <a:lstStyle/>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 loan decision that used to take days</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still felt unfair now takes minutes —</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finally explains itself.</a:t>
            </a:r>
            <a:endParaRPr lang="en-US" sz="2400" dirty="0"/>
          </a:p>
        </p:txBody>
      </p:sp>
      <p:sp>
        <p:nvSpPr>
          <p:cNvPr id="5" name="Shape 3"/>
          <p:cNvSpPr/>
          <p:nvPr/>
        </p:nvSpPr>
        <p:spPr>
          <a:xfrm>
            <a:off x="3888486" y="3086100"/>
            <a:ext cx="1371600" cy="0"/>
          </a:xfrm>
          <a:prstGeom prst="line">
            <a:avLst/>
          </a:prstGeom>
          <a:noFill/>
          <a:ln w="9525">
            <a:solidFill>
              <a:srgbClr val="2E3D5E"/>
            </a:solidFill>
            <a:prstDash val="solid"/>
          </a:ln>
        </p:spPr>
      </p:sp>
      <p:sp>
        <p:nvSpPr>
          <p:cNvPr id="6" name="Text 4"/>
          <p:cNvSpPr/>
          <p:nvPr/>
        </p:nvSpPr>
        <p:spPr>
          <a:xfrm>
            <a:off x="1714500" y="3257550"/>
            <a:ext cx="5712714" cy="685800"/>
          </a:xfrm>
          <a:prstGeom prst="rect">
            <a:avLst/>
          </a:prstGeom>
          <a:noFill/>
          <a:ln/>
        </p:spPr>
        <p:txBody>
          <a:bodyPr wrap="square" lIns="0" tIns="0" rIns="0" bIns="0" rtlCol="0" anchor="ctr"/>
          <a:lstStyle/>
          <a:p>
            <a:pPr marL="0" indent="0" algn="ctr">
              <a:lnSpc>
                <a:spcPct val="135000"/>
              </a:lnSpc>
              <a:buNone/>
            </a:pPr>
            <a:r>
              <a:rPr lang="en-US" sz="1012" i="1" dirty="0">
                <a:solidFill>
                  <a:srgbClr val="C9D2E8"/>
                </a:solidFill>
                <a:latin typeface="Calibri" pitchFamily="34" charset="0"/>
                <a:ea typeface="Calibri" pitchFamily="34" charset="-122"/>
                <a:cs typeface="Calibri" pitchFamily="34" charset="-120"/>
              </a:rPr>
              <a:t>Rohan's story is one applicant. The platform behind it — built on real documents, real risk scoring, and a mandatory human sign-off — is built to give every applicant an answer, not just a stamp.</a:t>
            </a:r>
            <a:endParaRPr lang="en-US" sz="1012" dirty="0"/>
          </a:p>
        </p:txBody>
      </p:sp>
      <p:sp>
        <p:nvSpPr>
          <p:cNvPr id="7" name="Text 5"/>
          <p:cNvSpPr/>
          <p:nvPr/>
        </p:nvSpPr>
        <p:spPr>
          <a:xfrm>
            <a:off x="0" y="4217670"/>
            <a:ext cx="9141714" cy="274320"/>
          </a:xfrm>
          <a:prstGeom prst="rect">
            <a:avLst/>
          </a:prstGeom>
          <a:noFill/>
          <a:ln/>
        </p:spPr>
        <p:txBody>
          <a:bodyPr wrap="square" lIns="0" tIns="0" rIns="0" bIns="0" rtlCol="0" anchor="ctr"/>
          <a:lstStyle/>
          <a:p>
            <a:pPr marL="0" indent="0" algn="ctr">
              <a:buNone/>
            </a:pPr>
            <a:r>
              <a:rPr lang="en-US" sz="900" dirty="0">
                <a:solidFill>
                  <a:srgbClr val="7C8CE8"/>
                </a:solidFill>
                <a:latin typeface="Calibri" pitchFamily="34" charset="0"/>
                <a:ea typeface="Calibri" pitchFamily="34" charset="-122"/>
                <a:cs typeface="Calibri" pitchFamily="34" charset="-120"/>
              </a:rPr>
              <a:t>Credit Risk Intelligence Platform · Ashu Sharma &amp; Akash Chaurasiya</a:t>
            </a:r>
            <a:endParaRPr lang="en-US" sz="900" dirty="0"/>
          </a:p>
        </p:txBody>
      </p:sp>
      <p:sp>
        <p:nvSpPr>
          <p:cNvPr id="8" name="Text 6"/>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AEB0C4"/>
                </a:solidFill>
                <a:latin typeface="Calibri" pitchFamily="34" charset="0"/>
                <a:ea typeface="Calibri" pitchFamily="34" charset="-122"/>
                <a:cs typeface="Calibri" pitchFamily="34" charset="-120"/>
              </a:rPr>
              <a:t>Close</a:t>
            </a:r>
            <a:endParaRPr lang="en-US" sz="712" dirty="0"/>
          </a:p>
        </p:txBody>
      </p:sp>
      <p:sp>
        <p:nvSpPr>
          <p:cNvPr id="9" name="Text 7"/>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AEB0C4"/>
                </a:solidFill>
                <a:latin typeface="Calibri" pitchFamily="34" charset="0"/>
                <a:ea typeface="Calibri" pitchFamily="34" charset="-122"/>
                <a:cs typeface="Calibri" pitchFamily="34" charset="-120"/>
              </a:rPr>
              <a:t>Rohan's Story</a:t>
            </a:r>
            <a:endParaRPr lang="en-US" sz="712" dirty="0"/>
          </a:p>
        </p:txBody>
      </p:sp>
    </p:spTree>
  </p:cSld>
  <p:clrMapOvr>
    <a:masterClrMapping/>
  </p:clrMapOvr>
  <p:transition spd="slow">
    <p:fade/>
  </p:transition>
</p:sld>
</file>

<file path=ppt/slides/slide10.xml><?xml version="1.0" encoding="utf-8"?>
<p:sld xmlns:a="http://schemas.openxmlformats.org/drawingml/2006/main" xmlns:r="http://schemas.openxmlformats.org/officeDocument/2006/relationships" xmlns:p="http://schemas.openxmlformats.org/presentationml/2006/main">
  <p:cSld name="Problem and Solution">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700000" cy="256032"/>
          </a:xfrm>
          <a:prstGeom prst="roundRect">
            <a:avLst>
              <a:gd name="adj" fmla="val 50000"/>
            </a:avLst>
          </a:prstGeom>
          <a:solidFill>
            <a:srgbClr val="2563EB">
              <a:alpha val="25000"/>
            </a:srgbClr>
          </a:solidFill>
          <a:ln/>
        </p:spPr>
      </p:sp>
      <p:sp>
        <p:nvSpPr>
          <p:cNvPr id="102" name="BadgeText"/>
          <p:cNvSpPr/>
          <p:nvPr/>
        </p:nvSpPr>
        <p:spPr>
          <a:xfrm>
            <a:off x="457200" y="274320"/>
            <a:ext cx="170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OVERVIEW</a:t>
            </a:r>
          </a:p>
        </p:txBody>
      </p:sp>
      <p:sp>
        <p:nvSpPr>
          <p:cNvPr id="103" name="Title"/>
          <p:cNvSpPr/>
          <p:nvPr/>
        </p:nvSpPr>
        <p:spPr>
          <a:xfrm>
            <a:off x="457200" y="590000"/>
            <a:ext cx="8229600" cy="50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Why We Built It — And What We Built</a:t>
            </a:r>
          </a:p>
        </p:txBody>
      </p:sp>
      <p:sp>
        <p:nvSpPr>
          <p:cNvPr id="104" name="Badge"/>
          <p:cNvSpPr/>
          <p:nvPr/>
        </p:nvSpPr>
        <p:spPr>
          <a:xfrm>
            <a:off x="457200" y="1230000"/>
            <a:ext cx="1450000" cy="230000"/>
          </a:xfrm>
          <a:prstGeom prst="roundRect">
            <a:avLst>
              <a:gd name="adj" fmla="val 50000"/>
            </a:avLst>
          </a:prstGeom>
          <a:solidFill>
            <a:srgbClr val="DC2626">
              <a:alpha val="25000"/>
            </a:srgbClr>
          </a:solidFill>
          <a:ln/>
        </p:spPr>
      </p:sp>
      <p:sp>
        <p:nvSpPr>
          <p:cNvPr id="105" name="BadgeText"/>
          <p:cNvSpPr/>
          <p:nvPr/>
        </p:nvSpPr>
        <p:spPr>
          <a:xfrm>
            <a:off x="457200" y="1230000"/>
            <a:ext cx="145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THE PROBLEM</a:t>
            </a:r>
          </a:p>
        </p:txBody>
      </p:sp>
      <p:sp>
        <p:nvSpPr>
          <p:cNvPr id="106" name="Text"/>
          <p:cNvSpPr/>
          <p:nvPr/>
        </p:nvSpPr>
        <p:spPr>
          <a:xfrm>
            <a:off x="457200" y="156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07" name="Text"/>
          <p:cNvSpPr/>
          <p:nvPr/>
        </p:nvSpPr>
        <p:spPr>
          <a:xfrm>
            <a:off x="857200" y="156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Manual Review</a:t>
            </a:r>
          </a:p>
        </p:txBody>
      </p:sp>
      <p:sp>
        <p:nvSpPr>
          <p:cNvPr id="108" name="Text"/>
          <p:cNvSpPr/>
          <p:nvPr/>
        </p:nvSpPr>
        <p:spPr>
          <a:xfrm>
            <a:off x="857200" y="173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Officers read 50-100 page PDFs by hand — 3-5 days per application.</a:t>
            </a:r>
          </a:p>
        </p:txBody>
      </p:sp>
      <p:sp>
        <p:nvSpPr>
          <p:cNvPr id="109" name="Text"/>
          <p:cNvSpPr/>
          <p:nvPr/>
        </p:nvSpPr>
        <p:spPr>
          <a:xfrm>
            <a:off x="457200" y="203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0" name="Text"/>
          <p:cNvSpPr/>
          <p:nvPr/>
        </p:nvSpPr>
        <p:spPr>
          <a:xfrm>
            <a:off x="857200" y="203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Human Error</a:t>
            </a:r>
          </a:p>
        </p:txBody>
      </p:sp>
      <p:sp>
        <p:nvSpPr>
          <p:cNvPr id="111" name="Text"/>
          <p:cNvSpPr/>
          <p:nvPr/>
        </p:nvSpPr>
        <p:spPr>
          <a:xfrm>
            <a:off x="857200" y="220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Same applicant gets different risk ratings from different officers.</a:t>
            </a:r>
          </a:p>
        </p:txBody>
      </p:sp>
      <p:sp>
        <p:nvSpPr>
          <p:cNvPr id="112" name="Text"/>
          <p:cNvSpPr/>
          <p:nvPr/>
        </p:nvSpPr>
        <p:spPr>
          <a:xfrm>
            <a:off x="457200" y="250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3" name="Text"/>
          <p:cNvSpPr/>
          <p:nvPr/>
        </p:nvSpPr>
        <p:spPr>
          <a:xfrm>
            <a:off x="857200" y="250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Slow Decisions</a:t>
            </a:r>
          </a:p>
        </p:txBody>
      </p:sp>
      <p:sp>
        <p:nvSpPr>
          <p:cNvPr id="114" name="Text"/>
          <p:cNvSpPr/>
          <p:nvPr/>
        </p:nvSpPr>
        <p:spPr>
          <a:xfrm>
            <a:off x="857200" y="267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Customers wait weeks while documents sit in a processing queue.</a:t>
            </a:r>
          </a:p>
        </p:txBody>
      </p:sp>
      <p:sp>
        <p:nvSpPr>
          <p:cNvPr id="115" name="Text"/>
          <p:cNvSpPr/>
          <p:nvPr/>
        </p:nvSpPr>
        <p:spPr>
          <a:xfrm>
            <a:off x="457200" y="297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6" name="Text"/>
          <p:cNvSpPr/>
          <p:nvPr/>
        </p:nvSpPr>
        <p:spPr>
          <a:xfrm>
            <a:off x="857200" y="297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Revenue Loss</a:t>
            </a:r>
          </a:p>
        </p:txBody>
      </p:sp>
      <p:sp>
        <p:nvSpPr>
          <p:cNvPr id="117" name="Text"/>
          <p:cNvSpPr/>
          <p:nvPr/>
        </p:nvSpPr>
        <p:spPr>
          <a:xfrm>
            <a:off x="857200" y="314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Banks lose creditworthy customers to faster competitors.</a:t>
            </a:r>
          </a:p>
        </p:txBody>
      </p:sp>
      <p:sp>
        <p:nvSpPr>
          <p:cNvPr id="118" name="Badge"/>
          <p:cNvSpPr/>
          <p:nvPr/>
        </p:nvSpPr>
        <p:spPr>
          <a:xfrm>
            <a:off x="4686300" y="1230000"/>
            <a:ext cx="1550000" cy="230000"/>
          </a:xfrm>
          <a:prstGeom prst="roundRect">
            <a:avLst>
              <a:gd name="adj" fmla="val 50000"/>
            </a:avLst>
          </a:prstGeom>
          <a:solidFill>
            <a:srgbClr val="059669">
              <a:alpha val="25000"/>
            </a:srgbClr>
          </a:solidFill>
          <a:ln/>
        </p:spPr>
      </p:sp>
      <p:sp>
        <p:nvSpPr>
          <p:cNvPr id="119" name="BadgeText"/>
          <p:cNvSpPr/>
          <p:nvPr/>
        </p:nvSpPr>
        <p:spPr>
          <a:xfrm>
            <a:off x="4686300" y="1230000"/>
            <a:ext cx="155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OUR SOLUTION</a:t>
            </a:r>
          </a:p>
        </p:txBody>
      </p:sp>
      <p:sp>
        <p:nvSpPr>
          <p:cNvPr id="120" name="Text"/>
          <p:cNvSpPr/>
          <p:nvPr/>
        </p:nvSpPr>
        <p:spPr>
          <a:xfrm>
            <a:off x="4686300" y="1560000"/>
            <a:ext cx="4000500" cy="620000"/>
          </a:xfrm>
          <a:prstGeom prst="rect">
            <a:avLst/>
          </a:prstGeom>
          <a:noFill/>
          <a:ln/>
        </p:spPr>
        <p:txBody>
          <a:bodyPr wrap="square" lIns="0" tIns="0" rIns="0" bIns="0" rtlCol="0" anchor="t"/>
          <a:lstStyle/>
          <a:p>
            <a:pPr marL="0" indent="0" algn="l">
              <a:lnSpc>
                <a:spcPct val="125000"/>
              </a:lnSpc>
              <a:buNone/>
            </a:pPr>
            <a:r>
              <a:rPr lang="en-US" sz="950" b="0" dirty="0">
                <a:solidFill>
                  <a:srgbClr val="CBD5E1"/>
                </a:solidFill>
              </a:rPr>
              <a:t>An AI platform that extracts key financial data from uploaded PDFs, generates explainable credit risk scores, and gives AI-powered loan recommendations — for both individual customers and financial institutions.</a:t>
            </a:r>
          </a:p>
        </p:txBody>
      </p:sp>
      <p:sp>
        <p:nvSpPr>
          <p:cNvPr id="121" name="Text"/>
          <p:cNvSpPr/>
          <p:nvPr/>
        </p:nvSpPr>
        <p:spPr>
          <a:xfrm>
            <a:off x="4686300" y="226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2" name="Text"/>
          <p:cNvSpPr/>
          <p:nvPr/>
        </p:nvSpPr>
        <p:spPr>
          <a:xfrm>
            <a:off x="4906300" y="226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Automatic PDF data extraction</a:t>
            </a:r>
          </a:p>
        </p:txBody>
      </p:sp>
      <p:sp>
        <p:nvSpPr>
          <p:cNvPr id="123" name="Text"/>
          <p:cNvSpPr/>
          <p:nvPr/>
        </p:nvSpPr>
        <p:spPr>
          <a:xfrm>
            <a:off x="4686300" y="252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4" name="Text"/>
          <p:cNvSpPr/>
          <p:nvPr/>
        </p:nvSpPr>
        <p:spPr>
          <a:xfrm>
            <a:off x="4906300" y="252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Explainable risk scores, not black-box numbers</a:t>
            </a:r>
          </a:p>
        </p:txBody>
      </p:sp>
      <p:sp>
        <p:nvSpPr>
          <p:cNvPr id="125" name="Text"/>
          <p:cNvSpPr/>
          <p:nvPr/>
        </p:nvSpPr>
        <p:spPr>
          <a:xfrm>
            <a:off x="4686300" y="278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6" name="Text"/>
          <p:cNvSpPr/>
          <p:nvPr/>
        </p:nvSpPr>
        <p:spPr>
          <a:xfrm>
            <a:off x="4906300" y="278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Safer loan amounts, better rates, next steps</a:t>
            </a:r>
          </a:p>
        </p:txBody>
      </p:sp>
      <p:sp>
        <p:nvSpPr>
          <p:cNvPr id="127" name="Text"/>
          <p:cNvSpPr/>
          <p:nvPr/>
        </p:nvSpPr>
        <p:spPr>
          <a:xfrm>
            <a:off x="4686300" y="304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8" name="Text"/>
          <p:cNvSpPr/>
          <p:nvPr/>
        </p:nvSpPr>
        <p:spPr>
          <a:xfrm>
            <a:off x="4906300" y="304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Full CI/CD deploy pipeline on Azure</a:t>
            </a:r>
          </a:p>
        </p:txBody>
      </p:sp>
      <p:sp>
        <p:nvSpPr>
          <p:cNvPr id="129" name="Pill"/>
          <p:cNvSpPr/>
          <p:nvPr/>
        </p:nvSpPr>
        <p:spPr>
          <a:xfrm>
            <a:off x="4686300" y="3420000"/>
            <a:ext cx="75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Streamlit</a:t>
            </a:r>
          </a:p>
        </p:txBody>
      </p:sp>
      <p:sp>
        <p:nvSpPr>
          <p:cNvPr id="130" name="Pill"/>
          <p:cNvSpPr/>
          <p:nvPr/>
        </p:nvSpPr>
        <p:spPr>
          <a:xfrm>
            <a:off x="5516300" y="34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LangChain</a:t>
            </a:r>
          </a:p>
        </p:txBody>
      </p:sp>
      <p:sp>
        <p:nvSpPr>
          <p:cNvPr id="131" name="Pill"/>
          <p:cNvSpPr/>
          <p:nvPr/>
        </p:nvSpPr>
        <p:spPr>
          <a:xfrm>
            <a:off x="6346300" y="3420000"/>
            <a:ext cx="690000" cy="250000"/>
          </a:xfrm>
          <a:prstGeom prst="roundRect">
            <a:avLst>
              <a:gd name="adj" fmla="val 50000"/>
            </a:avLst>
          </a:prstGeom>
          <a:solidFill>
            <a:srgbClr val="059669">
              <a:alpha val="20000"/>
            </a:srgbClr>
          </a:solidFill>
          <a:ln/>
        </p:spPr>
        <p:txBody>
          <a:bodyPr wrap="square" lIns="0" tIns="0" rIns="0" bIns="0" rtlCol="0" anchor="ctr"/>
          <a:lstStyle/>
          <a:p>
            <a:pPr marL="0" indent="0" algn="ctr">
              <a:buNone/>
            </a:pPr>
            <a:r>
              <a:rPr lang="en-US" sz="750" b="1" dirty="0">
                <a:solidFill>
                  <a:srgbClr val="FFFFFF"/>
                </a:solidFill>
              </a:rPr>
              <a:t>Pinecone</a:t>
            </a:r>
          </a:p>
        </p:txBody>
      </p:sp>
      <p:sp>
        <p:nvSpPr>
          <p:cNvPr id="132" name="Pill"/>
          <p:cNvSpPr/>
          <p:nvPr/>
        </p:nvSpPr>
        <p:spPr>
          <a:xfrm>
            <a:off x="7116300" y="3420000"/>
            <a:ext cx="570000" cy="25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a:t>
            </a:r>
          </a:p>
        </p:txBody>
      </p:sp>
      <p:sp>
        <p:nvSpPr>
          <p:cNvPr id="133" name="Pill"/>
          <p:cNvSpPr/>
          <p:nvPr/>
        </p:nvSpPr>
        <p:spPr>
          <a:xfrm>
            <a:off x="7766300" y="3420000"/>
            <a:ext cx="51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Azure</a:t>
            </a:r>
          </a:p>
        </p:txBody>
      </p:sp>
      <p:sp>
        <p:nvSpPr>
          <p:cNvPr id="134" name="Pill"/>
          <p:cNvSpPr/>
          <p:nvPr/>
        </p:nvSpPr>
        <p:spPr>
          <a:xfrm>
            <a:off x="4686300" y="37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LangSmith</a:t>
            </a:r>
          </a:p>
        </p:txBody>
      </p:sp>
      <p:sp>
        <p:nvSpPr>
          <p:cNvPr id="135" name="Pill"/>
          <p:cNvSpPr/>
          <p:nvPr/>
        </p:nvSpPr>
        <p:spPr>
          <a:xfrm>
            <a:off x="5516300" y="3720000"/>
            <a:ext cx="570000" cy="250000"/>
          </a:xfrm>
          <a:prstGeom prst="roundRect">
            <a:avLst>
              <a:gd name="adj" fmla="val 50000"/>
            </a:avLst>
          </a:prstGeom>
          <a:solidFill>
            <a:srgbClr val="94A3B8">
              <a:alpha val="20000"/>
            </a:srgbClr>
          </a:solidFill>
          <a:ln/>
        </p:spPr>
        <p:txBody>
          <a:bodyPr wrap="square" lIns="0" tIns="0" rIns="0" bIns="0" rtlCol="0" anchor="ctr"/>
          <a:lstStyle/>
          <a:p>
            <a:pPr marL="0" indent="0" algn="ctr">
              <a:buNone/>
            </a:pPr>
            <a:r>
              <a:rPr lang="en-US" sz="750" b="1" dirty="0">
                <a:solidFill>
                  <a:srgbClr val="FFFFFF"/>
                </a:solidFill>
              </a:rPr>
              <a:t>OpenAI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2563EB">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ARCHITECTURE</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System Architecture</a:t>
            </a:r>
            <a:endParaRPr lang="en-US" sz="3000" dirty="0"/>
          </a:p>
        </p:txBody>
      </p:sp>
      <p:sp>
        <p:nvSpPr>
          <p:cNvPr id="5" name="Shape 3"/>
          <p:cNvSpPr/>
          <p:nvPr/>
        </p:nvSpPr>
        <p:spPr>
          <a:xfrm>
            <a:off x="365760"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365760" y="1325880"/>
            <a:ext cx="1572768" cy="347472"/>
          </a:xfrm>
          <a:prstGeom prst="roundRect">
            <a:avLst>
              <a:gd name="adj" fmla="val 26316"/>
            </a:avLst>
          </a:prstGeom>
          <a:solidFill>
            <a:srgbClr val="0891B2">
              <a:alpha val="75000"/>
            </a:srgbClr>
          </a:solidFill>
          <a:ln/>
        </p:spPr>
      </p:sp>
      <p:sp>
        <p:nvSpPr>
          <p:cNvPr id="7" name="Text 5"/>
          <p:cNvSpPr/>
          <p:nvPr/>
        </p:nvSpPr>
        <p:spPr>
          <a:xfrm>
            <a:off x="365760"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UI Layer</a:t>
            </a:r>
            <a:endParaRPr lang="en-US" sz="1000" dirty="0"/>
          </a:p>
        </p:txBody>
      </p:sp>
      <p:sp>
        <p:nvSpPr>
          <p:cNvPr id="8" name="Text 6"/>
          <p:cNvSpPr/>
          <p:nvPr/>
        </p:nvSpPr>
        <p:spPr>
          <a:xfrm>
            <a:off x="457200"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Streamlit Web App</a:t>
            </a:r>
            <a:endParaRPr lang="en-US" sz="900" dirty="0"/>
          </a:p>
        </p:txBody>
      </p:sp>
      <p:sp>
        <p:nvSpPr>
          <p:cNvPr id="9" name="Text 7"/>
          <p:cNvSpPr/>
          <p:nvPr/>
        </p:nvSpPr>
        <p:spPr>
          <a:xfrm>
            <a:off x="457200"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Auth (JWT + bcrypt)</a:t>
            </a:r>
            <a:endParaRPr lang="en-US" sz="900" dirty="0"/>
          </a:p>
        </p:txBody>
      </p:sp>
      <p:sp>
        <p:nvSpPr>
          <p:cNvPr id="10" name="Text 8"/>
          <p:cNvSpPr/>
          <p:nvPr/>
        </p:nvSpPr>
        <p:spPr>
          <a:xfrm>
            <a:off x="457200"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Customer + Institution Views</a:t>
            </a:r>
            <a:endParaRPr lang="en-US" sz="900" dirty="0"/>
          </a:p>
        </p:txBody>
      </p:sp>
      <p:sp>
        <p:nvSpPr>
          <p:cNvPr id="11" name="Shape 9"/>
          <p:cNvSpPr/>
          <p:nvPr/>
        </p:nvSpPr>
        <p:spPr>
          <a:xfrm>
            <a:off x="1938528" y="2651760"/>
            <a:ext cx="146304" cy="0"/>
          </a:xfrm>
          <a:prstGeom prst="line">
            <a:avLst/>
          </a:prstGeom>
          <a:noFill/>
          <a:ln w="19050">
            <a:solidFill>
              <a:srgbClr val="0891B2"/>
            </a:solidFill>
            <a:prstDash val="sysDash"/>
          </a:ln>
        </p:spPr>
      </p:sp>
      <p:sp>
        <p:nvSpPr>
          <p:cNvPr id="12" name="Shape 10"/>
          <p:cNvSpPr/>
          <p:nvPr/>
        </p:nvSpPr>
        <p:spPr>
          <a:xfrm>
            <a:off x="2084832"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13" name="Shape 11"/>
          <p:cNvSpPr/>
          <p:nvPr/>
        </p:nvSpPr>
        <p:spPr>
          <a:xfrm>
            <a:off x="2084832" y="1325880"/>
            <a:ext cx="1572768" cy="347472"/>
          </a:xfrm>
          <a:prstGeom prst="roundRect">
            <a:avLst>
              <a:gd name="adj" fmla="val 26316"/>
            </a:avLst>
          </a:prstGeom>
          <a:solidFill>
            <a:srgbClr val="2563EB">
              <a:alpha val="75000"/>
            </a:srgbClr>
          </a:solidFill>
          <a:ln/>
        </p:spPr>
      </p:sp>
      <p:sp>
        <p:nvSpPr>
          <p:cNvPr id="14" name="Text 12"/>
          <p:cNvSpPr/>
          <p:nvPr/>
        </p:nvSpPr>
        <p:spPr>
          <a:xfrm>
            <a:off x="2084832"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Orchestrator</a:t>
            </a:r>
            <a:endParaRPr lang="en-US" sz="1000" dirty="0"/>
          </a:p>
        </p:txBody>
      </p:sp>
      <p:sp>
        <p:nvSpPr>
          <p:cNvPr id="15" name="Text 13"/>
          <p:cNvSpPr/>
          <p:nvPr/>
        </p:nvSpPr>
        <p:spPr>
          <a:xfrm>
            <a:off x="2176272"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Chat Agent</a:t>
            </a:r>
            <a:endParaRPr lang="en-US" sz="900" dirty="0"/>
          </a:p>
        </p:txBody>
      </p:sp>
      <p:sp>
        <p:nvSpPr>
          <p:cNvPr id="16" name="Text 14"/>
          <p:cNvSpPr/>
          <p:nvPr/>
        </p:nvSpPr>
        <p:spPr>
          <a:xfrm>
            <a:off x="2176272"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Document Agent</a:t>
            </a:r>
            <a:endParaRPr lang="en-US" sz="900" dirty="0"/>
          </a:p>
        </p:txBody>
      </p:sp>
      <p:sp>
        <p:nvSpPr>
          <p:cNvPr id="17" name="Text 15"/>
          <p:cNvSpPr/>
          <p:nvPr/>
        </p:nvSpPr>
        <p:spPr>
          <a:xfrm>
            <a:off x="2176272"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Retrieval Agent</a:t>
            </a:r>
            <a:endParaRPr lang="en-US" sz="900" dirty="0"/>
          </a:p>
        </p:txBody>
      </p:sp>
      <p:sp>
        <p:nvSpPr>
          <p:cNvPr id="18" name="Shape 16"/>
          <p:cNvSpPr/>
          <p:nvPr/>
        </p:nvSpPr>
        <p:spPr>
          <a:xfrm>
            <a:off x="3657600" y="2651760"/>
            <a:ext cx="146304" cy="0"/>
          </a:xfrm>
          <a:prstGeom prst="line">
            <a:avLst/>
          </a:prstGeom>
          <a:noFill/>
          <a:ln w="19050">
            <a:solidFill>
              <a:srgbClr val="2563EB"/>
            </a:solidFill>
            <a:prstDash val="sysDash"/>
          </a:ln>
        </p:spPr>
      </p:sp>
      <p:sp>
        <p:nvSpPr>
          <p:cNvPr id="19" name="Shape 17"/>
          <p:cNvSpPr/>
          <p:nvPr/>
        </p:nvSpPr>
        <p:spPr>
          <a:xfrm>
            <a:off x="3803904"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0" name="Shape 18"/>
          <p:cNvSpPr/>
          <p:nvPr/>
        </p:nvSpPr>
        <p:spPr>
          <a:xfrm>
            <a:off x="3803904" y="1325880"/>
            <a:ext cx="1572768" cy="347472"/>
          </a:xfrm>
          <a:prstGeom prst="roundRect">
            <a:avLst>
              <a:gd name="adj" fmla="val 26316"/>
            </a:avLst>
          </a:prstGeom>
          <a:solidFill>
            <a:srgbClr val="D97706">
              <a:alpha val="75000"/>
            </a:srgbClr>
          </a:solidFill>
          <a:ln/>
        </p:spPr>
      </p:sp>
      <p:sp>
        <p:nvSpPr>
          <p:cNvPr id="21" name="Text 19"/>
          <p:cNvSpPr/>
          <p:nvPr/>
        </p:nvSpPr>
        <p:spPr>
          <a:xfrm>
            <a:off x="3803904"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AI / LLM</a:t>
            </a:r>
            <a:endParaRPr lang="en-US" sz="1000" dirty="0"/>
          </a:p>
        </p:txBody>
      </p:sp>
      <p:sp>
        <p:nvSpPr>
          <p:cNvPr id="22" name="Text 20"/>
          <p:cNvSpPr/>
          <p:nvPr/>
        </p:nvSpPr>
        <p:spPr>
          <a:xfrm>
            <a:off x="3895344"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OpenAI → Groq → Gemini</a:t>
            </a:r>
            <a:endParaRPr lang="en-US" sz="900" dirty="0"/>
          </a:p>
        </p:txBody>
      </p:sp>
      <p:sp>
        <p:nvSpPr>
          <p:cNvPr id="23" name="Text 21"/>
          <p:cNvSpPr/>
          <p:nvPr/>
        </p:nvSpPr>
        <p:spPr>
          <a:xfrm>
            <a:off x="3895344"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3-tier fallback chain</a:t>
            </a:r>
            <a:endParaRPr lang="en-US" sz="900" dirty="0"/>
          </a:p>
        </p:txBody>
      </p:sp>
      <p:sp>
        <p:nvSpPr>
          <p:cNvPr id="24" name="Text 22"/>
          <p:cNvSpPr/>
          <p:nvPr/>
        </p:nvSpPr>
        <p:spPr>
          <a:xfrm>
            <a:off x="3895344"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LangSmith tracing</a:t>
            </a:r>
            <a:endParaRPr lang="en-US" sz="900" dirty="0"/>
          </a:p>
        </p:txBody>
      </p:sp>
      <p:sp>
        <p:nvSpPr>
          <p:cNvPr id="25" name="Shape 23"/>
          <p:cNvSpPr/>
          <p:nvPr/>
        </p:nvSpPr>
        <p:spPr>
          <a:xfrm>
            <a:off x="5376672" y="2651760"/>
            <a:ext cx="146304" cy="0"/>
          </a:xfrm>
          <a:prstGeom prst="line">
            <a:avLst/>
          </a:prstGeom>
          <a:noFill/>
          <a:ln w="19050">
            <a:solidFill>
              <a:srgbClr val="D97706"/>
            </a:solidFill>
            <a:prstDash val="sysDash"/>
          </a:ln>
        </p:spPr>
      </p:sp>
      <p:sp>
        <p:nvSpPr>
          <p:cNvPr id="26" name="Shape 24"/>
          <p:cNvSpPr/>
          <p:nvPr/>
        </p:nvSpPr>
        <p:spPr>
          <a:xfrm>
            <a:off x="5522976"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7" name="Shape 25"/>
          <p:cNvSpPr/>
          <p:nvPr/>
        </p:nvSpPr>
        <p:spPr>
          <a:xfrm>
            <a:off x="5522976" y="1325880"/>
            <a:ext cx="1572768" cy="347472"/>
          </a:xfrm>
          <a:prstGeom prst="roundRect">
            <a:avLst>
              <a:gd name="adj" fmla="val 26316"/>
            </a:avLst>
          </a:prstGeom>
          <a:solidFill>
            <a:srgbClr val="059669">
              <a:alpha val="75000"/>
            </a:srgbClr>
          </a:solidFill>
          <a:ln/>
        </p:spPr>
      </p:sp>
      <p:sp>
        <p:nvSpPr>
          <p:cNvPr id="28" name="Text 26"/>
          <p:cNvSpPr/>
          <p:nvPr/>
        </p:nvSpPr>
        <p:spPr>
          <a:xfrm>
            <a:off x="5522976"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Data Layer</a:t>
            </a:r>
            <a:endParaRPr lang="en-US" sz="1000" dirty="0"/>
          </a:p>
        </p:txBody>
      </p:sp>
      <p:sp>
        <p:nvSpPr>
          <p:cNvPr id="29" name="Text 27"/>
          <p:cNvSpPr/>
          <p:nvPr/>
        </p:nvSpPr>
        <p:spPr>
          <a:xfrm>
            <a:off x="5614416"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Pinecone Vector DB</a:t>
            </a:r>
            <a:endParaRPr lang="en-US" sz="900" dirty="0"/>
          </a:p>
        </p:txBody>
      </p:sp>
      <p:sp>
        <p:nvSpPr>
          <p:cNvPr id="30" name="Text 28"/>
          <p:cNvSpPr/>
          <p:nvPr/>
        </p:nvSpPr>
        <p:spPr>
          <a:xfrm>
            <a:off x="5614416"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BM25 Hybrid Search</a:t>
            </a:r>
            <a:endParaRPr lang="en-US" sz="900" dirty="0"/>
          </a:p>
        </p:txBody>
      </p:sp>
      <p:sp>
        <p:nvSpPr>
          <p:cNvPr id="31" name="Text 29"/>
          <p:cNvSpPr/>
          <p:nvPr/>
        </p:nvSpPr>
        <p:spPr>
          <a:xfrm>
            <a:off x="5614416"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SQLite User Auth</a:t>
            </a:r>
            <a:endParaRPr lang="en-US" sz="900" dirty="0"/>
          </a:p>
        </p:txBody>
      </p:sp>
      <p:sp>
        <p:nvSpPr>
          <p:cNvPr id="32" name="Shape 30"/>
          <p:cNvSpPr/>
          <p:nvPr/>
        </p:nvSpPr>
        <p:spPr>
          <a:xfrm>
            <a:off x="7095744" y="2651760"/>
            <a:ext cx="146304" cy="0"/>
          </a:xfrm>
          <a:prstGeom prst="line">
            <a:avLst/>
          </a:prstGeom>
          <a:noFill/>
          <a:ln w="19050">
            <a:solidFill>
              <a:srgbClr val="059669"/>
            </a:solidFill>
            <a:prstDash val="sysDash"/>
          </a:ln>
        </p:spPr>
      </p:sp>
      <p:sp>
        <p:nvSpPr>
          <p:cNvPr id="33" name="Shape 31"/>
          <p:cNvSpPr/>
          <p:nvPr/>
        </p:nvSpPr>
        <p:spPr>
          <a:xfrm>
            <a:off x="7242048"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34" name="Shape 32"/>
          <p:cNvSpPr/>
          <p:nvPr/>
        </p:nvSpPr>
        <p:spPr>
          <a:xfrm>
            <a:off x="7242048" y="1325880"/>
            <a:ext cx="1572768" cy="347472"/>
          </a:xfrm>
          <a:prstGeom prst="roundRect">
            <a:avLst>
              <a:gd name="adj" fmla="val 26316"/>
            </a:avLst>
          </a:prstGeom>
          <a:solidFill>
            <a:srgbClr val="DC2626">
              <a:alpha val="75000"/>
            </a:srgbClr>
          </a:solidFill>
          <a:ln/>
        </p:spPr>
      </p:sp>
      <p:sp>
        <p:nvSpPr>
          <p:cNvPr id="35" name="Text 33"/>
          <p:cNvSpPr/>
          <p:nvPr/>
        </p:nvSpPr>
        <p:spPr>
          <a:xfrm>
            <a:off x="7242048"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Cloud</a:t>
            </a:r>
            <a:endParaRPr lang="en-US" sz="1000" dirty="0"/>
          </a:p>
        </p:txBody>
      </p:sp>
      <p:sp>
        <p:nvSpPr>
          <p:cNvPr id="36" name="Text 34"/>
          <p:cNvSpPr/>
          <p:nvPr/>
        </p:nvSpPr>
        <p:spPr>
          <a:xfrm>
            <a:off x="7333488"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Azure App Service</a:t>
            </a:r>
            <a:endParaRPr lang="en-US" sz="900" dirty="0"/>
          </a:p>
        </p:txBody>
      </p:sp>
      <p:sp>
        <p:nvSpPr>
          <p:cNvPr id="38" name="Text 36"/>
          <p:cNvSpPr/>
          <p:nvPr/>
        </p:nvSpPr>
        <p:spPr>
          <a:xfrm>
            <a:off x="7296912" y="22768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GitHub Actions CI/CD</a:t>
            </a:r>
            <a:endParaRPr lang="en-US" sz="900" dirty="0"/>
          </a:p>
        </p:txBody>
      </p:sp>
      <p:sp>
        <p:nvSpPr>
          <p:cNvPr id="39" name="Text 37"/>
          <p:cNvSpPr/>
          <p:nvPr/>
        </p:nvSpPr>
        <p:spPr>
          <a:xfrm>
            <a:off x="365760" y="4160520"/>
            <a:ext cx="8412480" cy="320040"/>
          </a:xfrm>
          <a:prstGeom prst="rect">
            <a:avLst/>
          </a:prstGeom>
          <a:noFill/>
          <a:ln/>
        </p:spPr>
        <p:txBody>
          <a:bodyPr wrap="square" lIns="0" tIns="0" rIns="0" bIns="0" rtlCol="0" anchor="ctr"/>
          <a:lstStyle/>
          <a:p>
            <a:pPr marL="0" indent="0" algn="ctr">
              <a:buNone/>
            </a:pPr>
            <a:r>
              <a:rPr lang="en-US" sz="950" i="1" dirty="0">
                <a:solidFill>
                  <a:srgbClr val="94A3B8"/>
                </a:solidFill>
              </a:rPr>
              <a:t>← User uploads PDF → Chunks → Vectors → LLM → Risk Score + Recommendations →</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Features and View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550000" cy="256032"/>
          </a:xfrm>
          <a:prstGeom prst="roundRect">
            <a:avLst>
              <a:gd name="adj" fmla="val 50000"/>
            </a:avLst>
          </a:prstGeom>
          <a:solidFill>
            <a:srgbClr val="2563EB">
              <a:alpha val="25000"/>
            </a:srgbClr>
          </a:solidFill>
          <a:ln/>
        </p:spPr>
      </p:sp>
      <p:sp>
        <p:nvSpPr>
          <p:cNvPr id="102" name="BadgeText"/>
          <p:cNvSpPr/>
          <p:nvPr/>
        </p:nvSpPr>
        <p:spPr>
          <a:xfrm>
            <a:off x="457200" y="274320"/>
            <a:ext cx="155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rPr>
              <a:t>Everything Inside The Platform</a:t>
            </a:r>
          </a:p>
        </p:txBody>
      </p:sp>
      <p:sp>
        <p:nvSpPr>
          <p:cNvPr id="104" name="Card"/>
          <p:cNvSpPr/>
          <p:nvPr/>
        </p:nvSpPr>
        <p:spPr>
          <a:xfrm>
            <a:off x="4572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5972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06" name="Text"/>
          <p:cNvSpPr/>
          <p:nvPr/>
        </p:nvSpPr>
        <p:spPr>
          <a:xfrm>
            <a:off x="10172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Secure Login</a:t>
            </a:r>
          </a:p>
        </p:txBody>
      </p:sp>
      <p:sp>
        <p:nvSpPr>
          <p:cNvPr id="107" name="Text"/>
          <p:cNvSpPr/>
          <p:nvPr/>
        </p:nvSpPr>
        <p:spPr>
          <a:xfrm>
            <a:off x="10172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JWT + bcrypt auth</a:t>
            </a:r>
          </a:p>
        </p:txBody>
      </p:sp>
      <p:sp>
        <p:nvSpPr>
          <p:cNvPr id="108" name="Card"/>
          <p:cNvSpPr/>
          <p:nvPr/>
        </p:nvSpPr>
        <p:spPr>
          <a:xfrm>
            <a:off x="31720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33120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0" name="Text"/>
          <p:cNvSpPr/>
          <p:nvPr/>
        </p:nvSpPr>
        <p:spPr>
          <a:xfrm>
            <a:off x="37320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Upload PDFs</a:t>
            </a:r>
          </a:p>
        </p:txBody>
      </p:sp>
      <p:sp>
        <p:nvSpPr>
          <p:cNvPr id="111" name="Text"/>
          <p:cNvSpPr/>
          <p:nvPr/>
        </p:nvSpPr>
        <p:spPr>
          <a:xfrm>
            <a:off x="37320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Salary slips, statements, ITR</a:t>
            </a:r>
          </a:p>
        </p:txBody>
      </p:sp>
      <p:sp>
        <p:nvSpPr>
          <p:cNvPr id="112" name="Card"/>
          <p:cNvSpPr/>
          <p:nvPr/>
        </p:nvSpPr>
        <p:spPr>
          <a:xfrm>
            <a:off x="58868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3" name="Text"/>
          <p:cNvSpPr/>
          <p:nvPr/>
        </p:nvSpPr>
        <p:spPr>
          <a:xfrm>
            <a:off x="60268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4" name="Text"/>
          <p:cNvSpPr/>
          <p:nvPr/>
        </p:nvSpPr>
        <p:spPr>
          <a:xfrm>
            <a:off x="64468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Risk Analysis</a:t>
            </a:r>
          </a:p>
        </p:txBody>
      </p:sp>
      <p:sp>
        <p:nvSpPr>
          <p:cNvPr id="115" name="Text"/>
          <p:cNvSpPr/>
          <p:nvPr/>
        </p:nvSpPr>
        <p:spPr>
          <a:xfrm>
            <a:off x="64468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AI credit score + red flags</a:t>
            </a:r>
          </a:p>
        </p:txBody>
      </p:sp>
      <p:sp>
        <p:nvSpPr>
          <p:cNvPr id="116" name="Card"/>
          <p:cNvSpPr/>
          <p:nvPr/>
        </p:nvSpPr>
        <p:spPr>
          <a:xfrm>
            <a:off x="4572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5972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8" name="Text"/>
          <p:cNvSpPr/>
          <p:nvPr/>
        </p:nvSpPr>
        <p:spPr>
          <a:xfrm>
            <a:off x="10172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Recommendations</a:t>
            </a:r>
          </a:p>
        </p:txBody>
      </p:sp>
      <p:sp>
        <p:nvSpPr>
          <p:cNvPr id="119" name="Text"/>
          <p:cNvSpPr/>
          <p:nvPr/>
        </p:nvSpPr>
        <p:spPr>
          <a:xfrm>
            <a:off x="10172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Urgency-sorted action plan</a:t>
            </a:r>
          </a:p>
        </p:txBody>
      </p:sp>
      <p:sp>
        <p:nvSpPr>
          <p:cNvPr id="120" name="Card"/>
          <p:cNvSpPr/>
          <p:nvPr/>
        </p:nvSpPr>
        <p:spPr>
          <a:xfrm>
            <a:off x="31720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1" name="Text"/>
          <p:cNvSpPr/>
          <p:nvPr/>
        </p:nvSpPr>
        <p:spPr>
          <a:xfrm>
            <a:off x="33120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2" name="Text"/>
          <p:cNvSpPr/>
          <p:nvPr/>
        </p:nvSpPr>
        <p:spPr>
          <a:xfrm>
            <a:off x="37320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Chat</a:t>
            </a:r>
          </a:p>
        </p:txBody>
      </p:sp>
      <p:sp>
        <p:nvSpPr>
          <p:cNvPr id="123" name="Text"/>
          <p:cNvSpPr/>
          <p:nvPr/>
        </p:nvSpPr>
        <p:spPr>
          <a:xfrm>
            <a:off x="37320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Ask about your own documents</a:t>
            </a:r>
          </a:p>
        </p:txBody>
      </p:sp>
      <p:sp>
        <p:nvSpPr>
          <p:cNvPr id="124" name="Card"/>
          <p:cNvSpPr/>
          <p:nvPr/>
        </p:nvSpPr>
        <p:spPr>
          <a:xfrm>
            <a:off x="58868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5" name="Text"/>
          <p:cNvSpPr/>
          <p:nvPr/>
        </p:nvSpPr>
        <p:spPr>
          <a:xfrm>
            <a:off x="60268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6" name="Text"/>
          <p:cNvSpPr/>
          <p:nvPr/>
        </p:nvSpPr>
        <p:spPr>
          <a:xfrm>
            <a:off x="64468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Retirement Planner</a:t>
            </a:r>
          </a:p>
        </p:txBody>
      </p:sp>
      <p:sp>
        <p:nvSpPr>
          <p:cNvPr id="127" name="Text"/>
          <p:cNvSpPr/>
          <p:nvPr/>
        </p:nvSpPr>
        <p:spPr>
          <a:xfrm>
            <a:off x="64468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40-city cost of living</a:t>
            </a:r>
          </a:p>
        </p:txBody>
      </p:sp>
      <p:sp>
        <p:nvSpPr>
          <p:cNvPr id="128" name="Pill"/>
          <p:cNvSpPr/>
          <p:nvPr/>
        </p:nvSpPr>
        <p:spPr>
          <a:xfrm>
            <a:off x="457200" y="2709600"/>
            <a:ext cx="1750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900" b="1" dirty="0">
                <a:solidFill>
                  <a:srgbClr val="FFFFFF"/>
                </a:solidFill>
              </a:rPr>
              <a:t>👤  CUSTOMER SEES</a:t>
            </a:r>
          </a:p>
        </p:txBody>
      </p:sp>
      <p:sp>
        <p:nvSpPr>
          <p:cNvPr id="129" name="Pill"/>
          <p:cNvSpPr/>
          <p:nvPr/>
        </p:nvSpPr>
        <p:spPr>
          <a:xfrm>
            <a:off x="4686300" y="2709600"/>
            <a:ext cx="1750000" cy="26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900" b="1" dirty="0">
                <a:solidFill>
                  <a:srgbClr val="FFFFFF"/>
                </a:solidFill>
              </a:rPr>
              <a:t>🏦  BANK OFFICER SEES</a:t>
            </a:r>
          </a:p>
        </p:txBody>
      </p:sp>
      <p:sp>
        <p:nvSpPr>
          <p:cNvPr id="130" name="Text"/>
          <p:cNvSpPr/>
          <p:nvPr/>
        </p:nvSpPr>
        <p:spPr>
          <a:xfrm>
            <a:off x="457200" y="3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1" name="Text"/>
          <p:cNvSpPr/>
          <p:nvPr/>
        </p:nvSpPr>
        <p:spPr>
          <a:xfrm>
            <a:off x="6572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Personal risk score (0-100)</a:t>
            </a:r>
          </a:p>
        </p:txBody>
      </p:sp>
      <p:sp>
        <p:nvSpPr>
          <p:cNvPr id="132" name="Text"/>
          <p:cNvSpPr/>
          <p:nvPr/>
        </p:nvSpPr>
        <p:spPr>
          <a:xfrm>
            <a:off x="457200" y="3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3" name="Text"/>
          <p:cNvSpPr/>
          <p:nvPr/>
        </p:nvSpPr>
        <p:spPr>
          <a:xfrm>
            <a:off x="6572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approval probability</a:t>
            </a:r>
          </a:p>
        </p:txBody>
      </p:sp>
      <p:sp>
        <p:nvSpPr>
          <p:cNvPr id="134" name="Text"/>
          <p:cNvSpPr/>
          <p:nvPr/>
        </p:nvSpPr>
        <p:spPr>
          <a:xfrm>
            <a:off x="457200" y="35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5" name="Text"/>
          <p:cNvSpPr/>
          <p:nvPr/>
        </p:nvSpPr>
        <p:spPr>
          <a:xfrm>
            <a:off x="6572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Safe borrowing amount</a:t>
            </a:r>
          </a:p>
        </p:txBody>
      </p:sp>
      <p:sp>
        <p:nvSpPr>
          <p:cNvPr id="136" name="Text"/>
          <p:cNvSpPr/>
          <p:nvPr/>
        </p:nvSpPr>
        <p:spPr>
          <a:xfrm>
            <a:off x="457200" y="37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7" name="Text"/>
          <p:cNvSpPr/>
          <p:nvPr/>
        </p:nvSpPr>
        <p:spPr>
          <a:xfrm>
            <a:off x="6572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Recommended banks &amp; rates</a:t>
            </a:r>
          </a:p>
        </p:txBody>
      </p:sp>
      <p:sp>
        <p:nvSpPr>
          <p:cNvPr id="138" name="Text"/>
          <p:cNvSpPr/>
          <p:nvPr/>
        </p:nvSpPr>
        <p:spPr>
          <a:xfrm>
            <a:off x="457200" y="4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9" name="Text"/>
          <p:cNvSpPr/>
          <p:nvPr/>
        </p:nvSpPr>
        <p:spPr>
          <a:xfrm>
            <a:off x="6572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Debt-to-income ratio (DTI)</a:t>
            </a:r>
          </a:p>
        </p:txBody>
      </p:sp>
      <p:sp>
        <p:nvSpPr>
          <p:cNvPr id="140" name="Text"/>
          <p:cNvSpPr/>
          <p:nvPr/>
        </p:nvSpPr>
        <p:spPr>
          <a:xfrm>
            <a:off x="457200" y="4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41" name="Text"/>
          <p:cNvSpPr/>
          <p:nvPr/>
        </p:nvSpPr>
        <p:spPr>
          <a:xfrm>
            <a:off x="6572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Improvement action plan</a:t>
            </a:r>
          </a:p>
        </p:txBody>
      </p:sp>
      <p:sp>
        <p:nvSpPr>
          <p:cNvPr id="142" name="Text"/>
          <p:cNvSpPr/>
          <p:nvPr/>
        </p:nvSpPr>
        <p:spPr>
          <a:xfrm>
            <a:off x="4686300" y="3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3" name="Text"/>
          <p:cNvSpPr/>
          <p:nvPr/>
        </p:nvSpPr>
        <p:spPr>
          <a:xfrm>
            <a:off x="48863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NPA risk &amp; CRAR indicators</a:t>
            </a:r>
          </a:p>
        </p:txBody>
      </p:sp>
      <p:sp>
        <p:nvSpPr>
          <p:cNvPr id="144" name="Text"/>
          <p:cNvSpPr/>
          <p:nvPr/>
        </p:nvSpPr>
        <p:spPr>
          <a:xfrm>
            <a:off x="4686300" y="3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5" name="Text"/>
          <p:cNvSpPr/>
          <p:nvPr/>
        </p:nvSpPr>
        <p:spPr>
          <a:xfrm>
            <a:off x="48863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Fraud detection flags</a:t>
            </a:r>
          </a:p>
        </p:txBody>
      </p:sp>
      <p:sp>
        <p:nvSpPr>
          <p:cNvPr id="146" name="Text"/>
          <p:cNvSpPr/>
          <p:nvPr/>
        </p:nvSpPr>
        <p:spPr>
          <a:xfrm>
            <a:off x="4686300" y="35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7" name="Text"/>
          <p:cNvSpPr/>
          <p:nvPr/>
        </p:nvSpPr>
        <p:spPr>
          <a:xfrm>
            <a:off x="48863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Applicant financial summary</a:t>
            </a:r>
          </a:p>
        </p:txBody>
      </p:sp>
      <p:sp>
        <p:nvSpPr>
          <p:cNvPr id="148" name="Text"/>
          <p:cNvSpPr/>
          <p:nvPr/>
        </p:nvSpPr>
        <p:spPr>
          <a:xfrm>
            <a:off x="4686300" y="37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9" name="Text"/>
          <p:cNvSpPr/>
          <p:nvPr/>
        </p:nvSpPr>
        <p:spPr>
          <a:xfrm>
            <a:off x="48863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approve / reject decision</a:t>
            </a:r>
          </a:p>
        </p:txBody>
      </p:sp>
      <p:sp>
        <p:nvSpPr>
          <p:cNvPr id="150" name="Text"/>
          <p:cNvSpPr/>
          <p:nvPr/>
        </p:nvSpPr>
        <p:spPr>
          <a:xfrm>
            <a:off x="4686300" y="4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1" name="Text"/>
          <p:cNvSpPr/>
          <p:nvPr/>
        </p:nvSpPr>
        <p:spPr>
          <a:xfrm>
            <a:off x="48863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Capital adequacy assessment</a:t>
            </a:r>
          </a:p>
        </p:txBody>
      </p:sp>
      <p:sp>
        <p:nvSpPr>
          <p:cNvPr id="152" name="Text"/>
          <p:cNvSpPr/>
          <p:nvPr/>
        </p:nvSpPr>
        <p:spPr>
          <a:xfrm>
            <a:off x="4686300" y="4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3" name="Text"/>
          <p:cNvSpPr/>
          <p:nvPr/>
        </p:nvSpPr>
        <p:spPr>
          <a:xfrm>
            <a:off x="48863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Structured executive report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80060" y="377190"/>
            <a:ext cx="4114800" cy="240030"/>
          </a:xfrm>
          <a:prstGeom prst="rect">
            <a:avLst/>
          </a:prstGeom>
          <a:noFill/>
          <a:ln/>
        </p:spPr>
        <p:txBody>
          <a:bodyPr wrap="square" lIns="0" tIns="0" rIns="0" bIns="0" rtlCol="0" anchor="ctr"/>
          <a:lstStyle/>
          <a:p>
            <a:r>
              <a:rPr lang="en-US" sz="938" b="1" kern="0" spc="150" dirty="0">
                <a:solidFill>
                  <a:srgbClr val="EF6156"/>
                </a:solidFill>
                <a:latin typeface="Calibri" pitchFamily="34" charset="0"/>
                <a:ea typeface="Calibri" pitchFamily="34" charset="-122"/>
                <a:cs typeface="Calibri" pitchFamily="34" charset="-120"/>
              </a:rPr>
              <a:t>CORE FEATURE</a:t>
            </a:r>
            <a:endParaRPr lang="en-US" sz="938" dirty="0"/>
          </a:p>
        </p:txBody>
      </p:sp>
      <p:sp>
        <p:nvSpPr>
          <p:cNvPr id="3" name="Text 1"/>
          <p:cNvSpPr/>
          <p:nvPr/>
        </p:nvSpPr>
        <p:spPr>
          <a:xfrm>
            <a:off x="480060" y="617220"/>
            <a:ext cx="7886700" cy="480060"/>
          </a:xfrm>
          <a:prstGeom prst="rect">
            <a:avLst/>
          </a:prstGeom>
          <a:noFill/>
          <a:ln/>
        </p:spPr>
        <p:txBody>
          <a:bodyPr wrap="square" lIns="0" tIns="0" rIns="0" bIns="0" rtlCol="0" anchor="ctr"/>
          <a:lstStyle/>
          <a:p>
            <a:r>
              <a:rPr lang="en-US" sz="2025" b="1" dirty="0">
                <a:solidFill>
                  <a:schemeClr val="bg1"/>
                </a:solidFill>
                <a:latin typeface="Cambria" pitchFamily="34" charset="0"/>
                <a:ea typeface="Cambria" pitchFamily="34" charset="-122"/>
                <a:cs typeface="Cambria" pitchFamily="34" charset="-120"/>
              </a:rPr>
              <a:t>Understanding the documents, then scoring the risk</a:t>
            </a:r>
            <a:endParaRPr lang="en-US" sz="2025" dirty="0">
              <a:solidFill>
                <a:schemeClr val="bg1"/>
              </a:solidFill>
            </a:endParaRPr>
          </a:p>
        </p:txBody>
      </p:sp>
      <p:sp>
        <p:nvSpPr>
          <p:cNvPr id="4" name="Shape 2"/>
          <p:cNvSpPr/>
          <p:nvPr/>
        </p:nvSpPr>
        <p:spPr>
          <a:xfrm>
            <a:off x="480060" y="1200150"/>
            <a:ext cx="3954666" cy="3360420"/>
          </a:xfrm>
          <a:prstGeom prst="roundRect">
            <a:avLst>
              <a:gd name="adj" fmla="val 1837"/>
            </a:avLst>
          </a:prstGeom>
          <a:solidFill>
            <a:srgbClr val="F5F6FA"/>
          </a:solidFill>
          <a:ln/>
        </p:spPr>
      </p:sp>
      <p:sp>
        <p:nvSpPr>
          <p:cNvPr id="5" name="Shape 3"/>
          <p:cNvSpPr/>
          <p:nvPr/>
        </p:nvSpPr>
        <p:spPr>
          <a:xfrm>
            <a:off x="685800" y="1405890"/>
            <a:ext cx="411480" cy="411480"/>
          </a:xfrm>
          <a:prstGeom prst="ellipse">
            <a:avLst/>
          </a:prstGeom>
          <a:solidFill>
            <a:srgbClr val="FFFFFF"/>
          </a:solidFill>
          <a:ln/>
        </p:spPr>
      </p:sp>
      <p:pic>
        <p:nvPicPr>
          <p:cNvPr id="6" name="Image 0" descr="preencoded.png"/>
          <p:cNvPicPr>
            <a:picLocks noChangeAspect="1"/>
          </p:cNvPicPr>
          <p:nvPr/>
        </p:nvPicPr>
        <p:blipFill>
          <a:blip r:embed="rId3"/>
          <a:stretch>
            <a:fillRect/>
          </a:stretch>
        </p:blipFill>
        <p:spPr>
          <a:xfrm>
            <a:off x="788670" y="1508760"/>
            <a:ext cx="205740" cy="205740"/>
          </a:xfrm>
          <a:prstGeom prst="rect">
            <a:avLst/>
          </a:prstGeom>
        </p:spPr>
      </p:pic>
      <p:sp>
        <p:nvSpPr>
          <p:cNvPr id="7" name="Text 4"/>
          <p:cNvSpPr/>
          <p:nvPr/>
        </p:nvSpPr>
        <p:spPr>
          <a:xfrm>
            <a:off x="1200150"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Document Summary</a:t>
            </a:r>
            <a:endParaRPr lang="en-US" sz="1275" dirty="0"/>
          </a:p>
        </p:txBody>
      </p:sp>
      <p:sp>
        <p:nvSpPr>
          <p:cNvPr id="8" name="Text 5"/>
          <p:cNvSpPr/>
          <p:nvPr/>
        </p:nvSpPr>
        <p:spPr>
          <a:xfrm>
            <a:off x="685800"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The AI reads every uploaded PDF and pulls out the numbers that actually matter — income, expenses, existing loans, balances — and lays them out in plain language instead of raw pages.</a:t>
            </a:r>
            <a:endParaRPr lang="en-US" sz="900" dirty="0"/>
          </a:p>
        </p:txBody>
      </p:sp>
      <p:sp>
        <p:nvSpPr>
          <p:cNvPr id="9" name="Shape 6"/>
          <p:cNvSpPr/>
          <p:nvPr/>
        </p:nvSpPr>
        <p:spPr>
          <a:xfrm>
            <a:off x="685800" y="2811780"/>
            <a:ext cx="3543186" cy="1611630"/>
          </a:xfrm>
          <a:prstGeom prst="roundRect">
            <a:avLst>
              <a:gd name="adj" fmla="val 3404"/>
            </a:avLst>
          </a:prstGeom>
          <a:solidFill>
            <a:srgbClr val="FBFBFD"/>
          </a:solidFill>
          <a:ln w="19050">
            <a:solidFill>
              <a:srgbClr val="C7CCE0"/>
            </a:solidFill>
            <a:prstDash val="dash"/>
          </a:ln>
        </p:spPr>
      </p:sp>
      <p:pic>
        <p:nvPicPr>
          <p:cNvPr id="10" name="Image 1" descr="preencoded.png"/>
          <p:cNvPicPr>
            <a:picLocks noChangeAspect="1"/>
          </p:cNvPicPr>
          <p:nvPr/>
        </p:nvPicPr>
        <p:blipFill>
          <a:blip r:embed="rId4"/>
          <a:stretch>
            <a:fillRect/>
          </a:stretch>
        </p:blipFill>
        <p:spPr>
          <a:xfrm>
            <a:off x="2268798" y="3116961"/>
            <a:ext cx="377190" cy="377190"/>
          </a:xfrm>
          <a:prstGeom prst="rect">
            <a:avLst/>
          </a:prstGeom>
        </p:spPr>
      </p:pic>
      <p:sp>
        <p:nvSpPr>
          <p:cNvPr id="11" name="Text 7"/>
          <p:cNvSpPr/>
          <p:nvPr/>
        </p:nvSpPr>
        <p:spPr>
          <a:xfrm>
            <a:off x="822960"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Document Summary Screen</a:t>
            </a:r>
            <a:endParaRPr lang="en-US" sz="863" dirty="0"/>
          </a:p>
        </p:txBody>
      </p:sp>
      <p:sp>
        <p:nvSpPr>
          <p:cNvPr id="12" name="Text 8"/>
          <p:cNvSpPr/>
          <p:nvPr/>
        </p:nvSpPr>
        <p:spPr>
          <a:xfrm>
            <a:off x="822960"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13" name="Shape 9"/>
          <p:cNvSpPr/>
          <p:nvPr/>
        </p:nvSpPr>
        <p:spPr>
          <a:xfrm>
            <a:off x="4709046" y="1200150"/>
            <a:ext cx="3954666" cy="3360420"/>
          </a:xfrm>
          <a:prstGeom prst="roundRect">
            <a:avLst>
              <a:gd name="adj" fmla="val 1837"/>
            </a:avLst>
          </a:prstGeom>
          <a:solidFill>
            <a:srgbClr val="F5F6FA"/>
          </a:solidFill>
          <a:ln/>
        </p:spPr>
      </p:sp>
      <p:sp>
        <p:nvSpPr>
          <p:cNvPr id="14" name="Shape 10"/>
          <p:cNvSpPr/>
          <p:nvPr/>
        </p:nvSpPr>
        <p:spPr>
          <a:xfrm>
            <a:off x="4914786" y="1405890"/>
            <a:ext cx="411480" cy="411480"/>
          </a:xfrm>
          <a:prstGeom prst="ellipse">
            <a:avLst/>
          </a:prstGeom>
          <a:solidFill>
            <a:srgbClr val="FFFFFF"/>
          </a:solidFill>
          <a:ln/>
        </p:spPr>
      </p:sp>
      <p:pic>
        <p:nvPicPr>
          <p:cNvPr id="15" name="Image 2" descr="preencoded.png"/>
          <p:cNvPicPr>
            <a:picLocks noChangeAspect="1"/>
          </p:cNvPicPr>
          <p:nvPr/>
        </p:nvPicPr>
        <p:blipFill>
          <a:blip r:embed="rId5"/>
          <a:stretch>
            <a:fillRect/>
          </a:stretch>
        </p:blipFill>
        <p:spPr>
          <a:xfrm>
            <a:off x="5017656" y="1508760"/>
            <a:ext cx="205740" cy="205740"/>
          </a:xfrm>
          <a:prstGeom prst="rect">
            <a:avLst/>
          </a:prstGeom>
        </p:spPr>
      </p:pic>
      <p:sp>
        <p:nvSpPr>
          <p:cNvPr id="16" name="Text 11"/>
          <p:cNvSpPr/>
          <p:nvPr/>
        </p:nvSpPr>
        <p:spPr>
          <a:xfrm>
            <a:off x="5429136"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Risk Analysis</a:t>
            </a:r>
            <a:endParaRPr lang="en-US" sz="1275" dirty="0"/>
          </a:p>
        </p:txBody>
      </p:sp>
      <p:sp>
        <p:nvSpPr>
          <p:cNvPr id="17" name="Text 12"/>
          <p:cNvSpPr/>
          <p:nvPr/>
        </p:nvSpPr>
        <p:spPr>
          <a:xfrm>
            <a:off x="4914786"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From that summary, the app calculates a credit risk score out of 100, and explains it — what's working in the applicant's favor, what the red flags are, and how much of their income already goes toward debt.</a:t>
            </a:r>
            <a:endParaRPr lang="en-US" sz="900" dirty="0"/>
          </a:p>
        </p:txBody>
      </p:sp>
      <p:sp>
        <p:nvSpPr>
          <p:cNvPr id="18" name="Shape 13"/>
          <p:cNvSpPr/>
          <p:nvPr/>
        </p:nvSpPr>
        <p:spPr>
          <a:xfrm>
            <a:off x="4914786" y="2811780"/>
            <a:ext cx="3543186" cy="1611630"/>
          </a:xfrm>
          <a:prstGeom prst="roundRect">
            <a:avLst>
              <a:gd name="adj" fmla="val 3404"/>
            </a:avLst>
          </a:prstGeom>
          <a:solidFill>
            <a:srgbClr val="FBFBFD"/>
          </a:solidFill>
          <a:ln w="19050">
            <a:solidFill>
              <a:srgbClr val="C7CCE0"/>
            </a:solidFill>
            <a:prstDash val="dash"/>
          </a:ln>
        </p:spPr>
      </p:sp>
      <p:pic>
        <p:nvPicPr>
          <p:cNvPr id="19" name="Image 3" descr="preencoded.png"/>
          <p:cNvPicPr>
            <a:picLocks noChangeAspect="1"/>
          </p:cNvPicPr>
          <p:nvPr/>
        </p:nvPicPr>
        <p:blipFill>
          <a:blip r:embed="rId4"/>
          <a:stretch>
            <a:fillRect/>
          </a:stretch>
        </p:blipFill>
        <p:spPr>
          <a:xfrm>
            <a:off x="6497783" y="3116961"/>
            <a:ext cx="377190" cy="377190"/>
          </a:xfrm>
          <a:prstGeom prst="rect">
            <a:avLst/>
          </a:prstGeom>
        </p:spPr>
      </p:pic>
      <p:sp>
        <p:nvSpPr>
          <p:cNvPr id="20" name="Text 14"/>
          <p:cNvSpPr/>
          <p:nvPr/>
        </p:nvSpPr>
        <p:spPr>
          <a:xfrm>
            <a:off x="5051946"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Risk Analysis Screen</a:t>
            </a:r>
            <a:endParaRPr lang="en-US" sz="863" dirty="0"/>
          </a:p>
        </p:txBody>
      </p:sp>
      <p:sp>
        <p:nvSpPr>
          <p:cNvPr id="21" name="Text 15"/>
          <p:cNvSpPr/>
          <p:nvPr/>
        </p:nvSpPr>
        <p:spPr>
          <a:xfrm>
            <a:off x="5051946"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22" name="Text 16"/>
          <p:cNvSpPr/>
          <p:nvPr/>
        </p:nvSpPr>
        <p:spPr>
          <a:xfrm>
            <a:off x="480060" y="4800600"/>
            <a:ext cx="3429000" cy="205740"/>
          </a:xfrm>
          <a:prstGeom prst="rect">
            <a:avLst/>
          </a:prstGeom>
          <a:noFill/>
          <a:ln/>
        </p:spPr>
        <p:txBody>
          <a:bodyPr wrap="square" lIns="0" tIns="0" rIns="0" bIns="0" rtlCol="0" anchor="ctr"/>
          <a:lstStyle/>
          <a:p>
            <a:r>
              <a:rPr lang="en-US" sz="750" dirty="0">
                <a:solidFill>
                  <a:srgbClr val="667085"/>
                </a:solidFill>
                <a:latin typeface="Calibri" pitchFamily="34" charset="0"/>
                <a:ea typeface="Calibri" pitchFamily="34" charset="-122"/>
                <a:cs typeface="Calibri" pitchFamily="34" charset="-120"/>
              </a:rPr>
              <a:t>Credit Risk Intelligence Platform</a:t>
            </a:r>
            <a:endParaRPr lang="en-US" sz="750" dirty="0"/>
          </a:p>
        </p:txBody>
      </p:sp>
      <p:sp>
        <p:nvSpPr>
          <p:cNvPr id="23" name="Text 17"/>
          <p:cNvSpPr/>
          <p:nvPr/>
        </p:nvSpPr>
        <p:spPr>
          <a:xfrm>
            <a:off x="8526551" y="4800600"/>
            <a:ext cx="411480" cy="205740"/>
          </a:xfrm>
          <a:prstGeom prst="rect">
            <a:avLst/>
          </a:prstGeom>
          <a:noFill/>
          <a:ln/>
        </p:spPr>
        <p:txBody>
          <a:bodyPr wrap="square" lIns="0" tIns="0" rIns="0" bIns="0" rtlCol="0" anchor="ctr"/>
          <a:lstStyle/>
          <a:p>
            <a:pPr algn="r"/>
            <a:r>
              <a:rPr lang="en-US" sz="750" dirty="0">
                <a:solidFill>
                  <a:srgbClr val="667085"/>
                </a:solidFill>
                <a:latin typeface="Calibri" pitchFamily="34" charset="0"/>
                <a:ea typeface="Calibri" pitchFamily="34" charset="-122"/>
                <a:cs typeface="Calibri" pitchFamily="34" charset="-120"/>
              </a:rPr>
              <a:t>07</a:t>
            </a:r>
            <a:endParaRPr lang="en-US" sz="750" dirty="0"/>
          </a:p>
        </p:txBody>
      </p:sp>
      <p:pic>
        <p:nvPicPr>
          <p:cNvPr id="25" name="Picture 24">
            <a:extLst>
              <a:ext uri="{FF2B5EF4-FFF2-40B4-BE49-F238E27FC236}">
                <a16:creationId xmlns:a16="http://schemas.microsoft.com/office/drawing/2014/main" id="{59C93F49-5CBB-6A40-7F34-5B986D725910}"/>
              </a:ext>
            </a:extLst>
          </p:cNvPr>
          <p:cNvPicPr>
            <a:picLocks noChangeAspect="1"/>
          </p:cNvPicPr>
          <p:nvPr/>
        </p:nvPicPr>
        <p:blipFill>
          <a:blip r:embed="rId6"/>
          <a:stretch>
            <a:fillRect/>
          </a:stretch>
        </p:blipFill>
        <p:spPr>
          <a:xfrm>
            <a:off x="696074" y="2811781"/>
            <a:ext cx="3567201" cy="1611629"/>
          </a:xfrm>
          <a:prstGeom prst="rect">
            <a:avLst/>
          </a:prstGeom>
        </p:spPr>
      </p:pic>
      <p:pic>
        <p:nvPicPr>
          <p:cNvPr id="27" name="Picture 26">
            <a:extLst>
              <a:ext uri="{FF2B5EF4-FFF2-40B4-BE49-F238E27FC236}">
                <a16:creationId xmlns:a16="http://schemas.microsoft.com/office/drawing/2014/main" id="{30E07E07-A533-5DD9-13AD-7FA66E087458}"/>
              </a:ext>
            </a:extLst>
          </p:cNvPr>
          <p:cNvPicPr>
            <a:picLocks noChangeAspect="1"/>
          </p:cNvPicPr>
          <p:nvPr/>
        </p:nvPicPr>
        <p:blipFill>
          <a:blip r:embed="rId7"/>
          <a:stretch>
            <a:fillRect/>
          </a:stretch>
        </p:blipFill>
        <p:spPr>
          <a:xfrm>
            <a:off x="4953476" y="2811780"/>
            <a:ext cx="3504495" cy="16116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Core Feature Showcase">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650000" cy="256032"/>
          </a:xfrm>
          <a:prstGeom prst="roundRect">
            <a:avLst>
              <a:gd name="adj" fmla="val 50000"/>
            </a:avLst>
          </a:prstGeom>
          <a:solidFill>
            <a:srgbClr val="0891B2">
              <a:alpha val="25000"/>
            </a:srgbClr>
          </a:solidFill>
          <a:ln/>
        </p:spPr>
      </p:sp>
      <p:sp>
        <p:nvSpPr>
          <p:cNvPr id="102" name="BadgeText"/>
          <p:cNvSpPr/>
          <p:nvPr/>
        </p:nvSpPr>
        <p:spPr>
          <a:xfrm>
            <a:off x="457200" y="274320"/>
            <a:ext cx="165000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CORE 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Recommendations · Retirement · Chat</a:t>
            </a:r>
          </a:p>
        </p:txBody>
      </p:sp>
      <p:sp>
        <p:nvSpPr>
          <p:cNvPr id="104" name="Text"/>
          <p:cNvSpPr/>
          <p:nvPr/>
        </p:nvSpPr>
        <p:spPr>
          <a:xfrm>
            <a:off x="4572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Recommendations</a:t>
            </a:r>
          </a:p>
        </p:txBody>
      </p:sp>
      <p:sp>
        <p:nvSpPr>
          <p:cNvPr id="105" name="Text"/>
          <p:cNvSpPr/>
          <p:nvPr/>
        </p:nvSpPr>
        <p:spPr>
          <a:xfrm>
            <a:off x="4572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Personalised action plan from your risk profile.</a:t>
            </a:r>
          </a:p>
        </p:txBody>
      </p:sp>
      <p:pic>
        <p:nvPicPr>
          <p:cNvPr id="106" name="Shot_rIdImg1"/>
          <p:cNvPicPr>
            <a:picLocks noChangeAspect="1"/>
          </p:cNvPicPr>
          <p:nvPr/>
        </p:nvPicPr>
        <p:blipFill>
          <a:blip r:embed="rId2"/>
          <a:stretch>
            <a:fillRect/>
          </a:stretch>
        </p:blipFill>
        <p:spPr>
          <a:xfrm>
            <a:off x="1003388" y="1750000"/>
            <a:ext cx="1550823" cy="1150000"/>
          </a:xfrm>
          <a:prstGeom prst="roundRect">
            <a:avLst>
              <a:gd name="adj" fmla="val 3000"/>
            </a:avLst>
          </a:prstGeom>
          <a:ln w="12700">
            <a:solidFill>
              <a:srgbClr val="2A3B52"/>
            </a:solidFill>
          </a:ln>
        </p:spPr>
      </p:pic>
      <p:sp>
        <p:nvSpPr>
          <p:cNvPr id="107" name="Text"/>
          <p:cNvSpPr/>
          <p:nvPr/>
        </p:nvSpPr>
        <p:spPr>
          <a:xfrm>
            <a:off x="4572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08" name="Text"/>
          <p:cNvSpPr/>
          <p:nvPr/>
        </p:nvSpPr>
        <p:spPr>
          <a:xfrm>
            <a:off x="6472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Approve / Review / Reject with reasons</a:t>
            </a:r>
          </a:p>
        </p:txBody>
      </p:sp>
      <p:sp>
        <p:nvSpPr>
          <p:cNvPr id="109" name="Text"/>
          <p:cNvSpPr/>
          <p:nvPr/>
        </p:nvSpPr>
        <p:spPr>
          <a:xfrm>
            <a:off x="4572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0" name="Text"/>
          <p:cNvSpPr/>
          <p:nvPr/>
        </p:nvSpPr>
        <p:spPr>
          <a:xfrm>
            <a:off x="6472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Alternative financing suggestions</a:t>
            </a:r>
          </a:p>
        </p:txBody>
      </p:sp>
      <p:sp>
        <p:nvSpPr>
          <p:cNvPr id="111" name="Text"/>
          <p:cNvSpPr/>
          <p:nvPr/>
        </p:nvSpPr>
        <p:spPr>
          <a:xfrm>
            <a:off x="4572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2" name="Text"/>
          <p:cNvSpPr/>
          <p:nvPr/>
        </p:nvSpPr>
        <p:spPr>
          <a:xfrm>
            <a:off x="6472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Steps to improve approval odds</a:t>
            </a:r>
          </a:p>
        </p:txBody>
      </p:sp>
      <p:sp>
        <p:nvSpPr>
          <p:cNvPr id="113" name="Text"/>
          <p:cNvSpPr/>
          <p:nvPr/>
        </p:nvSpPr>
        <p:spPr>
          <a:xfrm>
            <a:off x="32504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Retirement Planner</a:t>
            </a:r>
          </a:p>
        </p:txBody>
      </p:sp>
      <p:sp>
        <p:nvSpPr>
          <p:cNvPr id="114" name="Text"/>
          <p:cNvSpPr/>
          <p:nvPr/>
        </p:nvSpPr>
        <p:spPr>
          <a:xfrm>
            <a:off x="32504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City-aware corpus calculator, 40 Indian cities.</a:t>
            </a:r>
          </a:p>
        </p:txBody>
      </p:sp>
      <p:pic>
        <p:nvPicPr>
          <p:cNvPr id="115" name="Shot_rIdImg2"/>
          <p:cNvPicPr>
            <a:picLocks noChangeAspect="1"/>
          </p:cNvPicPr>
          <p:nvPr/>
        </p:nvPicPr>
        <p:blipFill>
          <a:blip r:embed="rId3"/>
          <a:stretch>
            <a:fillRect/>
          </a:stretch>
        </p:blipFill>
        <p:spPr>
          <a:xfrm>
            <a:off x="3566114" y="1750000"/>
            <a:ext cx="2011772" cy="1150000"/>
          </a:xfrm>
          <a:prstGeom prst="roundRect">
            <a:avLst>
              <a:gd name="adj" fmla="val 3000"/>
            </a:avLst>
          </a:prstGeom>
          <a:ln w="12700">
            <a:solidFill>
              <a:srgbClr val="2A3B52"/>
            </a:solidFill>
          </a:ln>
        </p:spPr>
      </p:pic>
      <p:sp>
        <p:nvSpPr>
          <p:cNvPr id="116" name="Text"/>
          <p:cNvSpPr/>
          <p:nvPr/>
        </p:nvSpPr>
        <p:spPr>
          <a:xfrm>
            <a:off x="32504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7" name="Text"/>
          <p:cNvSpPr/>
          <p:nvPr/>
        </p:nvSpPr>
        <p:spPr>
          <a:xfrm>
            <a:off x="34404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Retirement corpus required</a:t>
            </a:r>
          </a:p>
        </p:txBody>
      </p:sp>
      <p:sp>
        <p:nvSpPr>
          <p:cNvPr id="118" name="Text"/>
          <p:cNvSpPr/>
          <p:nvPr/>
        </p:nvSpPr>
        <p:spPr>
          <a:xfrm>
            <a:off x="32504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9" name="Text"/>
          <p:cNvSpPr/>
          <p:nvPr/>
        </p:nvSpPr>
        <p:spPr>
          <a:xfrm>
            <a:off x="34404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Monthly SIP needed to close the gap</a:t>
            </a:r>
          </a:p>
        </p:txBody>
      </p:sp>
      <p:sp>
        <p:nvSpPr>
          <p:cNvPr id="120" name="Text"/>
          <p:cNvSpPr/>
          <p:nvPr/>
        </p:nvSpPr>
        <p:spPr>
          <a:xfrm>
            <a:off x="32504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1" name="Text"/>
          <p:cNvSpPr/>
          <p:nvPr/>
        </p:nvSpPr>
        <p:spPr>
          <a:xfrm>
            <a:off x="34404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Feasibility check vs income</a:t>
            </a:r>
          </a:p>
        </p:txBody>
      </p:sp>
      <p:sp>
        <p:nvSpPr>
          <p:cNvPr id="122" name="Text"/>
          <p:cNvSpPr/>
          <p:nvPr/>
        </p:nvSpPr>
        <p:spPr>
          <a:xfrm>
            <a:off x="60436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Chat</a:t>
            </a:r>
          </a:p>
        </p:txBody>
      </p:sp>
      <p:sp>
        <p:nvSpPr>
          <p:cNvPr id="123" name="Text"/>
          <p:cNvSpPr/>
          <p:nvPr/>
        </p:nvSpPr>
        <p:spPr>
          <a:xfrm>
            <a:off x="60436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Ask questions about your own documents.</a:t>
            </a:r>
          </a:p>
        </p:txBody>
      </p:sp>
      <p:pic>
        <p:nvPicPr>
          <p:cNvPr id="124" name="Shot_rIdImg3"/>
          <p:cNvPicPr>
            <a:picLocks noChangeAspect="1"/>
          </p:cNvPicPr>
          <p:nvPr/>
        </p:nvPicPr>
        <p:blipFill>
          <a:blip r:embed="rId4"/>
          <a:stretch>
            <a:fillRect/>
          </a:stretch>
        </p:blipFill>
        <p:spPr>
          <a:xfrm>
            <a:off x="6164625" y="1750000"/>
            <a:ext cx="2401150" cy="1150000"/>
          </a:xfrm>
          <a:prstGeom prst="roundRect">
            <a:avLst>
              <a:gd name="adj" fmla="val 3000"/>
            </a:avLst>
          </a:prstGeom>
          <a:ln w="12700">
            <a:solidFill>
              <a:srgbClr val="2A3B52"/>
            </a:solidFill>
          </a:ln>
        </p:spPr>
      </p:pic>
      <p:sp>
        <p:nvSpPr>
          <p:cNvPr id="125" name="Text"/>
          <p:cNvSpPr/>
          <p:nvPr/>
        </p:nvSpPr>
        <p:spPr>
          <a:xfrm>
            <a:off x="60436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6" name="Text"/>
          <p:cNvSpPr/>
          <p:nvPr/>
        </p:nvSpPr>
        <p:spPr>
          <a:xfrm>
            <a:off x="62336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Answers grounded only in your documents</a:t>
            </a:r>
          </a:p>
        </p:txBody>
      </p:sp>
      <p:sp>
        <p:nvSpPr>
          <p:cNvPr id="127" name="Text"/>
          <p:cNvSpPr/>
          <p:nvPr/>
        </p:nvSpPr>
        <p:spPr>
          <a:xfrm>
            <a:off x="60436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8" name="Text"/>
          <p:cNvSpPr/>
          <p:nvPr/>
        </p:nvSpPr>
        <p:spPr>
          <a:xfrm>
            <a:off x="62336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Hybrid BM25 + vector retrieval</a:t>
            </a:r>
          </a:p>
        </p:txBody>
      </p:sp>
      <p:sp>
        <p:nvSpPr>
          <p:cNvPr id="129" name="Text"/>
          <p:cNvSpPr/>
          <p:nvPr/>
        </p:nvSpPr>
        <p:spPr>
          <a:xfrm>
            <a:off x="60436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30" name="Text"/>
          <p:cNvSpPr/>
          <p:nvPr/>
        </p:nvSpPr>
        <p:spPr>
          <a:xfrm>
            <a:off x="62336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Year-aware re-ranking prevents mixups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0891B2">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HOW IT WORKS</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The RAG Pipeline</a:t>
            </a:r>
            <a:endParaRPr lang="en-US" sz="2800" dirty="0"/>
          </a:p>
        </p:txBody>
      </p:sp>
      <p:sp>
        <p:nvSpPr>
          <p:cNvPr id="5" name="Shape 3"/>
          <p:cNvSpPr/>
          <p:nvPr/>
        </p:nvSpPr>
        <p:spPr>
          <a:xfrm>
            <a:off x="365760"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960120" y="1408176"/>
            <a:ext cx="384048" cy="384048"/>
          </a:xfrm>
          <a:prstGeom prst="ellipse">
            <a:avLst/>
          </a:prstGeom>
          <a:solidFill>
            <a:srgbClr val="2563EB"/>
          </a:solidFill>
          <a:ln/>
        </p:spPr>
      </p:sp>
      <p:sp>
        <p:nvSpPr>
          <p:cNvPr id="7" name="Text 5"/>
          <p:cNvSpPr/>
          <p:nvPr/>
        </p:nvSpPr>
        <p:spPr>
          <a:xfrm>
            <a:off x="960120"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8" name="Text 6"/>
          <p:cNvSpPr/>
          <p:nvPr/>
        </p:nvSpPr>
        <p:spPr>
          <a:xfrm>
            <a:off x="457200"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Upload PDF</a:t>
            </a:r>
            <a:endParaRPr lang="en-US" sz="1000" dirty="0"/>
          </a:p>
        </p:txBody>
      </p:sp>
      <p:sp>
        <p:nvSpPr>
          <p:cNvPr id="9" name="Text 7"/>
          <p:cNvSpPr/>
          <p:nvPr/>
        </p:nvSpPr>
        <p:spPr>
          <a:xfrm>
            <a:off x="457200"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User uploads financial documents</a:t>
            </a:r>
            <a:endParaRPr lang="en-US" sz="850" dirty="0"/>
          </a:p>
        </p:txBody>
      </p:sp>
      <p:sp>
        <p:nvSpPr>
          <p:cNvPr id="10" name="Shape 8"/>
          <p:cNvSpPr/>
          <p:nvPr/>
        </p:nvSpPr>
        <p:spPr>
          <a:xfrm>
            <a:off x="1965960" y="1920240"/>
            <a:ext cx="164592" cy="0"/>
          </a:xfrm>
          <a:prstGeom prst="line">
            <a:avLst/>
          </a:prstGeom>
          <a:noFill/>
          <a:ln w="19050">
            <a:solidFill>
              <a:srgbClr val="94A3B8"/>
            </a:solidFill>
            <a:prstDash val="solid"/>
          </a:ln>
        </p:spPr>
      </p:sp>
      <p:sp>
        <p:nvSpPr>
          <p:cNvPr id="11" name="Shape 9"/>
          <p:cNvSpPr/>
          <p:nvPr/>
        </p:nvSpPr>
        <p:spPr>
          <a:xfrm>
            <a:off x="2130552"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2" name="Shape 10"/>
          <p:cNvSpPr/>
          <p:nvPr/>
        </p:nvSpPr>
        <p:spPr>
          <a:xfrm>
            <a:off x="2724912" y="1408176"/>
            <a:ext cx="384048" cy="384048"/>
          </a:xfrm>
          <a:prstGeom prst="ellipse">
            <a:avLst/>
          </a:prstGeom>
          <a:solidFill>
            <a:srgbClr val="0891B2"/>
          </a:solidFill>
          <a:ln/>
        </p:spPr>
      </p:sp>
      <p:sp>
        <p:nvSpPr>
          <p:cNvPr id="13" name="Text 11"/>
          <p:cNvSpPr/>
          <p:nvPr/>
        </p:nvSpPr>
        <p:spPr>
          <a:xfrm>
            <a:off x="2724912"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4" name="Text 12"/>
          <p:cNvSpPr/>
          <p:nvPr/>
        </p:nvSpPr>
        <p:spPr>
          <a:xfrm>
            <a:off x="2221992"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Extract Text</a:t>
            </a:r>
            <a:endParaRPr lang="en-US" sz="1000" dirty="0"/>
          </a:p>
        </p:txBody>
      </p:sp>
      <p:sp>
        <p:nvSpPr>
          <p:cNvPr id="15" name="Text 13"/>
          <p:cNvSpPr/>
          <p:nvPr/>
        </p:nvSpPr>
        <p:spPr>
          <a:xfrm>
            <a:off x="2221992"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PyMuPDF extracts content by page</a:t>
            </a:r>
            <a:endParaRPr lang="en-US" sz="850" dirty="0"/>
          </a:p>
        </p:txBody>
      </p:sp>
      <p:sp>
        <p:nvSpPr>
          <p:cNvPr id="16" name="Shape 14"/>
          <p:cNvSpPr/>
          <p:nvPr/>
        </p:nvSpPr>
        <p:spPr>
          <a:xfrm>
            <a:off x="3730752" y="1920240"/>
            <a:ext cx="164592" cy="0"/>
          </a:xfrm>
          <a:prstGeom prst="line">
            <a:avLst/>
          </a:prstGeom>
          <a:noFill/>
          <a:ln w="19050">
            <a:solidFill>
              <a:srgbClr val="94A3B8"/>
            </a:solidFill>
            <a:prstDash val="solid"/>
          </a:ln>
        </p:spPr>
      </p:sp>
      <p:sp>
        <p:nvSpPr>
          <p:cNvPr id="17" name="Shape 15"/>
          <p:cNvSpPr/>
          <p:nvPr/>
        </p:nvSpPr>
        <p:spPr>
          <a:xfrm>
            <a:off x="3895344"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8" name="Shape 16"/>
          <p:cNvSpPr/>
          <p:nvPr/>
        </p:nvSpPr>
        <p:spPr>
          <a:xfrm>
            <a:off x="4489704" y="1408176"/>
            <a:ext cx="384048" cy="384048"/>
          </a:xfrm>
          <a:prstGeom prst="ellipse">
            <a:avLst/>
          </a:prstGeom>
          <a:solidFill>
            <a:srgbClr val="059669"/>
          </a:solidFill>
          <a:ln/>
        </p:spPr>
      </p:sp>
      <p:sp>
        <p:nvSpPr>
          <p:cNvPr id="19" name="Text 17"/>
          <p:cNvSpPr/>
          <p:nvPr/>
        </p:nvSpPr>
        <p:spPr>
          <a:xfrm>
            <a:off x="4489704"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20" name="Text 18"/>
          <p:cNvSpPr/>
          <p:nvPr/>
        </p:nvSpPr>
        <p:spPr>
          <a:xfrm>
            <a:off x="3986784"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Chunk + Embed</a:t>
            </a:r>
            <a:endParaRPr lang="en-US" sz="1000" dirty="0"/>
          </a:p>
        </p:txBody>
      </p:sp>
      <p:sp>
        <p:nvSpPr>
          <p:cNvPr id="21" name="Text 19"/>
          <p:cNvSpPr/>
          <p:nvPr/>
        </p:nvSpPr>
        <p:spPr>
          <a:xfrm>
            <a:off x="3986784"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Split into chunks, create vectors</a:t>
            </a:r>
            <a:endParaRPr lang="en-US" sz="850" dirty="0"/>
          </a:p>
        </p:txBody>
      </p:sp>
      <p:sp>
        <p:nvSpPr>
          <p:cNvPr id="22" name="Shape 20"/>
          <p:cNvSpPr/>
          <p:nvPr/>
        </p:nvSpPr>
        <p:spPr>
          <a:xfrm>
            <a:off x="5495544" y="1920240"/>
            <a:ext cx="164592" cy="0"/>
          </a:xfrm>
          <a:prstGeom prst="line">
            <a:avLst/>
          </a:prstGeom>
          <a:noFill/>
          <a:ln w="19050">
            <a:solidFill>
              <a:srgbClr val="94A3B8"/>
            </a:solidFill>
            <a:prstDash val="solid"/>
          </a:ln>
        </p:spPr>
      </p:sp>
      <p:sp>
        <p:nvSpPr>
          <p:cNvPr id="23" name="Shape 21"/>
          <p:cNvSpPr/>
          <p:nvPr/>
        </p:nvSpPr>
        <p:spPr>
          <a:xfrm>
            <a:off x="5660136"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24" name="Shape 22"/>
          <p:cNvSpPr/>
          <p:nvPr/>
        </p:nvSpPr>
        <p:spPr>
          <a:xfrm>
            <a:off x="6254496" y="1408176"/>
            <a:ext cx="384048" cy="384048"/>
          </a:xfrm>
          <a:prstGeom prst="ellipse">
            <a:avLst/>
          </a:prstGeom>
          <a:solidFill>
            <a:srgbClr val="D97706"/>
          </a:solidFill>
          <a:ln/>
        </p:spPr>
      </p:sp>
      <p:sp>
        <p:nvSpPr>
          <p:cNvPr id="25" name="Text 23"/>
          <p:cNvSpPr/>
          <p:nvPr/>
        </p:nvSpPr>
        <p:spPr>
          <a:xfrm>
            <a:off x="6254496"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26" name="Text 24"/>
          <p:cNvSpPr/>
          <p:nvPr/>
        </p:nvSpPr>
        <p:spPr>
          <a:xfrm>
            <a:off x="5751576"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Store Vectors</a:t>
            </a:r>
            <a:endParaRPr lang="en-US" sz="1000" dirty="0"/>
          </a:p>
        </p:txBody>
      </p:sp>
      <p:sp>
        <p:nvSpPr>
          <p:cNvPr id="27" name="Text 25"/>
          <p:cNvSpPr/>
          <p:nvPr/>
        </p:nvSpPr>
        <p:spPr>
          <a:xfrm>
            <a:off x="5751576"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Indexed in Pinecone cloud DB</a:t>
            </a:r>
            <a:endParaRPr lang="en-US" sz="850" dirty="0"/>
          </a:p>
        </p:txBody>
      </p:sp>
      <p:sp>
        <p:nvSpPr>
          <p:cNvPr id="28" name="Shape 26"/>
          <p:cNvSpPr/>
          <p:nvPr/>
        </p:nvSpPr>
        <p:spPr>
          <a:xfrm>
            <a:off x="7260336" y="1920240"/>
            <a:ext cx="164592" cy="0"/>
          </a:xfrm>
          <a:prstGeom prst="line">
            <a:avLst/>
          </a:prstGeom>
          <a:noFill/>
          <a:ln w="19050">
            <a:solidFill>
              <a:srgbClr val="94A3B8"/>
            </a:solidFill>
            <a:prstDash val="solid"/>
          </a:ln>
        </p:spPr>
      </p:sp>
      <p:sp>
        <p:nvSpPr>
          <p:cNvPr id="29" name="Shape 27"/>
          <p:cNvSpPr/>
          <p:nvPr/>
        </p:nvSpPr>
        <p:spPr>
          <a:xfrm>
            <a:off x="7424928"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0" name="Shape 28"/>
          <p:cNvSpPr/>
          <p:nvPr/>
        </p:nvSpPr>
        <p:spPr>
          <a:xfrm>
            <a:off x="8019288" y="1408176"/>
            <a:ext cx="384048" cy="384048"/>
          </a:xfrm>
          <a:prstGeom prst="ellipse">
            <a:avLst/>
          </a:prstGeom>
          <a:solidFill>
            <a:srgbClr val="2563EB"/>
          </a:solidFill>
          <a:ln/>
        </p:spPr>
      </p:sp>
      <p:sp>
        <p:nvSpPr>
          <p:cNvPr id="31" name="Text 29"/>
          <p:cNvSpPr/>
          <p:nvPr/>
        </p:nvSpPr>
        <p:spPr>
          <a:xfrm>
            <a:off x="8019288"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32" name="Text 30"/>
          <p:cNvSpPr/>
          <p:nvPr/>
        </p:nvSpPr>
        <p:spPr>
          <a:xfrm>
            <a:off x="7516368"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Retrieve</a:t>
            </a:r>
            <a:endParaRPr lang="en-US" sz="1000" dirty="0"/>
          </a:p>
        </p:txBody>
      </p:sp>
      <p:sp>
        <p:nvSpPr>
          <p:cNvPr id="33" name="Text 31"/>
          <p:cNvSpPr/>
          <p:nvPr/>
        </p:nvSpPr>
        <p:spPr>
          <a:xfrm>
            <a:off x="7516368"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BM25 + vector hybrid search</a:t>
            </a:r>
            <a:endParaRPr lang="en-US" sz="850" dirty="0"/>
          </a:p>
        </p:txBody>
      </p:sp>
      <p:sp>
        <p:nvSpPr>
          <p:cNvPr id="34" name="Shape 32"/>
          <p:cNvSpPr/>
          <p:nvPr/>
        </p:nvSpPr>
        <p:spPr>
          <a:xfrm>
            <a:off x="365760"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5" name="Shape 33"/>
          <p:cNvSpPr/>
          <p:nvPr/>
        </p:nvSpPr>
        <p:spPr>
          <a:xfrm>
            <a:off x="960120" y="2852928"/>
            <a:ext cx="384048" cy="384048"/>
          </a:xfrm>
          <a:prstGeom prst="ellipse">
            <a:avLst/>
          </a:prstGeom>
          <a:solidFill>
            <a:srgbClr val="0891B2"/>
          </a:solidFill>
          <a:ln/>
        </p:spPr>
      </p:sp>
      <p:sp>
        <p:nvSpPr>
          <p:cNvPr id="36" name="Text 34"/>
          <p:cNvSpPr/>
          <p:nvPr/>
        </p:nvSpPr>
        <p:spPr>
          <a:xfrm>
            <a:off x="960120"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37" name="Text 35"/>
          <p:cNvSpPr/>
          <p:nvPr/>
        </p:nvSpPr>
        <p:spPr>
          <a:xfrm>
            <a:off x="457200"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Re-rank</a:t>
            </a:r>
            <a:endParaRPr lang="en-US" sz="1000" dirty="0"/>
          </a:p>
        </p:txBody>
      </p:sp>
      <p:sp>
        <p:nvSpPr>
          <p:cNvPr id="38" name="Text 36"/>
          <p:cNvSpPr/>
          <p:nvPr/>
        </p:nvSpPr>
        <p:spPr>
          <a:xfrm>
            <a:off x="457200"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Year-aware re-ranking removes stale data</a:t>
            </a:r>
            <a:endParaRPr lang="en-US" sz="850" dirty="0"/>
          </a:p>
        </p:txBody>
      </p:sp>
      <p:sp>
        <p:nvSpPr>
          <p:cNvPr id="39" name="Shape 37"/>
          <p:cNvSpPr/>
          <p:nvPr/>
        </p:nvSpPr>
        <p:spPr>
          <a:xfrm>
            <a:off x="1965960" y="3364992"/>
            <a:ext cx="576072" cy="0"/>
          </a:xfrm>
          <a:prstGeom prst="line">
            <a:avLst/>
          </a:prstGeom>
          <a:noFill/>
          <a:ln w="19050">
            <a:solidFill>
              <a:srgbClr val="94A3B8"/>
            </a:solidFill>
            <a:prstDash val="solid"/>
          </a:ln>
        </p:spPr>
      </p:sp>
      <p:sp>
        <p:nvSpPr>
          <p:cNvPr id="40" name="Shape 38"/>
          <p:cNvSpPr/>
          <p:nvPr/>
        </p:nvSpPr>
        <p:spPr>
          <a:xfrm>
            <a:off x="2542032"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1" name="Shape 39"/>
          <p:cNvSpPr/>
          <p:nvPr/>
        </p:nvSpPr>
        <p:spPr>
          <a:xfrm>
            <a:off x="3136392" y="2852928"/>
            <a:ext cx="384048" cy="384048"/>
          </a:xfrm>
          <a:prstGeom prst="ellipse">
            <a:avLst/>
          </a:prstGeom>
          <a:solidFill>
            <a:srgbClr val="059669"/>
          </a:solidFill>
          <a:ln/>
        </p:spPr>
      </p:sp>
      <p:sp>
        <p:nvSpPr>
          <p:cNvPr id="42" name="Text 40"/>
          <p:cNvSpPr/>
          <p:nvPr/>
        </p:nvSpPr>
        <p:spPr>
          <a:xfrm>
            <a:off x="3136392"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7</a:t>
            </a:r>
            <a:endParaRPr lang="en-US" sz="1400" dirty="0"/>
          </a:p>
        </p:txBody>
      </p:sp>
      <p:sp>
        <p:nvSpPr>
          <p:cNvPr id="43" name="Text 41"/>
          <p:cNvSpPr/>
          <p:nvPr/>
        </p:nvSpPr>
        <p:spPr>
          <a:xfrm>
            <a:off x="2633472"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LLM Call</a:t>
            </a:r>
            <a:endParaRPr lang="en-US" sz="1000" dirty="0"/>
          </a:p>
        </p:txBody>
      </p:sp>
      <p:sp>
        <p:nvSpPr>
          <p:cNvPr id="44" name="Text 42"/>
          <p:cNvSpPr/>
          <p:nvPr/>
        </p:nvSpPr>
        <p:spPr>
          <a:xfrm>
            <a:off x="2633472"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OpenAI → Groq → Gemini fallback chain</a:t>
            </a:r>
            <a:endParaRPr lang="en-US" sz="850" dirty="0"/>
          </a:p>
        </p:txBody>
      </p:sp>
      <p:sp>
        <p:nvSpPr>
          <p:cNvPr id="45" name="Shape 43"/>
          <p:cNvSpPr/>
          <p:nvPr/>
        </p:nvSpPr>
        <p:spPr>
          <a:xfrm>
            <a:off x="4142232" y="3364992"/>
            <a:ext cx="576072" cy="0"/>
          </a:xfrm>
          <a:prstGeom prst="line">
            <a:avLst/>
          </a:prstGeom>
          <a:noFill/>
          <a:ln w="19050">
            <a:solidFill>
              <a:srgbClr val="94A3B8"/>
            </a:solidFill>
            <a:prstDash val="solid"/>
          </a:ln>
        </p:spPr>
      </p:sp>
      <p:sp>
        <p:nvSpPr>
          <p:cNvPr id="46" name="Shape 44"/>
          <p:cNvSpPr/>
          <p:nvPr/>
        </p:nvSpPr>
        <p:spPr>
          <a:xfrm>
            <a:off x="4718304"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7" name="Shape 45"/>
          <p:cNvSpPr/>
          <p:nvPr/>
        </p:nvSpPr>
        <p:spPr>
          <a:xfrm>
            <a:off x="5312664" y="2852928"/>
            <a:ext cx="384048" cy="384048"/>
          </a:xfrm>
          <a:prstGeom prst="ellipse">
            <a:avLst/>
          </a:prstGeom>
          <a:solidFill>
            <a:srgbClr val="D97706"/>
          </a:solidFill>
          <a:ln/>
        </p:spPr>
      </p:sp>
      <p:sp>
        <p:nvSpPr>
          <p:cNvPr id="48" name="Text 46"/>
          <p:cNvSpPr/>
          <p:nvPr/>
        </p:nvSpPr>
        <p:spPr>
          <a:xfrm>
            <a:off x="5312664"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8</a:t>
            </a:r>
            <a:endParaRPr lang="en-US" sz="1400" dirty="0"/>
          </a:p>
        </p:txBody>
      </p:sp>
      <p:sp>
        <p:nvSpPr>
          <p:cNvPr id="49" name="Text 47"/>
          <p:cNvSpPr/>
          <p:nvPr/>
        </p:nvSpPr>
        <p:spPr>
          <a:xfrm>
            <a:off x="4809744"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Validate</a:t>
            </a:r>
            <a:endParaRPr lang="en-US" sz="1000" dirty="0"/>
          </a:p>
        </p:txBody>
      </p:sp>
      <p:sp>
        <p:nvSpPr>
          <p:cNvPr id="50" name="Text 48"/>
          <p:cNvSpPr/>
          <p:nvPr/>
        </p:nvSpPr>
        <p:spPr>
          <a:xfrm>
            <a:off x="4809744"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DeepEval + RAGAS hallucination check</a:t>
            </a:r>
            <a:endParaRPr lang="en-US" sz="850" dirty="0"/>
          </a:p>
        </p:txBody>
      </p:sp>
      <p:sp>
        <p:nvSpPr>
          <p:cNvPr id="51" name="Shape 49"/>
          <p:cNvSpPr/>
          <p:nvPr/>
        </p:nvSpPr>
        <p:spPr>
          <a:xfrm>
            <a:off x="6318504" y="3364992"/>
            <a:ext cx="576072" cy="0"/>
          </a:xfrm>
          <a:prstGeom prst="line">
            <a:avLst/>
          </a:prstGeom>
          <a:noFill/>
          <a:ln w="19050">
            <a:solidFill>
              <a:srgbClr val="94A3B8"/>
            </a:solidFill>
            <a:prstDash val="solid"/>
          </a:ln>
        </p:spPr>
      </p:sp>
      <p:sp>
        <p:nvSpPr>
          <p:cNvPr id="52" name="Shape 50"/>
          <p:cNvSpPr/>
          <p:nvPr/>
        </p:nvSpPr>
        <p:spPr>
          <a:xfrm>
            <a:off x="6894576"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53" name="Shape 51"/>
          <p:cNvSpPr/>
          <p:nvPr/>
        </p:nvSpPr>
        <p:spPr>
          <a:xfrm>
            <a:off x="7488936" y="2852928"/>
            <a:ext cx="384048" cy="384048"/>
          </a:xfrm>
          <a:prstGeom prst="ellipse">
            <a:avLst/>
          </a:prstGeom>
          <a:solidFill>
            <a:srgbClr val="2563EB"/>
          </a:solidFill>
          <a:ln/>
        </p:spPr>
      </p:sp>
      <p:sp>
        <p:nvSpPr>
          <p:cNvPr id="54" name="Text 52"/>
          <p:cNvSpPr/>
          <p:nvPr/>
        </p:nvSpPr>
        <p:spPr>
          <a:xfrm>
            <a:off x="7488936"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9</a:t>
            </a:r>
            <a:endParaRPr lang="en-US" sz="1400" dirty="0"/>
          </a:p>
        </p:txBody>
      </p:sp>
      <p:sp>
        <p:nvSpPr>
          <p:cNvPr id="55" name="Text 53"/>
          <p:cNvSpPr/>
          <p:nvPr/>
        </p:nvSpPr>
        <p:spPr>
          <a:xfrm>
            <a:off x="6986016"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Display</a:t>
            </a:r>
            <a:endParaRPr lang="en-US" sz="1000" dirty="0"/>
          </a:p>
        </p:txBody>
      </p:sp>
      <p:sp>
        <p:nvSpPr>
          <p:cNvPr id="56" name="Text 54"/>
          <p:cNvSpPr/>
          <p:nvPr/>
        </p:nvSpPr>
        <p:spPr>
          <a:xfrm>
            <a:off x="6986016"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Risk score, recommendations, chat answer</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AI Quality and Testing">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AI QUALITY</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rPr>
              <a:t>Evaluation &amp; Testing Coverage</a:t>
            </a:r>
          </a:p>
        </p:txBody>
      </p:sp>
      <p:sp>
        <p:nvSpPr>
          <p:cNvPr id="104" name="Card"/>
          <p:cNvSpPr/>
          <p:nvPr/>
        </p:nvSpPr>
        <p:spPr>
          <a:xfrm>
            <a:off x="4572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717200" y="1290000"/>
            <a:ext cx="3486800" cy="240000"/>
          </a:xfrm>
          <a:prstGeom prst="rect">
            <a:avLst/>
          </a:prstGeom>
          <a:noFill/>
          <a:ln/>
        </p:spPr>
        <p:txBody>
          <a:bodyPr wrap="square" lIns="0" tIns="0" rIns="0" bIns="0" rtlCol="0" anchor="t"/>
          <a:lstStyle/>
          <a:p>
            <a:pPr marL="0" indent="0" algn="l">
              <a:buNone/>
            </a:pPr>
            <a:r>
              <a:rPr lang="en-US" sz="1000" b="1" dirty="0">
                <a:solidFill>
                  <a:srgbClr val="FFFFFF"/>
                </a:solidFill>
              </a:rPr>
              <a:t>DeepEval — Hallucination Detection</a:t>
            </a:r>
          </a:p>
        </p:txBody>
      </p:sp>
      <p:sp>
        <p:nvSpPr>
          <p:cNvPr id="106" name="Text"/>
          <p:cNvSpPr/>
          <p:nvPr/>
        </p:nvSpPr>
        <p:spPr>
          <a:xfrm>
            <a:off x="717200" y="1540000"/>
            <a:ext cx="900000" cy="460000"/>
          </a:xfrm>
          <a:prstGeom prst="rect">
            <a:avLst/>
          </a:prstGeom>
          <a:noFill/>
          <a:ln/>
        </p:spPr>
        <p:txBody>
          <a:bodyPr wrap="square" lIns="0" tIns="0" rIns="0" bIns="0" rtlCol="0" anchor="t"/>
          <a:lstStyle/>
          <a:p>
            <a:pPr marL="0" indent="0" algn="l">
              <a:buNone/>
            </a:pPr>
            <a:r>
              <a:rPr lang="en-US" sz="2800" b="1" dirty="0">
                <a:solidFill>
                  <a:srgbClr val="059669"/>
                </a:solidFill>
              </a:rPr>
              <a:t>0.22</a:t>
            </a:r>
          </a:p>
        </p:txBody>
      </p:sp>
      <p:sp>
        <p:nvSpPr>
          <p:cNvPr id="107" name="Text"/>
          <p:cNvSpPr/>
          <p:nvPr/>
        </p:nvSpPr>
        <p:spPr>
          <a:xfrm>
            <a:off x="1357200" y="1650000"/>
            <a:ext cx="2836800" cy="300000"/>
          </a:xfrm>
          <a:prstGeom prst="rect">
            <a:avLst/>
          </a:prstGeom>
          <a:noFill/>
          <a:ln/>
        </p:spPr>
        <p:txBody>
          <a:bodyPr wrap="square" lIns="0" tIns="0" rIns="0" bIns="0" rtlCol="0" anchor="t"/>
          <a:lstStyle/>
          <a:p>
            <a:pPr marL="0" indent="0" algn="l">
              <a:buNone/>
            </a:pPr>
            <a:r>
              <a:rPr lang="en-US" sz="800" b="0" dirty="0">
                <a:solidFill>
                  <a:srgbClr val="94A3B8"/>
                </a:solidFill>
              </a:rPr>
              <a:t>avg. score, bad profile (under 0.5 = pass)</a:t>
            </a:r>
          </a:p>
        </p:txBody>
      </p:sp>
      <p:sp>
        <p:nvSpPr>
          <p:cNvPr id="108" name="Card"/>
          <p:cNvSpPr/>
          <p:nvPr/>
        </p:nvSpPr>
        <p:spPr>
          <a:xfrm>
            <a:off x="46863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4946300" y="1290000"/>
            <a:ext cx="3486800" cy="240000"/>
          </a:xfrm>
          <a:prstGeom prst="rect">
            <a:avLst/>
          </a:prstGeom>
          <a:noFill/>
          <a:ln/>
        </p:spPr>
        <p:txBody>
          <a:bodyPr wrap="square" lIns="0" tIns="0" rIns="0" bIns="0" rtlCol="0" anchor="t"/>
          <a:lstStyle/>
          <a:p>
            <a:pPr marL="0" indent="0" algn="l">
              <a:buNone/>
            </a:pPr>
            <a:r>
              <a:rPr lang="en-US" sz="1000" b="1" dirty="0">
                <a:solidFill>
                  <a:srgbClr val="FFFFFF"/>
                </a:solidFill>
              </a:rPr>
              <a:t>RAGAS — Faithfulness &amp; Relevancy</a:t>
            </a:r>
          </a:p>
        </p:txBody>
      </p:sp>
      <p:sp>
        <p:nvSpPr>
          <p:cNvPr id="110" name="Text"/>
          <p:cNvSpPr/>
          <p:nvPr/>
        </p:nvSpPr>
        <p:spPr>
          <a:xfrm>
            <a:off x="4946300" y="1540000"/>
            <a:ext cx="900000" cy="460000"/>
          </a:xfrm>
          <a:prstGeom prst="rect">
            <a:avLst/>
          </a:prstGeom>
          <a:noFill/>
          <a:ln/>
        </p:spPr>
        <p:txBody>
          <a:bodyPr wrap="square" lIns="0" tIns="0" rIns="0" bIns="0" rtlCol="0" anchor="t"/>
          <a:lstStyle/>
          <a:p>
            <a:pPr marL="0" indent="0" algn="l">
              <a:buNone/>
            </a:pPr>
            <a:r>
              <a:rPr lang="en-US" sz="2800" b="1" dirty="0">
                <a:solidFill>
                  <a:srgbClr val="0891B2"/>
                </a:solidFill>
              </a:rPr>
              <a:t>0.88</a:t>
            </a:r>
          </a:p>
        </p:txBody>
      </p:sp>
      <p:sp>
        <p:nvSpPr>
          <p:cNvPr id="111" name="Text"/>
          <p:cNvSpPr/>
          <p:nvPr/>
        </p:nvSpPr>
        <p:spPr>
          <a:xfrm>
            <a:off x="5586300" y="1650000"/>
            <a:ext cx="2836800" cy="300000"/>
          </a:xfrm>
          <a:prstGeom prst="rect">
            <a:avLst/>
          </a:prstGeom>
          <a:noFill/>
          <a:ln/>
        </p:spPr>
        <p:txBody>
          <a:bodyPr wrap="square" lIns="0" tIns="0" rIns="0" bIns="0" rtlCol="0" anchor="t"/>
          <a:lstStyle/>
          <a:p>
            <a:pPr marL="0" indent="0" algn="l">
              <a:buNone/>
            </a:pPr>
            <a:r>
              <a:rPr lang="en-US" sz="800" b="0" dirty="0">
                <a:solidFill>
                  <a:srgbClr val="94A3B8"/>
                </a:solidFill>
              </a:rPr>
              <a:t>avg. faithfulness score</a:t>
            </a:r>
          </a:p>
        </p:txBody>
      </p:sp>
      <p:sp>
        <p:nvSpPr>
          <p:cNvPr id="112" name="Text"/>
          <p:cNvSpPr/>
          <p:nvPr/>
        </p:nvSpPr>
        <p:spPr>
          <a:xfrm>
            <a:off x="457200" y="2210000"/>
            <a:ext cx="8229600" cy="220000"/>
          </a:xfrm>
          <a:prstGeom prst="rect">
            <a:avLst/>
          </a:prstGeom>
          <a:noFill/>
          <a:ln/>
        </p:spPr>
        <p:txBody>
          <a:bodyPr wrap="square" lIns="0" tIns="0" rIns="0" bIns="0" rtlCol="0" anchor="t"/>
          <a:lstStyle/>
          <a:p>
            <a:pPr marL="0" indent="0" algn="l">
              <a:buNone/>
            </a:pPr>
            <a:r>
              <a:rPr lang="en-US" sz="1150" b="1" dirty="0">
                <a:solidFill>
                  <a:srgbClr val="FFFFFF"/>
                </a:solidFill>
              </a:rPr>
              <a:t>96 Unit Tests — Every Module Covered</a:t>
            </a:r>
          </a:p>
        </p:txBody>
      </p:sp>
      <p:sp>
        <p:nvSpPr>
          <p:cNvPr id="113" name="Card"/>
          <p:cNvSpPr/>
          <p:nvPr/>
        </p:nvSpPr>
        <p:spPr>
          <a:xfrm>
            <a:off x="4572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4" name="Text"/>
          <p:cNvSpPr/>
          <p:nvPr/>
        </p:nvSpPr>
        <p:spPr>
          <a:xfrm>
            <a:off x="5672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13</a:t>
            </a:r>
          </a:p>
        </p:txBody>
      </p:sp>
      <p:sp>
        <p:nvSpPr>
          <p:cNvPr id="115" name="Text"/>
          <p:cNvSpPr/>
          <p:nvPr/>
        </p:nvSpPr>
        <p:spPr>
          <a:xfrm>
            <a:off x="10172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test_auth.py</a:t>
            </a:r>
          </a:p>
        </p:txBody>
      </p:sp>
      <p:sp>
        <p:nvSpPr>
          <p:cNvPr id="116" name="Card"/>
          <p:cNvSpPr/>
          <p:nvPr/>
        </p:nvSpPr>
        <p:spPr>
          <a:xfrm>
            <a:off x="24541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25641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16</a:t>
            </a:r>
          </a:p>
        </p:txBody>
      </p:sp>
      <p:sp>
        <p:nvSpPr>
          <p:cNvPr id="118" name="Text"/>
          <p:cNvSpPr/>
          <p:nvPr/>
        </p:nvSpPr>
        <p:spPr>
          <a:xfrm>
            <a:off x="30141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test_loan_workflow.py</a:t>
            </a:r>
          </a:p>
        </p:txBody>
      </p:sp>
      <p:sp>
        <p:nvSpPr>
          <p:cNvPr id="119" name="Card"/>
          <p:cNvSpPr/>
          <p:nvPr/>
        </p:nvSpPr>
        <p:spPr>
          <a:xfrm>
            <a:off x="44510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0" name="Text"/>
          <p:cNvSpPr/>
          <p:nvPr/>
        </p:nvSpPr>
        <p:spPr>
          <a:xfrm>
            <a:off x="45610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19</a:t>
            </a:r>
          </a:p>
        </p:txBody>
      </p:sp>
      <p:sp>
        <p:nvSpPr>
          <p:cNvPr id="121" name="Text"/>
          <p:cNvSpPr/>
          <p:nvPr/>
        </p:nvSpPr>
        <p:spPr>
          <a:xfrm>
            <a:off x="50110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test_entity_aware_fixes.py</a:t>
            </a:r>
          </a:p>
        </p:txBody>
      </p:sp>
      <p:sp>
        <p:nvSpPr>
          <p:cNvPr id="122" name="Card"/>
          <p:cNvSpPr/>
          <p:nvPr/>
        </p:nvSpPr>
        <p:spPr>
          <a:xfrm>
            <a:off x="64479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65579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14</a:t>
            </a:r>
          </a:p>
        </p:txBody>
      </p:sp>
      <p:sp>
        <p:nvSpPr>
          <p:cNvPr id="124" name="Text"/>
          <p:cNvSpPr/>
          <p:nvPr/>
        </p:nvSpPr>
        <p:spPr>
          <a:xfrm>
            <a:off x="70079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test_reranker.py</a:t>
            </a:r>
          </a:p>
        </p:txBody>
      </p:sp>
      <p:sp>
        <p:nvSpPr>
          <p:cNvPr id="125" name="Card"/>
          <p:cNvSpPr/>
          <p:nvPr/>
        </p:nvSpPr>
        <p:spPr>
          <a:xfrm>
            <a:off x="4572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6" name="Text"/>
          <p:cNvSpPr/>
          <p:nvPr/>
        </p:nvSpPr>
        <p:spPr>
          <a:xfrm>
            <a:off x="5672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13</a:t>
            </a:r>
          </a:p>
        </p:txBody>
      </p:sp>
      <p:sp>
        <p:nvSpPr>
          <p:cNvPr id="127" name="Text"/>
          <p:cNvSpPr/>
          <p:nvPr/>
        </p:nvSpPr>
        <p:spPr>
          <a:xfrm>
            <a:off x="10172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test_city_and_validator.py</a:t>
            </a:r>
          </a:p>
        </p:txBody>
      </p:sp>
      <p:sp>
        <p:nvSpPr>
          <p:cNvPr id="128" name="Card"/>
          <p:cNvSpPr/>
          <p:nvPr/>
        </p:nvSpPr>
        <p:spPr>
          <a:xfrm>
            <a:off x="24541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9" name="Text"/>
          <p:cNvSpPr/>
          <p:nvPr/>
        </p:nvSpPr>
        <p:spPr>
          <a:xfrm>
            <a:off x="25641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4</a:t>
            </a:r>
          </a:p>
        </p:txBody>
      </p:sp>
      <p:sp>
        <p:nvSpPr>
          <p:cNvPr id="130" name="Text"/>
          <p:cNvSpPr/>
          <p:nvPr/>
        </p:nvSpPr>
        <p:spPr>
          <a:xfrm>
            <a:off x="30141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test_retirement_calc.py</a:t>
            </a:r>
          </a:p>
        </p:txBody>
      </p:sp>
      <p:sp>
        <p:nvSpPr>
          <p:cNvPr id="131" name="Card"/>
          <p:cNvSpPr/>
          <p:nvPr/>
        </p:nvSpPr>
        <p:spPr>
          <a:xfrm>
            <a:off x="44510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2" name="Text"/>
          <p:cNvSpPr/>
          <p:nvPr/>
        </p:nvSpPr>
        <p:spPr>
          <a:xfrm>
            <a:off x="45610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5</a:t>
            </a:r>
          </a:p>
        </p:txBody>
      </p:sp>
      <p:sp>
        <p:nvSpPr>
          <p:cNvPr id="133" name="Text"/>
          <p:cNvSpPr/>
          <p:nvPr/>
        </p:nvSpPr>
        <p:spPr>
          <a:xfrm>
            <a:off x="50110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test_sampling.py</a:t>
            </a:r>
          </a:p>
        </p:txBody>
      </p:sp>
      <p:sp>
        <p:nvSpPr>
          <p:cNvPr id="134" name="Card"/>
          <p:cNvSpPr/>
          <p:nvPr/>
        </p:nvSpPr>
        <p:spPr>
          <a:xfrm>
            <a:off x="64479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5" name="Text"/>
          <p:cNvSpPr/>
          <p:nvPr/>
        </p:nvSpPr>
        <p:spPr>
          <a:xfrm>
            <a:off x="65579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6</a:t>
            </a:r>
          </a:p>
        </p:txBody>
      </p:sp>
      <p:sp>
        <p:nvSpPr>
          <p:cNvPr id="136" name="Text"/>
          <p:cNvSpPr/>
          <p:nvPr/>
        </p:nvSpPr>
        <p:spPr>
          <a:xfrm>
            <a:off x="70079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test_schemas.py</a:t>
            </a:r>
          </a:p>
        </p:txBody>
      </p:sp>
      <p:sp>
        <p:nvSpPr>
          <p:cNvPr id="137" name="Text"/>
          <p:cNvSpPr/>
          <p:nvPr/>
        </p:nvSpPr>
        <p:spPr>
          <a:xfrm>
            <a:off x="457200" y="3620400"/>
            <a:ext cx="8229600" cy="220000"/>
          </a:xfrm>
          <a:prstGeom prst="rect">
            <a:avLst/>
          </a:prstGeom>
          <a:noFill/>
          <a:ln/>
        </p:spPr>
        <p:txBody>
          <a:bodyPr wrap="square" lIns="0" tIns="0" rIns="0" bIns="0" rtlCol="0" anchor="t"/>
          <a:lstStyle/>
          <a:p>
            <a:pPr marL="0" indent="0" algn="ctr">
              <a:buNone/>
            </a:pPr>
            <a:r>
              <a:rPr lang="en-US" sz="850" b="0" i="1" dirty="0">
                <a:solidFill>
                  <a:srgbClr val="94A3B8"/>
                </a:solidFill>
              </a:rPr>
              <a:t>All 96 tests run automatically in GitHub Actions on every push — in 6 seconds, no API keys required.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DevOp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9770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97706"/>
                </a:solidFill>
              </a:rPr>
              <a:t>DEVOPS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CI/CD, Observability &amp; Cloud Deployment</a:t>
            </a:r>
          </a:p>
        </p:txBody>
      </p:sp>
      <p:sp>
        <p:nvSpPr>
          <p:cNvPr id="104" name="Text"/>
          <p:cNvSpPr/>
          <p:nvPr/>
        </p:nvSpPr>
        <p:spPr>
          <a:xfrm>
            <a:off x="457200" y="11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Automated CI/CD Pipeline</a:t>
            </a:r>
          </a:p>
        </p:txBody>
      </p:sp>
      <p:sp>
        <p:nvSpPr>
          <p:cNvPr id="105" name="Pill"/>
          <p:cNvSpPr/>
          <p:nvPr/>
        </p:nvSpPr>
        <p:spPr>
          <a:xfrm>
            <a:off x="457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git push</a:t>
            </a:r>
          </a:p>
        </p:txBody>
      </p:sp>
      <p:sp>
        <p:nvSpPr>
          <p:cNvPr id="106" name="Pill"/>
          <p:cNvSpPr/>
          <p:nvPr/>
        </p:nvSpPr>
        <p:spPr>
          <a:xfrm>
            <a:off x="17988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96 tests</a:t>
            </a:r>
          </a:p>
        </p:txBody>
      </p:sp>
      <p:sp>
        <p:nvSpPr>
          <p:cNvPr id="107" name="Pill"/>
          <p:cNvSpPr/>
          <p:nvPr/>
        </p:nvSpPr>
        <p:spPr>
          <a:xfrm>
            <a:off x="31404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 build</a:t>
            </a:r>
          </a:p>
        </p:txBody>
      </p:sp>
      <p:sp>
        <p:nvSpPr>
          <p:cNvPr id="108" name="Pill"/>
          <p:cNvSpPr/>
          <p:nvPr/>
        </p:nvSpPr>
        <p:spPr>
          <a:xfrm>
            <a:off x="44820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Push to ACR</a:t>
            </a:r>
          </a:p>
        </p:txBody>
      </p:sp>
      <p:sp>
        <p:nvSpPr>
          <p:cNvPr id="109" name="Pill"/>
          <p:cNvSpPr/>
          <p:nvPr/>
        </p:nvSpPr>
        <p:spPr>
          <a:xfrm>
            <a:off x="58236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Deploy</a:t>
            </a:r>
          </a:p>
        </p:txBody>
      </p:sp>
      <p:sp>
        <p:nvSpPr>
          <p:cNvPr id="110" name="Pill"/>
          <p:cNvSpPr/>
          <p:nvPr/>
        </p:nvSpPr>
        <p:spPr>
          <a:xfrm>
            <a:off x="7165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Live on Azure</a:t>
            </a:r>
          </a:p>
        </p:txBody>
      </p:sp>
      <p:sp>
        <p:nvSpPr>
          <p:cNvPr id="111" name="Text"/>
          <p:cNvSpPr/>
          <p:nvPr/>
        </p:nvSpPr>
        <p:spPr>
          <a:xfrm>
            <a:off x="457200" y="18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LangSmith — Full Request Tracing</a:t>
            </a:r>
          </a:p>
        </p:txBody>
      </p:sp>
      <p:sp>
        <p:nvSpPr>
          <p:cNvPr id="112" name="Pill"/>
          <p:cNvSpPr/>
          <p:nvPr/>
        </p:nvSpPr>
        <p:spPr>
          <a:xfrm>
            <a:off x="457200" y="2140000"/>
            <a:ext cx="1376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auth.login_attempt</a:t>
            </a:r>
          </a:p>
        </p:txBody>
      </p:sp>
      <p:sp>
        <p:nvSpPr>
          <p:cNvPr id="113" name="Pill"/>
          <p:cNvSpPr/>
          <p:nvPr/>
        </p:nvSpPr>
        <p:spPr>
          <a:xfrm>
            <a:off x="1893200" y="2140000"/>
            <a:ext cx="143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document_processing</a:t>
            </a:r>
          </a:p>
        </p:txBody>
      </p:sp>
      <p:sp>
        <p:nvSpPr>
          <p:cNvPr id="114" name="Pill"/>
          <p:cNvSpPr/>
          <p:nvPr/>
        </p:nvSpPr>
        <p:spPr>
          <a:xfrm>
            <a:off x="3391200" y="2140000"/>
            <a:ext cx="1314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run_risk_analysis</a:t>
            </a:r>
          </a:p>
        </p:txBody>
      </p:sp>
      <p:sp>
        <p:nvSpPr>
          <p:cNvPr id="115" name="Pill"/>
          <p:cNvSpPr/>
          <p:nvPr/>
        </p:nvSpPr>
        <p:spPr>
          <a:xfrm>
            <a:off x="4765200" y="2140000"/>
            <a:ext cx="174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retrieval_agent.retrieve</a:t>
            </a:r>
          </a:p>
        </p:txBody>
      </p:sp>
      <p:sp>
        <p:nvSpPr>
          <p:cNvPr id="116" name="Pill"/>
          <p:cNvSpPr/>
          <p:nvPr/>
        </p:nvSpPr>
        <p:spPr>
          <a:xfrm>
            <a:off x="6573200" y="2140000"/>
            <a:ext cx="1872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chat_agent.answer_question</a:t>
            </a:r>
          </a:p>
        </p:txBody>
      </p:sp>
      <p:sp>
        <p:nvSpPr>
          <p:cNvPr id="117" name="Text"/>
          <p:cNvSpPr/>
          <p:nvPr/>
        </p:nvSpPr>
        <p:spPr>
          <a:xfrm>
            <a:off x="457200" y="27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Live on Azure App Service</a:t>
            </a:r>
          </a:p>
        </p:txBody>
      </p:sp>
      <p:sp>
        <p:nvSpPr>
          <p:cNvPr id="118" name="Card"/>
          <p:cNvSpPr/>
          <p:nvPr/>
        </p:nvSpPr>
        <p:spPr>
          <a:xfrm>
            <a:off x="4572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19" name="Text"/>
          <p:cNvSpPr/>
          <p:nvPr/>
        </p:nvSpPr>
        <p:spPr>
          <a:xfrm>
            <a:off x="5872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0" name="Text"/>
          <p:cNvSpPr/>
          <p:nvPr/>
        </p:nvSpPr>
        <p:spPr>
          <a:xfrm>
            <a:off x="5872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Container Registry</a:t>
            </a:r>
          </a:p>
        </p:txBody>
      </p:sp>
      <p:sp>
        <p:nvSpPr>
          <p:cNvPr id="121" name="Text"/>
          <p:cNvSpPr/>
          <p:nvPr/>
        </p:nvSpPr>
        <p:spPr>
          <a:xfrm>
            <a:off x="5872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creditriskakash7272.azurecr.io</a:t>
            </a:r>
          </a:p>
        </p:txBody>
      </p:sp>
      <p:sp>
        <p:nvSpPr>
          <p:cNvPr id="122" name="Card"/>
          <p:cNvSpPr/>
          <p:nvPr/>
        </p:nvSpPr>
        <p:spPr>
          <a:xfrm>
            <a:off x="24541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25841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4" name="Text"/>
          <p:cNvSpPr/>
          <p:nvPr/>
        </p:nvSpPr>
        <p:spPr>
          <a:xfrm>
            <a:off x="25841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App Service Plan</a:t>
            </a:r>
          </a:p>
        </p:txBody>
      </p:sp>
      <p:sp>
        <p:nvSpPr>
          <p:cNvPr id="125" name="Text"/>
          <p:cNvSpPr/>
          <p:nvPr/>
        </p:nvSpPr>
        <p:spPr>
          <a:xfrm>
            <a:off x="25841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B2 — 2 CPU, 3.5GB RAM</a:t>
            </a:r>
          </a:p>
        </p:txBody>
      </p:sp>
      <p:sp>
        <p:nvSpPr>
          <p:cNvPr id="126" name="Card"/>
          <p:cNvSpPr/>
          <p:nvPr/>
        </p:nvSpPr>
        <p:spPr>
          <a:xfrm>
            <a:off x="44510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7" name="Text"/>
          <p:cNvSpPr/>
          <p:nvPr/>
        </p:nvSpPr>
        <p:spPr>
          <a:xfrm>
            <a:off x="45810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8" name="Text"/>
          <p:cNvSpPr/>
          <p:nvPr/>
        </p:nvSpPr>
        <p:spPr>
          <a:xfrm>
            <a:off x="45810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Web App</a:t>
            </a:r>
          </a:p>
        </p:txBody>
      </p:sp>
      <p:sp>
        <p:nvSpPr>
          <p:cNvPr id="129" name="Text"/>
          <p:cNvSpPr/>
          <p:nvPr/>
        </p:nvSpPr>
        <p:spPr>
          <a:xfrm>
            <a:off x="45810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creditriskplatform.azurewebsites.net</a:t>
            </a:r>
          </a:p>
        </p:txBody>
      </p:sp>
      <p:sp>
        <p:nvSpPr>
          <p:cNvPr id="130" name="Card"/>
          <p:cNvSpPr/>
          <p:nvPr/>
        </p:nvSpPr>
        <p:spPr>
          <a:xfrm>
            <a:off x="64479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31" name="Text"/>
          <p:cNvSpPr/>
          <p:nvPr/>
        </p:nvSpPr>
        <p:spPr>
          <a:xfrm>
            <a:off x="65779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32" name="Text"/>
          <p:cNvSpPr/>
          <p:nvPr/>
        </p:nvSpPr>
        <p:spPr>
          <a:xfrm>
            <a:off x="65779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Environment Vars</a:t>
            </a:r>
          </a:p>
        </p:txBody>
      </p:sp>
      <p:sp>
        <p:nvSpPr>
          <p:cNvPr id="133" name="Text"/>
          <p:cNvSpPr/>
          <p:nvPr/>
        </p:nvSpPr>
        <p:spPr>
          <a:xfrm>
            <a:off x="65779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13 secure settings, never baked into image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Challenges and Lesson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C262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C2626"/>
                </a:solidFill>
              </a:rPr>
              <a:t>LESSONS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Challenges We Solved &amp; What We Learned</a:t>
            </a:r>
          </a:p>
        </p:txBody>
      </p:sp>
      <p:sp>
        <p:nvSpPr>
          <p:cNvPr id="104" name="Badge"/>
          <p:cNvSpPr/>
          <p:nvPr/>
        </p:nvSpPr>
        <p:spPr>
          <a:xfrm>
            <a:off x="457200" y="1180000"/>
            <a:ext cx="2100000" cy="230000"/>
          </a:xfrm>
          <a:prstGeom prst="roundRect">
            <a:avLst>
              <a:gd name="adj" fmla="val 50000"/>
            </a:avLst>
          </a:prstGeom>
          <a:solidFill>
            <a:srgbClr val="DC2626">
              <a:alpha val="25000"/>
            </a:srgbClr>
          </a:solidFill>
          <a:ln/>
        </p:spPr>
      </p:sp>
      <p:sp>
        <p:nvSpPr>
          <p:cNvPr id="105" name="BadgeText"/>
          <p:cNvSpPr/>
          <p:nvPr/>
        </p:nvSpPr>
        <p:spPr>
          <a:xfrm>
            <a:off x="457200" y="1180000"/>
            <a:ext cx="210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HARDEST PROBLEMS</a:t>
            </a:r>
          </a:p>
        </p:txBody>
      </p:sp>
      <p:sp>
        <p:nvSpPr>
          <p:cNvPr id="106" name="Text"/>
          <p:cNvSpPr/>
          <p:nvPr/>
        </p:nvSpPr>
        <p:spPr>
          <a:xfrm>
            <a:off x="457200" y="148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Hallucination in RAG</a:t>
            </a:r>
          </a:p>
        </p:txBody>
      </p:sp>
      <p:sp>
        <p:nvSpPr>
          <p:cNvPr id="107" name="Text"/>
          <p:cNvSpPr/>
          <p:nvPr/>
        </p:nvSpPr>
        <p:spPr>
          <a:xfrm>
            <a:off x="457200" y="168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Hybrid BM25 + vector search with year-aware re-ranking. 0.58 → 0.22.</a:t>
            </a:r>
          </a:p>
        </p:txBody>
      </p:sp>
      <p:sp>
        <p:nvSpPr>
          <p:cNvPr id="108" name="Text"/>
          <p:cNvSpPr/>
          <p:nvPr/>
        </p:nvSpPr>
        <p:spPr>
          <a:xfrm>
            <a:off x="457200" y="206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Python 3.11 vs Docker</a:t>
            </a:r>
          </a:p>
        </p:txBody>
      </p:sp>
      <p:sp>
        <p:nvSpPr>
          <p:cNvPr id="109" name="Text"/>
          <p:cNvSpPr/>
          <p:nvPr/>
        </p:nvSpPr>
        <p:spPr>
          <a:xfrm>
            <a:off x="457200" y="226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SyntaxError only in Docker's Python 3.11 — fixed, now tested inside Docker pre-deploy.</a:t>
            </a:r>
          </a:p>
        </p:txBody>
      </p:sp>
      <p:sp>
        <p:nvSpPr>
          <p:cNvPr id="110" name="Text"/>
          <p:cNvSpPr/>
          <p:nvPr/>
        </p:nvSpPr>
        <p:spPr>
          <a:xfrm>
            <a:off x="457200" y="264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Azure CI/CD permissions</a:t>
            </a:r>
          </a:p>
        </p:txBody>
      </p:sp>
      <p:sp>
        <p:nvSpPr>
          <p:cNvPr id="111" name="Text"/>
          <p:cNvSpPr/>
          <p:nvPr/>
        </p:nvSpPr>
        <p:spPr>
          <a:xfrm>
            <a:off x="457200" y="284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No Owner role for a service principal — used Deployment Center + system identity instead.</a:t>
            </a:r>
          </a:p>
        </p:txBody>
      </p:sp>
      <p:sp>
        <p:nvSpPr>
          <p:cNvPr id="112" name="Text"/>
          <p:cNvSpPr/>
          <p:nvPr/>
        </p:nvSpPr>
        <p:spPr>
          <a:xfrm>
            <a:off x="457200" y="322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LLM provider reliability</a:t>
            </a:r>
          </a:p>
        </p:txBody>
      </p:sp>
      <p:sp>
        <p:nvSpPr>
          <p:cNvPr id="113" name="Text"/>
          <p:cNvSpPr/>
          <p:nvPr/>
        </p:nvSpPr>
        <p:spPr>
          <a:xfrm>
            <a:off x="457200" y="342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Gemini deprecations, OpenAI 401s, Groq limits — solved with a 3-tier fallback chain.</a:t>
            </a:r>
          </a:p>
        </p:txBody>
      </p:sp>
      <p:sp>
        <p:nvSpPr>
          <p:cNvPr id="114" name="Badge"/>
          <p:cNvSpPr/>
          <p:nvPr/>
        </p:nvSpPr>
        <p:spPr>
          <a:xfrm>
            <a:off x="4686300" y="1180000"/>
            <a:ext cx="1500000" cy="230000"/>
          </a:xfrm>
          <a:prstGeom prst="roundRect">
            <a:avLst>
              <a:gd name="adj" fmla="val 50000"/>
            </a:avLst>
          </a:prstGeom>
          <a:solidFill>
            <a:srgbClr val="059669">
              <a:alpha val="25000"/>
            </a:srgbClr>
          </a:solidFill>
          <a:ln/>
        </p:spPr>
      </p:sp>
      <p:sp>
        <p:nvSpPr>
          <p:cNvPr id="115" name="BadgeText"/>
          <p:cNvSpPr/>
          <p:nvPr/>
        </p:nvSpPr>
        <p:spPr>
          <a:xfrm>
            <a:off x="4686300" y="1180000"/>
            <a:ext cx="150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WHAT WORKED</a:t>
            </a:r>
          </a:p>
        </p:txBody>
      </p:sp>
      <p:sp>
        <p:nvSpPr>
          <p:cNvPr id="116" name="Text"/>
          <p:cNvSpPr/>
          <p:nvPr/>
        </p:nvSpPr>
        <p:spPr>
          <a:xfrm>
            <a:off x="4686300" y="148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7" name="Text"/>
          <p:cNvSpPr/>
          <p:nvPr/>
        </p:nvSpPr>
        <p:spPr>
          <a:xfrm>
            <a:off x="4886300" y="1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Hybrid search dramatically cut hallucination</a:t>
            </a:r>
          </a:p>
        </p:txBody>
      </p:sp>
      <p:sp>
        <p:nvSpPr>
          <p:cNvPr id="118" name="Text"/>
          <p:cNvSpPr/>
          <p:nvPr/>
        </p:nvSpPr>
        <p:spPr>
          <a:xfrm>
            <a:off x="4686300" y="174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9" name="Text"/>
          <p:cNvSpPr/>
          <p:nvPr/>
        </p:nvSpPr>
        <p:spPr>
          <a:xfrm>
            <a:off x="4886300" y="1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LangSmith tracing made debugging fast</a:t>
            </a:r>
          </a:p>
        </p:txBody>
      </p:sp>
      <p:sp>
        <p:nvSpPr>
          <p:cNvPr id="120" name="Text"/>
          <p:cNvSpPr/>
          <p:nvPr/>
        </p:nvSpPr>
        <p:spPr>
          <a:xfrm>
            <a:off x="4686300" y="200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1" name="Text"/>
          <p:cNvSpPr/>
          <p:nvPr/>
        </p:nvSpPr>
        <p:spPr>
          <a:xfrm>
            <a:off x="4886300" y="200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Pydantic settings caught config errors early</a:t>
            </a:r>
          </a:p>
        </p:txBody>
      </p:sp>
      <p:sp>
        <p:nvSpPr>
          <p:cNvPr id="122" name="Text"/>
          <p:cNvSpPr/>
          <p:nvPr/>
        </p:nvSpPr>
        <p:spPr>
          <a:xfrm>
            <a:off x="4686300" y="226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3" name="Text"/>
          <p:cNvSpPr/>
          <p:nvPr/>
        </p:nvSpPr>
        <p:spPr>
          <a:xfrm>
            <a:off x="4886300" y="22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96 tests caught Docker/Python issues pre-deploy</a:t>
            </a:r>
          </a:p>
        </p:txBody>
      </p:sp>
      <p:sp>
        <p:nvSpPr>
          <p:cNvPr id="124" name="Badge"/>
          <p:cNvSpPr/>
          <p:nvPr/>
        </p:nvSpPr>
        <p:spPr>
          <a:xfrm>
            <a:off x="4686300" y="2660000"/>
            <a:ext cx="1900000" cy="230000"/>
          </a:xfrm>
          <a:prstGeom prst="roundRect">
            <a:avLst>
              <a:gd name="adj" fmla="val 50000"/>
            </a:avLst>
          </a:prstGeom>
          <a:solidFill>
            <a:srgbClr val="D97706">
              <a:alpha val="25000"/>
            </a:srgbClr>
          </a:solidFill>
          <a:ln/>
        </p:spPr>
      </p:sp>
      <p:sp>
        <p:nvSpPr>
          <p:cNvPr id="125" name="BadgeText"/>
          <p:cNvSpPr/>
          <p:nvPr/>
        </p:nvSpPr>
        <p:spPr>
          <a:xfrm>
            <a:off x="4686300" y="2660000"/>
            <a:ext cx="1900000" cy="230000"/>
          </a:xfrm>
          <a:prstGeom prst="rect">
            <a:avLst/>
          </a:prstGeom>
          <a:noFill/>
          <a:ln/>
        </p:spPr>
        <p:txBody>
          <a:bodyPr wrap="square" lIns="0" tIns="0" rIns="0" bIns="0" rtlCol="0" anchor="ctr"/>
          <a:lstStyle/>
          <a:p>
            <a:pPr marL="0" indent="0" algn="ctr">
              <a:buNone/>
            </a:pPr>
            <a:r>
              <a:rPr lang="en-US" sz="900" b="1" kern="0" spc="150" dirty="0">
                <a:solidFill>
                  <a:srgbClr val="D97706"/>
                </a:solidFill>
              </a:rPr>
              <a:t>WHAT WE'D DO DIFFERENTLY</a:t>
            </a:r>
          </a:p>
        </p:txBody>
      </p:sp>
      <p:sp>
        <p:nvSpPr>
          <p:cNvPr id="126" name="Text"/>
          <p:cNvSpPr/>
          <p:nvPr/>
        </p:nvSpPr>
        <p:spPr>
          <a:xfrm>
            <a:off x="4686300" y="296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7" name="Text"/>
          <p:cNvSpPr/>
          <p:nvPr/>
        </p:nvSpPr>
        <p:spPr>
          <a:xfrm>
            <a:off x="4886300" y="29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Use managed auth (Supabase/Auth0) from day one</a:t>
            </a:r>
          </a:p>
        </p:txBody>
      </p:sp>
      <p:sp>
        <p:nvSpPr>
          <p:cNvPr id="128" name="Text"/>
          <p:cNvSpPr/>
          <p:nvPr/>
        </p:nvSpPr>
        <p:spPr>
          <a:xfrm>
            <a:off x="4686300" y="322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9" name="Text"/>
          <p:cNvSpPr/>
          <p:nvPr/>
        </p:nvSpPr>
        <p:spPr>
          <a:xfrm>
            <a:off x="4886300" y="322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Pin all package versions from the start</a:t>
            </a:r>
          </a:p>
        </p:txBody>
      </p:sp>
      <p:sp>
        <p:nvSpPr>
          <p:cNvPr id="130" name="Text"/>
          <p:cNvSpPr/>
          <p:nvPr/>
        </p:nvSpPr>
        <p:spPr>
          <a:xfrm>
            <a:off x="4686300" y="348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1" name="Text"/>
          <p:cNvSpPr/>
          <p:nvPr/>
        </p:nvSpPr>
        <p:spPr>
          <a:xfrm>
            <a:off x="4886300" y="3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Set up LangSmith tracing from day one</a:t>
            </a:r>
          </a:p>
        </p:txBody>
      </p:sp>
      <p:sp>
        <p:nvSpPr>
          <p:cNvPr id="132" name="Text"/>
          <p:cNvSpPr/>
          <p:nvPr/>
        </p:nvSpPr>
        <p:spPr>
          <a:xfrm>
            <a:off x="4686300" y="374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3" name="Text"/>
          <p:cNvSpPr/>
          <p:nvPr/>
        </p:nvSpPr>
        <p:spPr>
          <a:xfrm>
            <a:off x="4886300" y="3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Add a background job queue for large PDFs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6858000" y="-914400"/>
            <a:ext cx="3657600" cy="3657600"/>
          </a:xfrm>
          <a:prstGeom prst="ellipse">
            <a:avLst/>
          </a:prstGeom>
          <a:solidFill>
            <a:srgbClr val="2563EB">
              <a:alpha val="12000"/>
            </a:srgbClr>
          </a:solidFill>
          <a:ln/>
        </p:spPr>
      </p:sp>
      <p:sp>
        <p:nvSpPr>
          <p:cNvPr id="3" name="Shape 1"/>
          <p:cNvSpPr/>
          <p:nvPr/>
        </p:nvSpPr>
        <p:spPr>
          <a:xfrm>
            <a:off x="-699967" y="2616086"/>
            <a:ext cx="3200400" cy="3200400"/>
          </a:xfrm>
          <a:prstGeom prst="ellipse">
            <a:avLst/>
          </a:prstGeom>
          <a:solidFill>
            <a:srgbClr val="0891B2">
              <a:alpha val="12000"/>
            </a:srgbClr>
          </a:solidFill>
          <a:ln/>
        </p:spPr>
      </p:sp>
      <p:sp>
        <p:nvSpPr>
          <p:cNvPr id="4" name="Shape 2"/>
          <p:cNvSpPr/>
          <p:nvPr/>
        </p:nvSpPr>
        <p:spPr>
          <a:xfrm>
            <a:off x="3474720" y="365760"/>
            <a:ext cx="1280160" cy="256032"/>
          </a:xfrm>
          <a:prstGeom prst="roundRect">
            <a:avLst>
              <a:gd name="adj" fmla="val 50000"/>
            </a:avLst>
          </a:prstGeom>
          <a:solidFill>
            <a:srgbClr val="059669">
              <a:alpha val="25000"/>
            </a:srgbClr>
          </a:solidFill>
          <a:ln/>
        </p:spPr>
      </p:sp>
      <p:sp>
        <p:nvSpPr>
          <p:cNvPr id="5" name="Text 3"/>
          <p:cNvSpPr/>
          <p:nvPr/>
        </p:nvSpPr>
        <p:spPr>
          <a:xfrm>
            <a:off x="3474720" y="365760"/>
            <a:ext cx="128016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SUBMITTED</a:t>
            </a:r>
            <a:endParaRPr lang="en-US" sz="900" dirty="0"/>
          </a:p>
        </p:txBody>
      </p:sp>
      <p:sp>
        <p:nvSpPr>
          <p:cNvPr id="6" name="Text 4"/>
          <p:cNvSpPr/>
          <p:nvPr/>
        </p:nvSpPr>
        <p:spPr>
          <a:xfrm>
            <a:off x="91440" y="1275588"/>
            <a:ext cx="8229600" cy="731520"/>
          </a:xfrm>
          <a:prstGeom prst="rect">
            <a:avLst/>
          </a:prstGeom>
          <a:noFill/>
          <a:ln/>
        </p:spPr>
        <p:txBody>
          <a:bodyPr wrap="square" lIns="0" tIns="0" rIns="0" bIns="0"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8" name="Shape 6"/>
          <p:cNvSpPr/>
          <p:nvPr/>
        </p:nvSpPr>
        <p:spPr>
          <a:xfrm>
            <a:off x="82296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9" name="Text 7"/>
          <p:cNvSpPr/>
          <p:nvPr/>
        </p:nvSpPr>
        <p:spPr>
          <a:xfrm>
            <a:off x="1005840" y="2487168"/>
            <a:ext cx="1097280" cy="384048"/>
          </a:xfrm>
          <a:prstGeom prst="rect">
            <a:avLst/>
          </a:prstGeom>
          <a:noFill/>
          <a:ln/>
        </p:spPr>
        <p:txBody>
          <a:bodyPr wrap="square" lIns="0" tIns="0" rIns="0" bIns="0" rtlCol="0" anchor="ctr"/>
          <a:lstStyle/>
          <a:p>
            <a:pPr marL="0" indent="0">
              <a:buNone/>
            </a:pPr>
            <a:r>
              <a:rPr lang="en-US" sz="1000" b="1" dirty="0">
                <a:solidFill>
                  <a:srgbClr val="0891B2"/>
                </a:solidFill>
              </a:rPr>
              <a:t>🌐 Live App  </a:t>
            </a:r>
            <a:endParaRPr lang="en-US" sz="1000" dirty="0"/>
          </a:p>
        </p:txBody>
      </p:sp>
      <p:sp>
        <p:nvSpPr>
          <p:cNvPr id="10" name="Text 8"/>
          <p:cNvSpPr/>
          <p:nvPr/>
        </p:nvSpPr>
        <p:spPr>
          <a:xfrm>
            <a:off x="192024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creditriskplatform.azurewebsites.net</a:t>
            </a:r>
            <a:endParaRPr lang="en-US" sz="950" dirty="0"/>
          </a:p>
        </p:txBody>
      </p:sp>
      <p:sp>
        <p:nvSpPr>
          <p:cNvPr id="11" name="Shape 9"/>
          <p:cNvSpPr/>
          <p:nvPr/>
        </p:nvSpPr>
        <p:spPr>
          <a:xfrm>
            <a:off x="466344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2" name="Text 10"/>
          <p:cNvSpPr/>
          <p:nvPr/>
        </p:nvSpPr>
        <p:spPr>
          <a:xfrm>
            <a:off x="4846320" y="2487168"/>
            <a:ext cx="1097280" cy="384048"/>
          </a:xfrm>
          <a:prstGeom prst="rect">
            <a:avLst/>
          </a:prstGeom>
          <a:noFill/>
          <a:ln/>
        </p:spPr>
        <p:txBody>
          <a:bodyPr wrap="square" lIns="0" tIns="0" rIns="0" bIns="0" rtlCol="0" anchor="ctr"/>
          <a:lstStyle/>
          <a:p>
            <a:pPr marL="0" indent="0">
              <a:buNone/>
            </a:pPr>
            <a:r>
              <a:rPr lang="en-US" sz="1000" b="1" dirty="0">
                <a:solidFill>
                  <a:srgbClr val="2563EB"/>
                </a:solidFill>
              </a:rPr>
              <a:t>💻 GitHub  </a:t>
            </a:r>
            <a:endParaRPr lang="en-US" sz="1000" dirty="0"/>
          </a:p>
        </p:txBody>
      </p:sp>
      <p:sp>
        <p:nvSpPr>
          <p:cNvPr id="13" name="Text 11"/>
          <p:cNvSpPr/>
          <p:nvPr/>
        </p:nvSpPr>
        <p:spPr>
          <a:xfrm>
            <a:off x="576072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github.com/Chaurasiyakash0136/EY-Training-2026</a:t>
            </a:r>
            <a:endParaRPr lang="en-US" sz="950" dirty="0"/>
          </a:p>
        </p:txBody>
      </p:sp>
      <p:sp>
        <p:nvSpPr>
          <p:cNvPr id="14" name="Shape 12"/>
          <p:cNvSpPr/>
          <p:nvPr/>
        </p:nvSpPr>
        <p:spPr>
          <a:xfrm>
            <a:off x="82296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5" name="Text 13"/>
          <p:cNvSpPr/>
          <p:nvPr/>
        </p:nvSpPr>
        <p:spPr>
          <a:xfrm>
            <a:off x="1005840" y="3200400"/>
            <a:ext cx="1097280" cy="384048"/>
          </a:xfrm>
          <a:prstGeom prst="rect">
            <a:avLst/>
          </a:prstGeom>
          <a:noFill/>
          <a:ln/>
        </p:spPr>
        <p:txBody>
          <a:bodyPr wrap="square" lIns="0" tIns="0" rIns="0" bIns="0" rtlCol="0" anchor="ctr"/>
          <a:lstStyle/>
          <a:p>
            <a:pPr marL="0" indent="0">
              <a:buNone/>
            </a:pPr>
            <a:r>
              <a:rPr lang="en-US" sz="1000" b="1" dirty="0">
                <a:solidFill>
                  <a:srgbClr val="D97706"/>
                </a:solidFill>
              </a:rPr>
              <a:t>🔍 LangSmith  </a:t>
            </a:r>
            <a:endParaRPr lang="en-US" sz="1000" dirty="0"/>
          </a:p>
        </p:txBody>
      </p:sp>
      <p:sp>
        <p:nvSpPr>
          <p:cNvPr id="16" name="Text 14"/>
          <p:cNvSpPr/>
          <p:nvPr/>
        </p:nvSpPr>
        <p:spPr>
          <a:xfrm>
            <a:off x="192024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smith.langchain.com → credit-risk-platform</a:t>
            </a:r>
            <a:endParaRPr lang="en-US" sz="950" dirty="0"/>
          </a:p>
        </p:txBody>
      </p:sp>
      <p:sp>
        <p:nvSpPr>
          <p:cNvPr id="17" name="Shape 15"/>
          <p:cNvSpPr/>
          <p:nvPr/>
        </p:nvSpPr>
        <p:spPr>
          <a:xfrm>
            <a:off x="466344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8" name="Text 16"/>
          <p:cNvSpPr/>
          <p:nvPr/>
        </p:nvSpPr>
        <p:spPr>
          <a:xfrm>
            <a:off x="4846320" y="3200400"/>
            <a:ext cx="1097280" cy="384048"/>
          </a:xfrm>
          <a:prstGeom prst="rect">
            <a:avLst/>
          </a:prstGeom>
          <a:noFill/>
          <a:ln/>
        </p:spPr>
        <p:txBody>
          <a:bodyPr wrap="square" lIns="0" tIns="0" rIns="0" bIns="0" rtlCol="0" anchor="ctr"/>
          <a:lstStyle/>
          <a:p>
            <a:pPr marL="0" indent="0">
              <a:buNone/>
            </a:pPr>
            <a:r>
              <a:rPr lang="en-US" sz="1000" b="1" dirty="0">
                <a:solidFill>
                  <a:srgbClr val="059669"/>
                </a:solidFill>
              </a:rPr>
              <a:t>🏷️ Version  </a:t>
            </a:r>
            <a:endParaRPr lang="en-US" sz="1000" dirty="0"/>
          </a:p>
        </p:txBody>
      </p:sp>
      <p:sp>
        <p:nvSpPr>
          <p:cNvPr id="19" name="Text 17"/>
          <p:cNvSpPr/>
          <p:nvPr/>
        </p:nvSpPr>
        <p:spPr>
          <a:xfrm>
            <a:off x="576072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 tag v1.0 — main branch</a:t>
            </a:r>
            <a:endParaRPr lang="en-US" sz="950" dirty="0"/>
          </a:p>
        </p:txBody>
      </p:sp>
      <p:sp>
        <p:nvSpPr>
          <p:cNvPr id="20" name="Text 18"/>
          <p:cNvSpPr/>
          <p:nvPr/>
        </p:nvSpPr>
        <p:spPr>
          <a:xfrm>
            <a:off x="457200" y="4378495"/>
            <a:ext cx="8229600" cy="475874"/>
          </a:xfrm>
          <a:prstGeom prst="rect">
            <a:avLst/>
          </a:prstGeom>
          <a:noFill/>
          <a:ln/>
        </p:spPr>
        <p:txBody>
          <a:bodyPr wrap="square" lIns="0" tIns="0" rIns="0" bIns="0" rtlCol="0" anchor="ctr"/>
          <a:lstStyle/>
          <a:p>
            <a:pPr marL="0" indent="0" algn="ctr">
              <a:buNone/>
            </a:pPr>
            <a:r>
              <a:rPr lang="en-US" sz="1100" dirty="0">
                <a:solidFill>
                  <a:srgbClr val="94A3B8"/>
                </a:solidFill>
              </a:rPr>
              <a:t>Akash Chaurasiya  ·  Ashu Sharma  ·  EY Training 2026  </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TotalTime>
  <Words>1745</Words>
  <Application>Microsoft Office PowerPoint</Application>
  <PresentationFormat>On-screen Show (16:9)</PresentationFormat>
  <Paragraphs>338</Paragraphs>
  <Slides>19</Slides>
  <Notes>10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19</vt:i4>
      </vt:variant>
    </vt:vector>
  </HeadingPairs>
  <TitlesOfParts>
    <vt:vector size="25" baseType="lpstr">
      <vt:lpstr>Arial</vt:lpstr>
      <vt:lpstr>Calibri</vt:lpstr>
      <vt:lpstr>Cambria</vt:lpstr>
      <vt:lpstr>Courier New</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Risk Intelligence Platform</dc:title>
  <dc:subject>EY Training 2026 Capstone</dc:subject>
  <dc:creator>Akash Chaurasiya &amp; Ashu Sharma</dc:creator>
  <cp:lastModifiedBy>azuser7270_mml.local</cp:lastModifiedBy>
  <cp:revision>41</cp:revision>
  <dcterms:created xsi:type="dcterms:W3CDTF">2026-07-02T07:39:23Z</dcterms:created>
  <dcterms:modified xsi:type="dcterms:W3CDTF">2026-07-07T08:15:04Z</dcterms:modified>
</cp:coreProperties>
</file>