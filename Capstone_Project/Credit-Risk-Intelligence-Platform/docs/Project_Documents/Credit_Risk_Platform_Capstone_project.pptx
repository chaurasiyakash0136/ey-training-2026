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760" r:id="rId2"/>
  </p:sldMasterIdLst>
  <p:notesMasterIdLst>
    <p:notesMasterId r:id="rId22"/>
  </p:notesMasterIdLst>
  <p:sldIdLst>
    <p:sldId id="256" r:id="rId3"/>
    <p:sldId id="311" r:id="rId4"/>
    <p:sldId id="312" r:id="rId5"/>
    <p:sldId id="313" r:id="rId6"/>
    <p:sldId id="314" r:id="rId7"/>
    <p:sldId id="308" r:id="rId8"/>
    <p:sldId id="257" r:id="rId9"/>
    <p:sldId id="259" r:id="rId10"/>
    <p:sldId id="260" r:id="rId11"/>
    <p:sldId id="272" r:id="rId12"/>
    <p:sldId id="262" r:id="rId13"/>
    <p:sldId id="263" r:id="rId14"/>
    <p:sldId id="316" r:id="rId15"/>
    <p:sldId id="317" r:id="rId16"/>
    <p:sldId id="266" r:id="rId17"/>
    <p:sldId id="318" r:id="rId18"/>
    <p:sldId id="269" r:id="rId19"/>
    <p:sldId id="310" r:id="rId20"/>
    <p:sldId id="271" r:id="rId21"/>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9" d="100"/>
          <a:sy n="89" d="100"/>
        </p:scale>
        <p:origin x="450" y="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tableStyles" Target="tableStyles.xml"/><Relationship Id="rId3" Type="http://schemas.openxmlformats.org/officeDocument/2006/relationships/slide" Target="slides/slide1.xml"/><Relationship Id="rId21" Type="http://schemas.openxmlformats.org/officeDocument/2006/relationships/slide" Target="slides/slide19.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theme" Target="theme/theme1.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viewProps" Target="viewProp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presProps" Target="presProps.xml"/><Relationship Id="rId10" Type="http://schemas.openxmlformats.org/officeDocument/2006/relationships/slide" Target="slides/slide8.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794355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Introduce the team and the platform. Mention it is live on Azure.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manual bottleneck. Banks receive hundreds of loan applications. Human review is slow and inconsistent.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five layers. PDF comes in at the top, risk decision comes out at the bottom.</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customer journey from login to recommendations. Mention loan gating feature.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9-step pipeline. Emphasise the hybrid search and year-aware re-ranking as the key innovation for reducing hallucination.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62% reduction in hallucination. Explain that DeepEval gives us proof the AI is not making things up.</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13</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99401507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workflows run on every push. main.yml is the quality gate. The Azure workflow only runs if tests pass.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Pick the hardest one and explain it in depth. The hallucination problem is the most impressive technically.</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18</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01149789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audience. Offer to show the live app and LangSmith traces. Invite questions.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700"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ditriskplatform.azurewebsites.net"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B2D"/>
        </a:solidFill>
        <a:effectLst/>
      </p:bgPr>
    </p:bg>
    <p:spTree>
      <p:nvGrpSpPr>
        <p:cNvPr id="1" name=""/>
        <p:cNvGrpSpPr/>
        <p:nvPr/>
      </p:nvGrpSpPr>
      <p:grpSpPr>
        <a:xfrm>
          <a:off x="0" y="0"/>
          <a:ext cx="0" cy="0"/>
          <a:chOff x="0" y="0"/>
          <a:chExt cx="0" cy="0"/>
        </a:xfrm>
      </p:grpSpPr>
      <p:sp>
        <p:nvSpPr>
          <p:cNvPr id="2" name="Shape 0"/>
          <p:cNvSpPr/>
          <p:nvPr/>
        </p:nvSpPr>
        <p:spPr>
          <a:xfrm>
            <a:off x="7132320" y="-1097280"/>
            <a:ext cx="3657600" cy="3657600"/>
          </a:xfrm>
          <a:prstGeom prst="ellipse">
            <a:avLst/>
          </a:prstGeom>
          <a:solidFill>
            <a:srgbClr val="2563EB">
              <a:alpha val="12000"/>
            </a:srgbClr>
          </a:solidFill>
          <a:ln/>
        </p:spPr>
      </p:sp>
      <p:sp>
        <p:nvSpPr>
          <p:cNvPr id="3" name="Shape 1"/>
          <p:cNvSpPr/>
          <p:nvPr/>
        </p:nvSpPr>
        <p:spPr>
          <a:xfrm>
            <a:off x="7772400" y="-457200"/>
            <a:ext cx="2286000" cy="2286000"/>
          </a:xfrm>
          <a:prstGeom prst="ellipse">
            <a:avLst/>
          </a:prstGeom>
          <a:solidFill>
            <a:srgbClr val="0891B2">
              <a:alpha val="20000"/>
            </a:srgbClr>
          </a:solidFill>
          <a:ln/>
        </p:spPr>
      </p:sp>
      <p:sp>
        <p:nvSpPr>
          <p:cNvPr id="4" name="Shape 2"/>
          <p:cNvSpPr/>
          <p:nvPr/>
        </p:nvSpPr>
        <p:spPr>
          <a:xfrm>
            <a:off x="-731520" y="3474720"/>
            <a:ext cx="2560320" cy="2560320"/>
          </a:xfrm>
          <a:prstGeom prst="ellipse">
            <a:avLst/>
          </a:prstGeom>
          <a:solidFill>
            <a:srgbClr val="2563EB">
              <a:alpha val="10000"/>
            </a:srgbClr>
          </a:solidFill>
          <a:ln/>
        </p:spPr>
      </p:sp>
      <p:sp>
        <p:nvSpPr>
          <p:cNvPr id="5" name="Shape 3"/>
          <p:cNvSpPr/>
          <p:nvPr/>
        </p:nvSpPr>
        <p:spPr>
          <a:xfrm>
            <a:off x="640080" y="822960"/>
            <a:ext cx="1280160" cy="256032"/>
          </a:xfrm>
          <a:prstGeom prst="roundRect">
            <a:avLst>
              <a:gd name="adj" fmla="val 50000"/>
            </a:avLst>
          </a:prstGeom>
          <a:solidFill>
            <a:srgbClr val="0891B2">
              <a:alpha val="25000"/>
            </a:srgbClr>
          </a:solidFill>
          <a:ln/>
        </p:spPr>
      </p:sp>
      <p:sp>
        <p:nvSpPr>
          <p:cNvPr id="6" name="Text 4"/>
          <p:cNvSpPr/>
          <p:nvPr/>
        </p:nvSpPr>
        <p:spPr>
          <a:xfrm>
            <a:off x="640080" y="822960"/>
            <a:ext cx="1280160" cy="256032"/>
          </a:xfrm>
          <a:prstGeom prst="rect">
            <a:avLst/>
          </a:prstGeom>
          <a:noFill/>
          <a:ln/>
        </p:spPr>
        <p:txBody>
          <a:bodyPr wrap="square" lIns="0" tIns="0" rIns="0" bIns="0" rtlCol="0" anchor="ctr"/>
          <a:lstStyle/>
          <a:p>
            <a:pPr marL="0" indent="0" algn="ctr">
              <a:buNone/>
            </a:pPr>
            <a:r>
              <a:rPr lang="en-US" sz="900" b="1" kern="0" spc="150" dirty="0">
                <a:solidFill>
                  <a:srgbClr val="0891B2"/>
                </a:solidFill>
              </a:rPr>
              <a:t>EY TRAINING 2026</a:t>
            </a:r>
            <a:endParaRPr lang="en-US" sz="900" dirty="0"/>
          </a:p>
        </p:txBody>
      </p:sp>
      <p:sp>
        <p:nvSpPr>
          <p:cNvPr id="7" name="Text 5"/>
          <p:cNvSpPr/>
          <p:nvPr/>
        </p:nvSpPr>
        <p:spPr>
          <a:xfrm>
            <a:off x="640080" y="1188720"/>
            <a:ext cx="7772400" cy="822960"/>
          </a:xfrm>
          <a:prstGeom prst="rect">
            <a:avLst/>
          </a:prstGeom>
          <a:noFill/>
          <a:ln/>
        </p:spPr>
        <p:txBody>
          <a:bodyPr wrap="square" lIns="0" tIns="0" rIns="0" bIns="0" rtlCol="0" anchor="ctr"/>
          <a:lstStyle/>
          <a:p>
            <a:pPr marL="0" indent="0">
              <a:buNone/>
            </a:pPr>
            <a:r>
              <a:rPr lang="en-US" sz="5200" b="1" dirty="0">
                <a:solidFill>
                  <a:srgbClr val="FFFFFF"/>
                </a:solidFill>
                <a:latin typeface="Cambria" pitchFamily="34" charset="0"/>
                <a:ea typeface="Cambria" pitchFamily="34" charset="-122"/>
                <a:cs typeface="Cambria" pitchFamily="34" charset="-120"/>
              </a:rPr>
              <a:t>Credit Risk</a:t>
            </a:r>
            <a:endParaRPr lang="en-US" sz="5200" dirty="0"/>
          </a:p>
        </p:txBody>
      </p:sp>
      <p:sp>
        <p:nvSpPr>
          <p:cNvPr id="8" name="Text 6"/>
          <p:cNvSpPr/>
          <p:nvPr/>
        </p:nvSpPr>
        <p:spPr>
          <a:xfrm>
            <a:off x="640080" y="1965960"/>
            <a:ext cx="7772400" cy="822960"/>
          </a:xfrm>
          <a:prstGeom prst="rect">
            <a:avLst/>
          </a:prstGeom>
          <a:noFill/>
          <a:ln/>
        </p:spPr>
        <p:txBody>
          <a:bodyPr wrap="square" lIns="0" tIns="0" rIns="0" bIns="0" rtlCol="0" anchor="ctr"/>
          <a:lstStyle/>
          <a:p>
            <a:pPr marL="0" indent="0">
              <a:buNone/>
            </a:pPr>
            <a:r>
              <a:rPr lang="en-US" sz="5200" b="1" dirty="0">
                <a:solidFill>
                  <a:srgbClr val="2563EB"/>
                </a:solidFill>
                <a:latin typeface="Cambria" pitchFamily="34" charset="0"/>
                <a:ea typeface="Cambria" pitchFamily="34" charset="-122"/>
                <a:cs typeface="Cambria" pitchFamily="34" charset="-120"/>
              </a:rPr>
              <a:t>Intelligence Platform</a:t>
            </a:r>
            <a:endParaRPr lang="en-US" sz="5200" dirty="0"/>
          </a:p>
        </p:txBody>
      </p:sp>
      <p:sp>
        <p:nvSpPr>
          <p:cNvPr id="9" name="Text 7"/>
          <p:cNvSpPr/>
          <p:nvPr/>
        </p:nvSpPr>
        <p:spPr>
          <a:xfrm>
            <a:off x="640080" y="2926080"/>
            <a:ext cx="7772400" cy="411480"/>
          </a:xfrm>
          <a:prstGeom prst="rect">
            <a:avLst/>
          </a:prstGeom>
          <a:noFill/>
          <a:ln/>
        </p:spPr>
        <p:txBody>
          <a:bodyPr wrap="square" lIns="0" tIns="0" rIns="0" bIns="0" rtlCol="0" anchor="ctr"/>
          <a:lstStyle/>
          <a:p>
            <a:pPr marL="0" indent="0">
              <a:buNone/>
            </a:pPr>
            <a:r>
              <a:rPr lang="en-US" sz="1500" dirty="0">
                <a:solidFill>
                  <a:srgbClr val="94A3B8"/>
                </a:solidFill>
                <a:latin typeface="Calibri" pitchFamily="34" charset="0"/>
                <a:ea typeface="Calibri" pitchFamily="34" charset="-122"/>
                <a:cs typeface="Calibri" pitchFamily="34" charset="-120"/>
              </a:rPr>
              <a:t>AI-Powered Credit Risk Assessment &amp; Financial Document Analysis</a:t>
            </a:r>
            <a:endParaRPr lang="en-US" sz="1500" dirty="0"/>
          </a:p>
        </p:txBody>
      </p:sp>
      <p:sp>
        <p:nvSpPr>
          <p:cNvPr id="10" name="Shape 8"/>
          <p:cNvSpPr/>
          <p:nvPr/>
        </p:nvSpPr>
        <p:spPr>
          <a:xfrm>
            <a:off x="640080" y="3703320"/>
            <a:ext cx="3840480" cy="594360"/>
          </a:xfrm>
          <a:prstGeom prst="roundRect">
            <a:avLst>
              <a:gd name="adj" fmla="val 12308"/>
            </a:avLst>
          </a:prstGeom>
          <a:solidFill>
            <a:srgbClr val="162032"/>
          </a:solidFill>
          <a:ln/>
          <a:effectLst>
            <a:outerShdw blurRad="50800" dist="25400" dir="2700000" algn="bl" rotWithShape="0">
              <a:srgbClr val="000000">
                <a:alpha val="12000"/>
              </a:srgbClr>
            </a:outerShdw>
          </a:effectLst>
        </p:spPr>
      </p:sp>
      <p:sp>
        <p:nvSpPr>
          <p:cNvPr id="11" name="Text 9"/>
          <p:cNvSpPr/>
          <p:nvPr/>
        </p:nvSpPr>
        <p:spPr>
          <a:xfrm>
            <a:off x="640080" y="3703320"/>
            <a:ext cx="3840480" cy="594360"/>
          </a:xfrm>
          <a:prstGeom prst="rect">
            <a:avLst/>
          </a:prstGeom>
          <a:noFill/>
          <a:ln/>
        </p:spPr>
        <p:txBody>
          <a:bodyPr wrap="square" lIns="0" tIns="0" rIns="0" bIns="0" rtlCol="0" anchor="ctr"/>
          <a:lstStyle/>
          <a:p>
            <a:pPr marL="0" indent="0" algn="ctr">
              <a:buNone/>
            </a:pPr>
            <a:r>
              <a:rPr lang="en-US" sz="1200" b="1" dirty="0">
                <a:solidFill>
                  <a:srgbClr val="FFFFFF"/>
                </a:solidFill>
              </a:rPr>
              <a:t>Akash Chaurasiya   </a:t>
            </a:r>
          </a:p>
          <a:p>
            <a:pPr marL="0" indent="0" algn="ctr">
              <a:buNone/>
            </a:pPr>
            <a:r>
              <a:rPr lang="en-US" sz="1200" b="1" dirty="0">
                <a:solidFill>
                  <a:srgbClr val="FFFFFF"/>
                </a:solidFill>
              </a:rPr>
              <a:t> Ashu Sharma</a:t>
            </a:r>
            <a:endParaRPr lang="en-US" sz="1200" dirty="0"/>
          </a:p>
        </p:txBody>
      </p:sp>
      <p:sp>
        <p:nvSpPr>
          <p:cNvPr id="12" name="Text 10">
            <a:hlinkClick r:id="rId3"/>
          </p:cNvPr>
          <p:cNvSpPr/>
          <p:nvPr/>
        </p:nvSpPr>
        <p:spPr>
          <a:xfrm>
            <a:off x="640080" y="4434840"/>
            <a:ext cx="4572000" cy="274320"/>
          </a:xfrm>
          <a:prstGeom prst="rect">
            <a:avLst/>
          </a:prstGeom>
          <a:noFill/>
          <a:ln/>
        </p:spPr>
        <p:txBody>
          <a:bodyPr wrap="square" lIns="0" tIns="0" rIns="0" bIns="0" rtlCol="0" anchor="ctr"/>
          <a:lstStyle/>
          <a:p>
            <a:pPr marL="0" indent="0">
              <a:buNone/>
            </a:pPr>
            <a:r>
              <a:rPr lang="en-US" sz="1000" u="sng" dirty="0">
                <a:solidFill>
                  <a:srgbClr val="0891B2"/>
                </a:solidFill>
                <a:latin typeface="Calibri" pitchFamily="34" charset="0"/>
                <a:ea typeface="Calibri" pitchFamily="34" charset="-122"/>
                <a:cs typeface="Calibri" pitchFamily="34" charset="-120"/>
                <a:hlinkClick r:id="rId3">
                  <a:extLst>
                    <a:ext uri="{A12FA001-AC4F-418D-AE19-62706E023703}">
                      <ahyp:hlinkClr xmlns:ahyp="http://schemas.microsoft.com/office/drawing/2018/hyperlinkcolor" val="tx"/>
                    </a:ext>
                  </a:extLst>
                </a:hlinkClick>
              </a:rPr>
              <a:t>🌐  creditriskplatform.azurewebsites.net</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411480" y="342900"/>
            <a:ext cx="1577340" cy="260604"/>
          </a:xfrm>
          <a:prstGeom prst="roundRect">
            <a:avLst>
              <a:gd name="adj" fmla="val 50000"/>
            </a:avLst>
          </a:prstGeom>
          <a:solidFill>
            <a:srgbClr val="D97757"/>
          </a:solidFill>
          <a:ln/>
        </p:spPr>
      </p:sp>
      <p:sp>
        <p:nvSpPr>
          <p:cNvPr id="3" name="Text 1"/>
          <p:cNvSpPr/>
          <p:nvPr/>
        </p:nvSpPr>
        <p:spPr>
          <a:xfrm>
            <a:off x="411480" y="342900"/>
            <a:ext cx="1577340" cy="260604"/>
          </a:xfrm>
          <a:prstGeom prst="rect">
            <a:avLst/>
          </a:prstGeom>
          <a:noFill/>
          <a:ln/>
        </p:spPr>
        <p:txBody>
          <a:bodyPr wrap="square" lIns="0" tIns="0" rIns="0" bIns="0" rtlCol="0" anchor="ctr"/>
          <a:lstStyle/>
          <a:p>
            <a:pPr marL="0" indent="0" algn="ctr">
              <a:buNone/>
            </a:pPr>
            <a:r>
              <a:rPr lang="en-US" sz="862" b="1" kern="0" spc="120" dirty="0">
                <a:solidFill>
                  <a:srgbClr val="FFFFFF"/>
                </a:solidFill>
                <a:latin typeface="Calibri" pitchFamily="34" charset="0"/>
                <a:ea typeface="Calibri" pitchFamily="34" charset="-122"/>
                <a:cs typeface="Calibri" pitchFamily="34" charset="-120"/>
              </a:rPr>
              <a:t>THE OLD WAY</a:t>
            </a:r>
            <a:endParaRPr lang="en-US" sz="862" dirty="0"/>
          </a:p>
        </p:txBody>
      </p:sp>
      <p:sp>
        <p:nvSpPr>
          <p:cNvPr id="4" name="Shape 2"/>
          <p:cNvSpPr/>
          <p:nvPr/>
        </p:nvSpPr>
        <p:spPr>
          <a:xfrm>
            <a:off x="7317486" y="411480"/>
            <a:ext cx="109728" cy="109728"/>
          </a:xfrm>
          <a:prstGeom prst="ellipse">
            <a:avLst/>
          </a:prstGeom>
          <a:solidFill>
            <a:srgbClr val="D97757"/>
          </a:solidFill>
          <a:ln/>
        </p:spPr>
      </p:sp>
      <p:sp>
        <p:nvSpPr>
          <p:cNvPr id="5" name="Shape 3"/>
          <p:cNvSpPr/>
          <p:nvPr/>
        </p:nvSpPr>
        <p:spPr>
          <a:xfrm>
            <a:off x="7523226" y="411480"/>
            <a:ext cx="109728" cy="109728"/>
          </a:xfrm>
          <a:prstGeom prst="ellipse">
            <a:avLst/>
          </a:prstGeom>
          <a:solidFill>
            <a:srgbClr val="E4E0D6"/>
          </a:solidFill>
          <a:ln/>
        </p:spPr>
      </p:sp>
      <p:sp>
        <p:nvSpPr>
          <p:cNvPr id="6" name="Shape 4"/>
          <p:cNvSpPr/>
          <p:nvPr/>
        </p:nvSpPr>
        <p:spPr>
          <a:xfrm>
            <a:off x="7728966" y="411480"/>
            <a:ext cx="109728" cy="109728"/>
          </a:xfrm>
          <a:prstGeom prst="ellipse">
            <a:avLst/>
          </a:prstGeom>
          <a:solidFill>
            <a:srgbClr val="E4E0D6"/>
          </a:solidFill>
          <a:ln/>
        </p:spPr>
      </p:sp>
      <p:sp>
        <p:nvSpPr>
          <p:cNvPr id="7" name="Shape 5"/>
          <p:cNvSpPr/>
          <p:nvPr/>
        </p:nvSpPr>
        <p:spPr>
          <a:xfrm>
            <a:off x="7934706" y="411480"/>
            <a:ext cx="109728" cy="109728"/>
          </a:xfrm>
          <a:prstGeom prst="ellipse">
            <a:avLst/>
          </a:prstGeom>
          <a:solidFill>
            <a:srgbClr val="E4E0D6"/>
          </a:solidFill>
          <a:ln/>
        </p:spPr>
      </p:sp>
      <p:sp>
        <p:nvSpPr>
          <p:cNvPr id="11" name="Shape 9"/>
          <p:cNvSpPr/>
          <p:nvPr/>
        </p:nvSpPr>
        <p:spPr>
          <a:xfrm>
            <a:off x="480060" y="788670"/>
            <a:ext cx="3909060" cy="3977640"/>
          </a:xfrm>
          <a:prstGeom prst="roundRect">
            <a:avLst>
              <a:gd name="adj" fmla="val 6140"/>
            </a:avLst>
          </a:prstGeom>
          <a:solidFill>
            <a:srgbClr val="FFFFFF"/>
          </a:solidFill>
          <a:ln/>
          <a:effectLst>
            <a:outerShdw blurRad="190500" dist="76200" dir="5400000" algn="bl" rotWithShape="0">
              <a:srgbClr val="12213A">
                <a:alpha val="16000"/>
              </a:srgbClr>
            </a:outerShdw>
          </a:effectLst>
        </p:spPr>
      </p:sp>
      <p:sp>
        <p:nvSpPr>
          <p:cNvPr id="13" name="Text 10"/>
          <p:cNvSpPr/>
          <p:nvPr/>
        </p:nvSpPr>
        <p:spPr>
          <a:xfrm>
            <a:off x="4629150" y="822960"/>
            <a:ext cx="4046220" cy="240030"/>
          </a:xfrm>
          <a:prstGeom prst="rect">
            <a:avLst/>
          </a:prstGeom>
          <a:noFill/>
          <a:ln/>
        </p:spPr>
        <p:txBody>
          <a:bodyPr wrap="square" lIns="0" tIns="0" rIns="0" bIns="0" rtlCol="0" anchor="ctr"/>
          <a:lstStyle/>
          <a:p>
            <a:pPr marL="0" indent="0">
              <a:buNone/>
            </a:pPr>
            <a:r>
              <a:rPr lang="en-US" sz="900" b="1" kern="0" spc="150" dirty="0">
                <a:solidFill>
                  <a:srgbClr val="D97757"/>
                </a:solidFill>
                <a:latin typeface="Calibri" pitchFamily="34" charset="0"/>
                <a:ea typeface="Calibri" pitchFamily="34" charset="-122"/>
                <a:cs typeface="Calibri" pitchFamily="34" charset="-120"/>
              </a:rPr>
              <a:t>THE APPLICATION</a:t>
            </a:r>
            <a:endParaRPr lang="en-US" sz="900" dirty="0"/>
          </a:p>
        </p:txBody>
      </p:sp>
      <p:sp>
        <p:nvSpPr>
          <p:cNvPr id="14" name="Text 11"/>
          <p:cNvSpPr/>
          <p:nvPr/>
        </p:nvSpPr>
        <p:spPr>
          <a:xfrm>
            <a:off x="4629150" y="1062990"/>
            <a:ext cx="4046220" cy="891540"/>
          </a:xfrm>
          <a:prstGeom prst="rect">
            <a:avLst/>
          </a:prstGeom>
          <a:noFill/>
          <a:ln/>
        </p:spPr>
        <p:txBody>
          <a:bodyPr wrap="square" lIns="0" tIns="0" rIns="0" bIns="0" rtlCol="0" anchor="ctr"/>
          <a:lstStyle/>
          <a:p>
            <a:pPr>
              <a:lnSpc>
                <a:spcPct val="112000"/>
              </a:lnSpc>
            </a:pPr>
            <a:r>
              <a:rPr lang="en-US" sz="2025" b="1" dirty="0">
                <a:solidFill>
                  <a:srgbClr val="241F1A"/>
                </a:solidFill>
                <a:latin typeface="Cambria" pitchFamily="34" charset="0"/>
                <a:ea typeface="Cambria" pitchFamily="34" charset="-122"/>
                <a:cs typeface="Cambria" pitchFamily="34" charset="-120"/>
              </a:rPr>
              <a:t>Rohan asked for a loan. Then he waited four days.</a:t>
            </a:r>
            <a:endParaRPr lang="en-US" sz="2025" dirty="0"/>
          </a:p>
        </p:txBody>
      </p:sp>
      <p:sp>
        <p:nvSpPr>
          <p:cNvPr id="15" name="Shape 12"/>
          <p:cNvSpPr/>
          <p:nvPr/>
        </p:nvSpPr>
        <p:spPr>
          <a:xfrm>
            <a:off x="4629150" y="2023110"/>
            <a:ext cx="822960" cy="0"/>
          </a:xfrm>
          <a:prstGeom prst="line">
            <a:avLst/>
          </a:prstGeom>
          <a:noFill/>
          <a:ln w="28575">
            <a:solidFill>
              <a:srgbClr val="D97757"/>
            </a:solidFill>
            <a:prstDash val="solid"/>
          </a:ln>
        </p:spPr>
      </p:sp>
      <p:sp>
        <p:nvSpPr>
          <p:cNvPr id="16" name="Text 13"/>
          <p:cNvSpPr/>
          <p:nvPr/>
        </p:nvSpPr>
        <p:spPr>
          <a:xfrm>
            <a:off x="4615434" y="2023110"/>
            <a:ext cx="4046220" cy="1508760"/>
          </a:xfrm>
          <a:prstGeom prst="rect">
            <a:avLst/>
          </a:prstGeom>
          <a:noFill/>
          <a:ln/>
        </p:spPr>
        <p:txBody>
          <a:bodyPr wrap="square" lIns="0" tIns="0" rIns="0" bIns="0" rtlCol="0" anchor="ctr"/>
          <a:lstStyle/>
          <a:p>
            <a:pPr>
              <a:lnSpc>
                <a:spcPct val="145000"/>
              </a:lnSpc>
            </a:pPr>
            <a:r>
              <a:rPr lang="en-US" sz="1162" i="1" dirty="0">
                <a:solidFill>
                  <a:srgbClr val="3B362F"/>
                </a:solidFill>
                <a:latin typeface="Calibri" pitchFamily="34" charset="0"/>
                <a:ea typeface="Calibri" pitchFamily="34" charset="-122"/>
                <a:cs typeface="Calibri" pitchFamily="34" charset="-120"/>
              </a:rPr>
              <a:t>Rohan owns a small electronics shop. A big festival is coming, and he needs a loan to buy new products to sell before demand goes up. He applies for the loan, feeling hopeful. But one day turns into four. No one tells him what is happening. He has no idea if he will get the loan or not.</a:t>
            </a:r>
            <a:endParaRPr lang="en-US" sz="1162" dirty="0"/>
          </a:p>
        </p:txBody>
      </p:sp>
      <p:sp>
        <p:nvSpPr>
          <p:cNvPr id="17" name="Text 14"/>
          <p:cNvSpPr/>
          <p:nvPr/>
        </p:nvSpPr>
        <p:spPr>
          <a:xfrm>
            <a:off x="411480" y="4896612"/>
            <a:ext cx="5486400" cy="192024"/>
          </a:xfrm>
          <a:prstGeom prst="rect">
            <a:avLst/>
          </a:prstGeom>
          <a:noFill/>
          <a:ln/>
        </p:spPr>
        <p:txBody>
          <a:bodyPr wrap="square" rtlCol="0" anchor="ctr"/>
          <a:lstStyle/>
          <a:p>
            <a:pPr marL="0" indent="0" algn="l">
              <a:buNone/>
            </a:pPr>
            <a:r>
              <a:rPr lang="en-US" sz="712" dirty="0">
                <a:solidFill>
                  <a:srgbClr val="8A8378"/>
                </a:solidFill>
                <a:latin typeface="Calibri" pitchFamily="34" charset="0"/>
                <a:ea typeface="Calibri" pitchFamily="34" charset="-122"/>
                <a:cs typeface="Calibri" pitchFamily="34" charset="-120"/>
              </a:rPr>
              <a:t>THE OLD WAY</a:t>
            </a:r>
            <a:endParaRPr lang="en-US" sz="712" dirty="0"/>
          </a:p>
        </p:txBody>
      </p:sp>
      <p:sp>
        <p:nvSpPr>
          <p:cNvPr id="18" name="Text 15"/>
          <p:cNvSpPr/>
          <p:nvPr/>
        </p:nvSpPr>
        <p:spPr>
          <a:xfrm>
            <a:off x="6947154" y="4896612"/>
            <a:ext cx="1783080" cy="192024"/>
          </a:xfrm>
          <a:prstGeom prst="rect">
            <a:avLst/>
          </a:prstGeom>
          <a:noFill/>
          <a:ln/>
        </p:spPr>
        <p:txBody>
          <a:bodyPr wrap="square" rtlCol="0" anchor="ctr"/>
          <a:lstStyle/>
          <a:p>
            <a:pPr marL="0" indent="0" algn="r">
              <a:buNone/>
            </a:pPr>
            <a:r>
              <a:rPr lang="en-US" sz="712" dirty="0">
                <a:solidFill>
                  <a:srgbClr val="8A8378"/>
                </a:solidFill>
                <a:latin typeface="Calibri" pitchFamily="34" charset="0"/>
                <a:ea typeface="Calibri" pitchFamily="34" charset="-122"/>
                <a:cs typeface="Calibri" pitchFamily="34" charset="-120"/>
              </a:rPr>
              <a:t>Rohan's Story</a:t>
            </a:r>
            <a:endParaRPr lang="en-US" sz="712" dirty="0"/>
          </a:p>
        </p:txBody>
      </p:sp>
      <p:pic>
        <p:nvPicPr>
          <p:cNvPr id="19" name="Picture 18" descr="s4.png"/>
          <p:cNvPicPr>
            <a:picLocks noChangeAspect="1"/>
          </p:cNvPicPr>
          <p:nvPr/>
        </p:nvPicPr>
        <p:blipFill>
          <a:blip r:embed="rId2"/>
          <a:stretch>
            <a:fillRect/>
          </a:stretch>
        </p:blipFill>
        <p:spPr>
          <a:xfrm>
            <a:off x="480060" y="788670"/>
            <a:ext cx="3909060" cy="3977640"/>
          </a:xfrm>
          <a:prstGeom prst="rect">
            <a:avLst/>
          </a:prstGeom>
        </p:spPr>
      </p:pic>
    </p:spTree>
  </p:cSld>
  <p:clrMapOvr>
    <a:masterClrMapping/>
  </p:clrMapOvr>
  <p:transition spd="slow">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411480" y="342900"/>
            <a:ext cx="1577340" cy="260604"/>
          </a:xfrm>
          <a:prstGeom prst="roundRect">
            <a:avLst>
              <a:gd name="adj" fmla="val 50000"/>
            </a:avLst>
          </a:prstGeom>
          <a:solidFill>
            <a:srgbClr val="C1583B"/>
          </a:solidFill>
          <a:ln/>
        </p:spPr>
      </p:sp>
      <p:sp>
        <p:nvSpPr>
          <p:cNvPr id="3" name="Text 1"/>
          <p:cNvSpPr/>
          <p:nvPr/>
        </p:nvSpPr>
        <p:spPr>
          <a:xfrm>
            <a:off x="411480" y="342900"/>
            <a:ext cx="1577340" cy="260604"/>
          </a:xfrm>
          <a:prstGeom prst="rect">
            <a:avLst/>
          </a:prstGeom>
          <a:noFill/>
          <a:ln/>
        </p:spPr>
        <p:txBody>
          <a:bodyPr wrap="square" lIns="0" tIns="0" rIns="0" bIns="0" rtlCol="0" anchor="ctr"/>
          <a:lstStyle/>
          <a:p>
            <a:pPr marL="0" indent="0" algn="ctr">
              <a:buNone/>
            </a:pPr>
            <a:r>
              <a:rPr lang="en-US" sz="862" b="1" kern="0" spc="120" dirty="0">
                <a:solidFill>
                  <a:srgbClr val="FFFFFF"/>
                </a:solidFill>
                <a:latin typeface="Calibri" pitchFamily="34" charset="0"/>
                <a:ea typeface="Calibri" pitchFamily="34" charset="-122"/>
                <a:cs typeface="Calibri" pitchFamily="34" charset="-120"/>
              </a:rPr>
              <a:t>WHERE IT BROKE</a:t>
            </a:r>
            <a:endParaRPr lang="en-US" sz="862" dirty="0"/>
          </a:p>
        </p:txBody>
      </p:sp>
      <p:sp>
        <p:nvSpPr>
          <p:cNvPr id="4" name="Shape 2"/>
          <p:cNvSpPr/>
          <p:nvPr/>
        </p:nvSpPr>
        <p:spPr>
          <a:xfrm>
            <a:off x="7317486" y="411480"/>
            <a:ext cx="109728" cy="109728"/>
          </a:xfrm>
          <a:prstGeom prst="ellipse">
            <a:avLst/>
          </a:prstGeom>
          <a:solidFill>
            <a:srgbClr val="E4E0D6"/>
          </a:solidFill>
          <a:ln/>
        </p:spPr>
      </p:sp>
      <p:sp>
        <p:nvSpPr>
          <p:cNvPr id="5" name="Shape 3"/>
          <p:cNvSpPr/>
          <p:nvPr/>
        </p:nvSpPr>
        <p:spPr>
          <a:xfrm>
            <a:off x="7523226" y="411480"/>
            <a:ext cx="109728" cy="109728"/>
          </a:xfrm>
          <a:prstGeom prst="ellipse">
            <a:avLst/>
          </a:prstGeom>
          <a:solidFill>
            <a:srgbClr val="C1583B"/>
          </a:solidFill>
          <a:ln/>
        </p:spPr>
      </p:sp>
      <p:sp>
        <p:nvSpPr>
          <p:cNvPr id="6" name="Shape 4"/>
          <p:cNvSpPr/>
          <p:nvPr/>
        </p:nvSpPr>
        <p:spPr>
          <a:xfrm>
            <a:off x="7728966" y="411480"/>
            <a:ext cx="109728" cy="109728"/>
          </a:xfrm>
          <a:prstGeom prst="ellipse">
            <a:avLst/>
          </a:prstGeom>
          <a:solidFill>
            <a:srgbClr val="E4E0D6"/>
          </a:solidFill>
          <a:ln/>
        </p:spPr>
      </p:sp>
      <p:sp>
        <p:nvSpPr>
          <p:cNvPr id="7" name="Shape 5"/>
          <p:cNvSpPr/>
          <p:nvPr/>
        </p:nvSpPr>
        <p:spPr>
          <a:xfrm>
            <a:off x="7934706" y="411480"/>
            <a:ext cx="109728" cy="109728"/>
          </a:xfrm>
          <a:prstGeom prst="ellipse">
            <a:avLst/>
          </a:prstGeom>
          <a:solidFill>
            <a:srgbClr val="E4E0D6"/>
          </a:solidFill>
          <a:ln/>
        </p:spPr>
      </p:sp>
      <p:sp>
        <p:nvSpPr>
          <p:cNvPr id="11" name="Shape 9"/>
          <p:cNvSpPr/>
          <p:nvPr/>
        </p:nvSpPr>
        <p:spPr>
          <a:xfrm>
            <a:off x="480060" y="788670"/>
            <a:ext cx="3909060" cy="3977640"/>
          </a:xfrm>
          <a:prstGeom prst="roundRect">
            <a:avLst>
              <a:gd name="adj" fmla="val 6140"/>
            </a:avLst>
          </a:prstGeom>
          <a:solidFill>
            <a:srgbClr val="FFFFFF"/>
          </a:solidFill>
          <a:ln/>
          <a:effectLst>
            <a:outerShdw blurRad="190500" dist="76200" dir="5400000" algn="bl" rotWithShape="0">
              <a:srgbClr val="12213A">
                <a:alpha val="16000"/>
              </a:srgbClr>
            </a:outerShdw>
          </a:effectLst>
        </p:spPr>
      </p:sp>
      <p:sp>
        <p:nvSpPr>
          <p:cNvPr id="13" name="Text 10"/>
          <p:cNvSpPr/>
          <p:nvPr/>
        </p:nvSpPr>
        <p:spPr>
          <a:xfrm>
            <a:off x="4629150" y="822960"/>
            <a:ext cx="4046220" cy="240030"/>
          </a:xfrm>
          <a:prstGeom prst="rect">
            <a:avLst/>
          </a:prstGeom>
          <a:noFill/>
          <a:ln/>
        </p:spPr>
        <p:txBody>
          <a:bodyPr wrap="square" lIns="0" tIns="0" rIns="0" bIns="0" rtlCol="0" anchor="ctr"/>
          <a:lstStyle/>
          <a:p>
            <a:pPr marL="0" indent="0">
              <a:buNone/>
            </a:pPr>
            <a:r>
              <a:rPr lang="en-US" sz="900" b="1" kern="0" spc="150" dirty="0">
                <a:solidFill>
                  <a:srgbClr val="C1583B"/>
                </a:solidFill>
                <a:latin typeface="Calibri" pitchFamily="34" charset="0"/>
                <a:ea typeface="Calibri" pitchFamily="34" charset="-122"/>
                <a:cs typeface="Calibri" pitchFamily="34" charset="-120"/>
              </a:rPr>
              <a:t>THE ANSWER HE GOT</a:t>
            </a:r>
            <a:endParaRPr lang="en-US" sz="900" dirty="0"/>
          </a:p>
        </p:txBody>
      </p:sp>
      <p:sp>
        <p:nvSpPr>
          <p:cNvPr id="14" name="Text 11"/>
          <p:cNvSpPr/>
          <p:nvPr/>
        </p:nvSpPr>
        <p:spPr>
          <a:xfrm>
            <a:off x="4629150" y="1062990"/>
            <a:ext cx="4046220" cy="891540"/>
          </a:xfrm>
          <a:prstGeom prst="rect">
            <a:avLst/>
          </a:prstGeom>
          <a:noFill/>
          <a:ln/>
        </p:spPr>
        <p:txBody>
          <a:bodyPr wrap="square" lIns="0" tIns="0" rIns="0" bIns="0" rtlCol="0" anchor="ctr"/>
          <a:lstStyle/>
          <a:p>
            <a:pPr>
              <a:lnSpc>
                <a:spcPct val="112000"/>
              </a:lnSpc>
            </a:pPr>
            <a:r>
              <a:rPr lang="en-US" sz="2025" b="1" dirty="0">
                <a:solidFill>
                  <a:srgbClr val="241F1A"/>
                </a:solidFill>
                <a:latin typeface="Cambria" pitchFamily="34" charset="0"/>
                <a:ea typeface="Cambria" pitchFamily="34" charset="-122"/>
                <a:cs typeface="Cambria" pitchFamily="34" charset="-120"/>
              </a:rPr>
              <a:t>Loan Application Rejected — No Reason Given by the Bank</a:t>
            </a:r>
            <a:endParaRPr lang="en-US" sz="2025" dirty="0"/>
          </a:p>
        </p:txBody>
      </p:sp>
      <p:sp>
        <p:nvSpPr>
          <p:cNvPr id="15" name="Shape 12"/>
          <p:cNvSpPr/>
          <p:nvPr/>
        </p:nvSpPr>
        <p:spPr>
          <a:xfrm>
            <a:off x="4629150" y="2023110"/>
            <a:ext cx="822960" cy="0"/>
          </a:xfrm>
          <a:prstGeom prst="line">
            <a:avLst/>
          </a:prstGeom>
          <a:noFill/>
          <a:ln w="28575">
            <a:solidFill>
              <a:srgbClr val="C1583B"/>
            </a:solidFill>
            <a:prstDash val="solid"/>
          </a:ln>
        </p:spPr>
      </p:sp>
      <p:sp>
        <p:nvSpPr>
          <p:cNvPr id="16" name="Text 13"/>
          <p:cNvSpPr/>
          <p:nvPr/>
        </p:nvSpPr>
        <p:spPr>
          <a:xfrm>
            <a:off x="4629150" y="2194560"/>
            <a:ext cx="4046220" cy="1508760"/>
          </a:xfrm>
          <a:prstGeom prst="rect">
            <a:avLst/>
          </a:prstGeom>
          <a:noFill/>
          <a:ln/>
        </p:spPr>
        <p:txBody>
          <a:bodyPr wrap="square" lIns="0" tIns="0" rIns="0" bIns="0" rtlCol="0" anchor="ctr"/>
          <a:lstStyle/>
          <a:p>
            <a:pPr>
              <a:lnSpc>
                <a:spcPct val="145000"/>
              </a:lnSpc>
            </a:pPr>
            <a:r>
              <a:rPr lang="en-US" sz="1162" i="1" dirty="0">
                <a:solidFill>
                  <a:srgbClr val="3B362F"/>
                </a:solidFill>
                <a:latin typeface="Calibri" pitchFamily="34" charset="0"/>
                <a:ea typeface="Calibri" pitchFamily="34" charset="-122"/>
                <a:cs typeface="Calibri" pitchFamily="34" charset="-120"/>
              </a:rPr>
              <a:t>After four days of waiting, the answer is just one word: rejected. No one tells him why, and no one tells him what to fix. The festival does not wait for anyone. Rohan cannot buy new stock in time, and he loses more than a loan — he loses his best sales season of the year.</a:t>
            </a:r>
            <a:endParaRPr lang="en-US" sz="1162" dirty="0"/>
          </a:p>
        </p:txBody>
      </p:sp>
      <p:sp>
        <p:nvSpPr>
          <p:cNvPr id="17" name="Text 14"/>
          <p:cNvSpPr/>
          <p:nvPr/>
        </p:nvSpPr>
        <p:spPr>
          <a:xfrm>
            <a:off x="411480" y="4896612"/>
            <a:ext cx="5486400" cy="192024"/>
          </a:xfrm>
          <a:prstGeom prst="rect">
            <a:avLst/>
          </a:prstGeom>
          <a:noFill/>
          <a:ln/>
        </p:spPr>
        <p:txBody>
          <a:bodyPr wrap="square" rtlCol="0" anchor="ctr"/>
          <a:lstStyle/>
          <a:p>
            <a:pPr marL="0" indent="0" algn="l">
              <a:buNone/>
            </a:pPr>
            <a:r>
              <a:rPr lang="en-US" sz="712" dirty="0">
                <a:solidFill>
                  <a:srgbClr val="8A8378"/>
                </a:solidFill>
                <a:latin typeface="Calibri" pitchFamily="34" charset="0"/>
                <a:ea typeface="Calibri" pitchFamily="34" charset="-122"/>
                <a:cs typeface="Calibri" pitchFamily="34" charset="-120"/>
              </a:rPr>
              <a:t>WHERE IT BROKE</a:t>
            </a:r>
            <a:endParaRPr lang="en-US" sz="712" dirty="0"/>
          </a:p>
        </p:txBody>
      </p:sp>
      <p:sp>
        <p:nvSpPr>
          <p:cNvPr id="18" name="Text 15"/>
          <p:cNvSpPr/>
          <p:nvPr/>
        </p:nvSpPr>
        <p:spPr>
          <a:xfrm>
            <a:off x="6947154" y="4896612"/>
            <a:ext cx="1783080" cy="192024"/>
          </a:xfrm>
          <a:prstGeom prst="rect">
            <a:avLst/>
          </a:prstGeom>
          <a:noFill/>
          <a:ln/>
        </p:spPr>
        <p:txBody>
          <a:bodyPr wrap="square" rtlCol="0" anchor="ctr"/>
          <a:lstStyle/>
          <a:p>
            <a:pPr marL="0" indent="0" algn="r">
              <a:buNone/>
            </a:pPr>
            <a:r>
              <a:rPr lang="en-US" sz="712" dirty="0">
                <a:solidFill>
                  <a:srgbClr val="8A8378"/>
                </a:solidFill>
                <a:latin typeface="Calibri" pitchFamily="34" charset="0"/>
                <a:ea typeface="Calibri" pitchFamily="34" charset="-122"/>
                <a:cs typeface="Calibri" pitchFamily="34" charset="-120"/>
              </a:rPr>
              <a:t>Rohan's Story</a:t>
            </a:r>
            <a:endParaRPr lang="en-US" sz="712" dirty="0"/>
          </a:p>
        </p:txBody>
      </p:sp>
      <p:pic>
        <p:nvPicPr>
          <p:cNvPr id="19" name="Picture 18" descr="s4.png"/>
          <p:cNvPicPr>
            <a:picLocks noChangeAspect="1"/>
          </p:cNvPicPr>
          <p:nvPr/>
        </p:nvPicPr>
        <p:blipFill>
          <a:blip r:embed="rId2"/>
          <a:stretch>
            <a:fillRect/>
          </a:stretch>
        </p:blipFill>
        <p:spPr>
          <a:xfrm>
            <a:off x="480060" y="788670"/>
            <a:ext cx="3909060" cy="3977640"/>
          </a:xfrm>
          <a:prstGeom prst="rect">
            <a:avLst/>
          </a:prstGeom>
        </p:spPr>
      </p:pic>
    </p:spTree>
  </p:cSld>
  <p:clrMapOvr>
    <a:masterClrMapping/>
  </p:clrMapOvr>
  <p:transition spd="slow">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411480" y="342900"/>
            <a:ext cx="1577340" cy="260604"/>
          </a:xfrm>
          <a:prstGeom prst="roundRect">
            <a:avLst>
              <a:gd name="adj" fmla="val 50000"/>
            </a:avLst>
          </a:prstGeom>
          <a:solidFill>
            <a:srgbClr val="5C7A54"/>
          </a:solidFill>
          <a:ln/>
        </p:spPr>
      </p:sp>
      <p:sp>
        <p:nvSpPr>
          <p:cNvPr id="3" name="Text 1"/>
          <p:cNvSpPr/>
          <p:nvPr/>
        </p:nvSpPr>
        <p:spPr>
          <a:xfrm>
            <a:off x="411480" y="342900"/>
            <a:ext cx="1577340" cy="260604"/>
          </a:xfrm>
          <a:prstGeom prst="rect">
            <a:avLst/>
          </a:prstGeom>
          <a:noFill/>
          <a:ln/>
        </p:spPr>
        <p:txBody>
          <a:bodyPr wrap="square" lIns="0" tIns="0" rIns="0" bIns="0" rtlCol="0" anchor="ctr"/>
          <a:lstStyle/>
          <a:p>
            <a:pPr marL="0" indent="0" algn="ctr">
              <a:buNone/>
            </a:pPr>
            <a:r>
              <a:rPr lang="en-US" sz="862" b="1" kern="0" spc="120" dirty="0">
                <a:solidFill>
                  <a:srgbClr val="FFFFFF"/>
                </a:solidFill>
                <a:latin typeface="Calibri" pitchFamily="34" charset="0"/>
                <a:ea typeface="Calibri" pitchFamily="34" charset="-122"/>
                <a:cs typeface="Calibri" pitchFamily="34" charset="-120"/>
              </a:rPr>
              <a:t>THE NEW WAY</a:t>
            </a:r>
            <a:endParaRPr lang="en-US" sz="862" dirty="0"/>
          </a:p>
        </p:txBody>
      </p:sp>
      <p:sp>
        <p:nvSpPr>
          <p:cNvPr id="4" name="Shape 2"/>
          <p:cNvSpPr/>
          <p:nvPr/>
        </p:nvSpPr>
        <p:spPr>
          <a:xfrm>
            <a:off x="7317486" y="411480"/>
            <a:ext cx="109728" cy="109728"/>
          </a:xfrm>
          <a:prstGeom prst="ellipse">
            <a:avLst/>
          </a:prstGeom>
          <a:solidFill>
            <a:srgbClr val="E4E0D6"/>
          </a:solidFill>
          <a:ln/>
        </p:spPr>
      </p:sp>
      <p:sp>
        <p:nvSpPr>
          <p:cNvPr id="5" name="Shape 3"/>
          <p:cNvSpPr/>
          <p:nvPr/>
        </p:nvSpPr>
        <p:spPr>
          <a:xfrm>
            <a:off x="7523226" y="411480"/>
            <a:ext cx="109728" cy="109728"/>
          </a:xfrm>
          <a:prstGeom prst="ellipse">
            <a:avLst/>
          </a:prstGeom>
          <a:solidFill>
            <a:srgbClr val="E4E0D6"/>
          </a:solidFill>
          <a:ln/>
        </p:spPr>
      </p:sp>
      <p:sp>
        <p:nvSpPr>
          <p:cNvPr id="6" name="Shape 4"/>
          <p:cNvSpPr/>
          <p:nvPr/>
        </p:nvSpPr>
        <p:spPr>
          <a:xfrm>
            <a:off x="7728966" y="411480"/>
            <a:ext cx="109728" cy="109728"/>
          </a:xfrm>
          <a:prstGeom prst="ellipse">
            <a:avLst/>
          </a:prstGeom>
          <a:solidFill>
            <a:srgbClr val="5C7A54"/>
          </a:solidFill>
          <a:ln/>
        </p:spPr>
      </p:sp>
      <p:sp>
        <p:nvSpPr>
          <p:cNvPr id="7" name="Shape 5"/>
          <p:cNvSpPr/>
          <p:nvPr/>
        </p:nvSpPr>
        <p:spPr>
          <a:xfrm>
            <a:off x="7934706" y="411480"/>
            <a:ext cx="109728" cy="109728"/>
          </a:xfrm>
          <a:prstGeom prst="ellipse">
            <a:avLst/>
          </a:prstGeom>
          <a:solidFill>
            <a:srgbClr val="E4E0D6"/>
          </a:solidFill>
          <a:ln/>
        </p:spPr>
      </p:sp>
      <p:sp>
        <p:nvSpPr>
          <p:cNvPr id="11" name="Shape 9"/>
          <p:cNvSpPr/>
          <p:nvPr/>
        </p:nvSpPr>
        <p:spPr>
          <a:xfrm>
            <a:off x="480060" y="788670"/>
            <a:ext cx="3909060" cy="3977640"/>
          </a:xfrm>
          <a:prstGeom prst="roundRect">
            <a:avLst>
              <a:gd name="adj" fmla="val 6140"/>
            </a:avLst>
          </a:prstGeom>
          <a:solidFill>
            <a:srgbClr val="FFFFFF"/>
          </a:solidFill>
          <a:ln/>
          <a:effectLst>
            <a:outerShdw blurRad="190500" dist="76200" dir="5400000" algn="bl" rotWithShape="0">
              <a:srgbClr val="12213A">
                <a:alpha val="16000"/>
              </a:srgbClr>
            </a:outerShdw>
          </a:effectLst>
        </p:spPr>
      </p:sp>
      <p:sp>
        <p:nvSpPr>
          <p:cNvPr id="13" name="Text 10"/>
          <p:cNvSpPr/>
          <p:nvPr/>
        </p:nvSpPr>
        <p:spPr>
          <a:xfrm>
            <a:off x="4629150" y="822960"/>
            <a:ext cx="4046220" cy="240030"/>
          </a:xfrm>
          <a:prstGeom prst="rect">
            <a:avLst/>
          </a:prstGeom>
          <a:noFill/>
          <a:ln/>
        </p:spPr>
        <p:txBody>
          <a:bodyPr wrap="square" lIns="0" tIns="0" rIns="0" bIns="0" rtlCol="0" anchor="ctr"/>
          <a:lstStyle/>
          <a:p>
            <a:pPr marL="0" indent="0">
              <a:buNone/>
            </a:pPr>
            <a:r>
              <a:rPr lang="en-US" sz="900" b="1" kern="0" spc="150" dirty="0">
                <a:solidFill>
                  <a:srgbClr val="5C7A54"/>
                </a:solidFill>
                <a:latin typeface="Calibri" pitchFamily="34" charset="0"/>
                <a:ea typeface="Calibri" pitchFamily="34" charset="-122"/>
                <a:cs typeface="Calibri" pitchFamily="34" charset="-120"/>
              </a:rPr>
              <a:t>THE TURNING POINT</a:t>
            </a:r>
            <a:endParaRPr lang="en-US" sz="900" dirty="0"/>
          </a:p>
        </p:txBody>
      </p:sp>
      <p:sp>
        <p:nvSpPr>
          <p:cNvPr id="14" name="Text 11"/>
          <p:cNvSpPr/>
          <p:nvPr/>
        </p:nvSpPr>
        <p:spPr>
          <a:xfrm>
            <a:off x="4629150" y="1062990"/>
            <a:ext cx="4046220" cy="891540"/>
          </a:xfrm>
          <a:prstGeom prst="rect">
            <a:avLst/>
          </a:prstGeom>
          <a:noFill/>
          <a:ln/>
        </p:spPr>
        <p:txBody>
          <a:bodyPr wrap="square" lIns="0" tIns="0" rIns="0" bIns="0" rtlCol="0" anchor="ctr"/>
          <a:lstStyle/>
          <a:p>
            <a:pPr marL="0" indent="0">
              <a:lnSpc>
                <a:spcPct val="112000"/>
              </a:lnSpc>
              <a:buNone/>
            </a:pPr>
            <a:r>
              <a:rPr lang="en-US" sz="2025" b="1" dirty="0">
                <a:solidFill>
                  <a:srgbClr val="241F1A"/>
                </a:solidFill>
                <a:latin typeface="Cambria" pitchFamily="34" charset="0"/>
                <a:ea typeface="Cambria" pitchFamily="34" charset="-122"/>
                <a:cs typeface="Cambria" pitchFamily="34" charset="-120"/>
              </a:rPr>
              <a:t>The same documents. This time, read in minutes.</a:t>
            </a:r>
            <a:endParaRPr lang="en-US" sz="2025" dirty="0"/>
          </a:p>
        </p:txBody>
      </p:sp>
      <p:sp>
        <p:nvSpPr>
          <p:cNvPr id="15" name="Shape 12"/>
          <p:cNvSpPr/>
          <p:nvPr/>
        </p:nvSpPr>
        <p:spPr>
          <a:xfrm>
            <a:off x="4629150" y="2023110"/>
            <a:ext cx="822960" cy="0"/>
          </a:xfrm>
          <a:prstGeom prst="line">
            <a:avLst/>
          </a:prstGeom>
          <a:noFill/>
          <a:ln w="28575">
            <a:solidFill>
              <a:srgbClr val="5C7A54"/>
            </a:solidFill>
            <a:prstDash val="solid"/>
          </a:ln>
        </p:spPr>
      </p:sp>
      <p:sp>
        <p:nvSpPr>
          <p:cNvPr id="16" name="Text 13"/>
          <p:cNvSpPr/>
          <p:nvPr/>
        </p:nvSpPr>
        <p:spPr>
          <a:xfrm>
            <a:off x="4629150" y="2194560"/>
            <a:ext cx="4046220" cy="1508760"/>
          </a:xfrm>
          <a:prstGeom prst="rect">
            <a:avLst/>
          </a:prstGeom>
          <a:noFill/>
          <a:ln/>
        </p:spPr>
        <p:txBody>
          <a:bodyPr wrap="square" lIns="0" tIns="0" rIns="0" bIns="0" rtlCol="0" anchor="ctr"/>
          <a:lstStyle/>
          <a:p>
            <a:pPr>
              <a:lnSpc>
                <a:spcPct val="145000"/>
              </a:lnSpc>
            </a:pPr>
            <a:r>
              <a:rPr lang="en-US" sz="1162" i="1" dirty="0">
                <a:solidFill>
                  <a:srgbClr val="3B362F"/>
                </a:solidFill>
                <a:latin typeface="Calibri" pitchFamily="34" charset="0"/>
                <a:ea typeface="Calibri" pitchFamily="34" charset="-122"/>
                <a:cs typeface="Calibri" pitchFamily="34" charset="-120"/>
              </a:rPr>
              <a:t>This time, before he applies again, Rohan uploads his documents to the Credit Risk Intelligence Platform recommended by his friend. In minutes, it shows him exactly why he was rejected — and what he needs to fix. He fixes it, then applies again, feeling sure this time.</a:t>
            </a:r>
            <a:endParaRPr lang="en-US" sz="1162" dirty="0"/>
          </a:p>
        </p:txBody>
      </p:sp>
      <p:sp>
        <p:nvSpPr>
          <p:cNvPr id="17" name="Text 14"/>
          <p:cNvSpPr/>
          <p:nvPr/>
        </p:nvSpPr>
        <p:spPr>
          <a:xfrm>
            <a:off x="411480" y="4896612"/>
            <a:ext cx="5486400" cy="192024"/>
          </a:xfrm>
          <a:prstGeom prst="rect">
            <a:avLst/>
          </a:prstGeom>
          <a:noFill/>
          <a:ln/>
        </p:spPr>
        <p:txBody>
          <a:bodyPr wrap="square" rtlCol="0" anchor="ctr"/>
          <a:lstStyle/>
          <a:p>
            <a:pPr marL="0" indent="0" algn="l">
              <a:buNone/>
            </a:pPr>
            <a:r>
              <a:rPr lang="en-US" sz="712" dirty="0">
                <a:solidFill>
                  <a:srgbClr val="8A8378"/>
                </a:solidFill>
                <a:latin typeface="Calibri" pitchFamily="34" charset="0"/>
                <a:ea typeface="Calibri" pitchFamily="34" charset="-122"/>
                <a:cs typeface="Calibri" pitchFamily="34" charset="-120"/>
              </a:rPr>
              <a:t>THE NEW WAY</a:t>
            </a:r>
            <a:endParaRPr lang="en-US" sz="712" dirty="0"/>
          </a:p>
        </p:txBody>
      </p:sp>
      <p:sp>
        <p:nvSpPr>
          <p:cNvPr id="18" name="Text 15"/>
          <p:cNvSpPr/>
          <p:nvPr/>
        </p:nvSpPr>
        <p:spPr>
          <a:xfrm>
            <a:off x="6947154" y="4896612"/>
            <a:ext cx="1783080" cy="192024"/>
          </a:xfrm>
          <a:prstGeom prst="rect">
            <a:avLst/>
          </a:prstGeom>
          <a:noFill/>
          <a:ln/>
        </p:spPr>
        <p:txBody>
          <a:bodyPr wrap="square" rtlCol="0" anchor="ctr"/>
          <a:lstStyle/>
          <a:p>
            <a:pPr marL="0" indent="0" algn="r">
              <a:buNone/>
            </a:pPr>
            <a:r>
              <a:rPr lang="en-US" sz="712" dirty="0">
                <a:solidFill>
                  <a:srgbClr val="8A8378"/>
                </a:solidFill>
                <a:latin typeface="Calibri" pitchFamily="34" charset="0"/>
                <a:ea typeface="Calibri" pitchFamily="34" charset="-122"/>
                <a:cs typeface="Calibri" pitchFamily="34" charset="-120"/>
              </a:rPr>
              <a:t>Rohan's Story</a:t>
            </a:r>
            <a:endParaRPr lang="en-US" sz="712" dirty="0"/>
          </a:p>
        </p:txBody>
      </p:sp>
      <p:pic>
        <p:nvPicPr>
          <p:cNvPr id="19" name="Picture 18" descr="s7.png"/>
          <p:cNvPicPr>
            <a:picLocks noChangeAspect="1"/>
          </p:cNvPicPr>
          <p:nvPr/>
        </p:nvPicPr>
        <p:blipFill>
          <a:blip r:embed="rId2"/>
          <a:stretch>
            <a:fillRect/>
          </a:stretch>
        </p:blipFill>
        <p:spPr>
          <a:xfrm>
            <a:off x="480060" y="788670"/>
            <a:ext cx="3909060" cy="3977640"/>
          </a:xfrm>
          <a:prstGeom prst="rect">
            <a:avLst/>
          </a:prstGeom>
        </p:spPr>
      </p:pic>
    </p:spTree>
  </p:cSld>
  <p:clrMapOvr>
    <a:masterClrMapping/>
  </p:clrMapOvr>
  <p:transition spd="slow">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411480" y="342900"/>
            <a:ext cx="1577340" cy="260604"/>
          </a:xfrm>
          <a:prstGeom prst="roundRect">
            <a:avLst>
              <a:gd name="adj" fmla="val 50000"/>
            </a:avLst>
          </a:prstGeom>
          <a:solidFill>
            <a:srgbClr val="5C7A54"/>
          </a:solidFill>
          <a:ln/>
        </p:spPr>
      </p:sp>
      <p:sp>
        <p:nvSpPr>
          <p:cNvPr id="3" name="Text 1"/>
          <p:cNvSpPr/>
          <p:nvPr/>
        </p:nvSpPr>
        <p:spPr>
          <a:xfrm>
            <a:off x="411480" y="342900"/>
            <a:ext cx="1577340" cy="260604"/>
          </a:xfrm>
          <a:prstGeom prst="rect">
            <a:avLst/>
          </a:prstGeom>
          <a:noFill/>
          <a:ln/>
        </p:spPr>
        <p:txBody>
          <a:bodyPr wrap="square" lIns="0" tIns="0" rIns="0" bIns="0" rtlCol="0" anchor="ctr"/>
          <a:lstStyle/>
          <a:p>
            <a:pPr marL="0" indent="0" algn="ctr">
              <a:buNone/>
            </a:pPr>
            <a:r>
              <a:rPr lang="en-US" sz="862" b="1" kern="0" spc="120" dirty="0">
                <a:solidFill>
                  <a:srgbClr val="FFFFFF"/>
                </a:solidFill>
                <a:latin typeface="Calibri" pitchFamily="34" charset="0"/>
                <a:ea typeface="Calibri" pitchFamily="34" charset="-122"/>
                <a:cs typeface="Calibri" pitchFamily="34" charset="-120"/>
              </a:rPr>
              <a:t>THE NEW WAY</a:t>
            </a:r>
            <a:endParaRPr lang="en-US" sz="862" dirty="0"/>
          </a:p>
        </p:txBody>
      </p:sp>
      <p:sp>
        <p:nvSpPr>
          <p:cNvPr id="4" name="Shape 2"/>
          <p:cNvSpPr/>
          <p:nvPr/>
        </p:nvSpPr>
        <p:spPr>
          <a:xfrm>
            <a:off x="7317486" y="411480"/>
            <a:ext cx="109728" cy="109728"/>
          </a:xfrm>
          <a:prstGeom prst="ellipse">
            <a:avLst/>
          </a:prstGeom>
          <a:solidFill>
            <a:srgbClr val="E4E0D6"/>
          </a:solidFill>
          <a:ln/>
        </p:spPr>
      </p:sp>
      <p:sp>
        <p:nvSpPr>
          <p:cNvPr id="5" name="Shape 3"/>
          <p:cNvSpPr/>
          <p:nvPr/>
        </p:nvSpPr>
        <p:spPr>
          <a:xfrm>
            <a:off x="7523226" y="411480"/>
            <a:ext cx="109728" cy="109728"/>
          </a:xfrm>
          <a:prstGeom prst="ellipse">
            <a:avLst/>
          </a:prstGeom>
          <a:solidFill>
            <a:srgbClr val="E4E0D6"/>
          </a:solidFill>
          <a:ln/>
        </p:spPr>
      </p:sp>
      <p:sp>
        <p:nvSpPr>
          <p:cNvPr id="6" name="Shape 4"/>
          <p:cNvSpPr/>
          <p:nvPr/>
        </p:nvSpPr>
        <p:spPr>
          <a:xfrm>
            <a:off x="7728966" y="411480"/>
            <a:ext cx="109728" cy="109728"/>
          </a:xfrm>
          <a:prstGeom prst="ellipse">
            <a:avLst/>
          </a:prstGeom>
          <a:solidFill>
            <a:srgbClr val="E4E0D6"/>
          </a:solidFill>
          <a:ln/>
        </p:spPr>
      </p:sp>
      <p:sp>
        <p:nvSpPr>
          <p:cNvPr id="7" name="Shape 5"/>
          <p:cNvSpPr/>
          <p:nvPr/>
        </p:nvSpPr>
        <p:spPr>
          <a:xfrm>
            <a:off x="7934706" y="411480"/>
            <a:ext cx="109728" cy="109728"/>
          </a:xfrm>
          <a:prstGeom prst="ellipse">
            <a:avLst/>
          </a:prstGeom>
          <a:solidFill>
            <a:srgbClr val="5C7A54"/>
          </a:solidFill>
          <a:ln/>
        </p:spPr>
      </p:sp>
      <p:sp>
        <p:nvSpPr>
          <p:cNvPr id="11" name="Shape 9"/>
          <p:cNvSpPr/>
          <p:nvPr/>
        </p:nvSpPr>
        <p:spPr>
          <a:xfrm>
            <a:off x="480060" y="788670"/>
            <a:ext cx="3909060" cy="3977640"/>
          </a:xfrm>
          <a:prstGeom prst="roundRect">
            <a:avLst>
              <a:gd name="adj" fmla="val 6140"/>
            </a:avLst>
          </a:prstGeom>
          <a:solidFill>
            <a:srgbClr val="FFFFFF"/>
          </a:solidFill>
          <a:ln/>
          <a:effectLst>
            <a:outerShdw blurRad="190500" dist="76200" dir="5400000" algn="bl" rotWithShape="0">
              <a:srgbClr val="12213A">
                <a:alpha val="16000"/>
              </a:srgbClr>
            </a:outerShdw>
          </a:effectLst>
        </p:spPr>
      </p:sp>
      <p:sp>
        <p:nvSpPr>
          <p:cNvPr id="13" name="Text 10"/>
          <p:cNvSpPr/>
          <p:nvPr/>
        </p:nvSpPr>
        <p:spPr>
          <a:xfrm>
            <a:off x="4629150" y="822960"/>
            <a:ext cx="4046220" cy="240030"/>
          </a:xfrm>
          <a:prstGeom prst="rect">
            <a:avLst/>
          </a:prstGeom>
          <a:noFill/>
          <a:ln/>
        </p:spPr>
        <p:txBody>
          <a:bodyPr wrap="square" lIns="0" tIns="0" rIns="0" bIns="0" rtlCol="0" anchor="ctr"/>
          <a:lstStyle/>
          <a:p>
            <a:pPr marL="0" indent="0">
              <a:buNone/>
            </a:pPr>
            <a:r>
              <a:rPr lang="en-US" sz="900" b="1" kern="0" spc="150" dirty="0">
                <a:solidFill>
                  <a:srgbClr val="5C7A54"/>
                </a:solidFill>
                <a:latin typeface="Calibri" pitchFamily="34" charset="0"/>
                <a:ea typeface="Calibri" pitchFamily="34" charset="-122"/>
                <a:cs typeface="Calibri" pitchFamily="34" charset="-120"/>
              </a:rPr>
              <a:t>THE NEW NORMAL</a:t>
            </a:r>
            <a:endParaRPr lang="en-US" sz="900" dirty="0"/>
          </a:p>
        </p:txBody>
      </p:sp>
      <p:sp>
        <p:nvSpPr>
          <p:cNvPr id="14" name="Text 11"/>
          <p:cNvSpPr/>
          <p:nvPr/>
        </p:nvSpPr>
        <p:spPr>
          <a:xfrm>
            <a:off x="4629150" y="1062990"/>
            <a:ext cx="4046220" cy="891540"/>
          </a:xfrm>
          <a:prstGeom prst="rect">
            <a:avLst/>
          </a:prstGeom>
          <a:noFill/>
          <a:ln/>
        </p:spPr>
        <p:txBody>
          <a:bodyPr wrap="square" lIns="0" tIns="0" rIns="0" bIns="0" rtlCol="0" anchor="ctr"/>
          <a:lstStyle/>
          <a:p>
            <a:pPr marL="0" indent="0">
              <a:lnSpc>
                <a:spcPct val="112000"/>
              </a:lnSpc>
              <a:buNone/>
            </a:pPr>
            <a:r>
              <a:rPr lang="en-US" sz="2025" b="1" dirty="0">
                <a:solidFill>
                  <a:srgbClr val="241F1A"/>
                </a:solidFill>
                <a:latin typeface="Cambria" pitchFamily="34" charset="0"/>
                <a:ea typeface="Cambria" pitchFamily="34" charset="-122"/>
                <a:cs typeface="Cambria" pitchFamily="34" charset="-120"/>
              </a:rPr>
              <a:t>Approved. And this time, he knows why.</a:t>
            </a:r>
            <a:endParaRPr lang="en-US" sz="2025" dirty="0"/>
          </a:p>
        </p:txBody>
      </p:sp>
      <p:sp>
        <p:nvSpPr>
          <p:cNvPr id="15" name="Shape 12"/>
          <p:cNvSpPr/>
          <p:nvPr/>
        </p:nvSpPr>
        <p:spPr>
          <a:xfrm>
            <a:off x="4629150" y="2023110"/>
            <a:ext cx="822960" cy="0"/>
          </a:xfrm>
          <a:prstGeom prst="line">
            <a:avLst/>
          </a:prstGeom>
          <a:noFill/>
          <a:ln w="28575">
            <a:solidFill>
              <a:srgbClr val="5C7A54"/>
            </a:solidFill>
            <a:prstDash val="solid"/>
          </a:ln>
        </p:spPr>
      </p:sp>
      <p:sp>
        <p:nvSpPr>
          <p:cNvPr id="16" name="Text 13"/>
          <p:cNvSpPr/>
          <p:nvPr/>
        </p:nvSpPr>
        <p:spPr>
          <a:xfrm>
            <a:off x="4629150" y="2194560"/>
            <a:ext cx="4046220" cy="1508760"/>
          </a:xfrm>
          <a:prstGeom prst="rect">
            <a:avLst/>
          </a:prstGeom>
          <a:noFill/>
          <a:ln/>
        </p:spPr>
        <p:txBody>
          <a:bodyPr wrap="square" lIns="0" tIns="0" rIns="0" bIns="0" rtlCol="0" anchor="ctr"/>
          <a:lstStyle/>
          <a:p>
            <a:pPr>
              <a:lnSpc>
                <a:spcPct val="145000"/>
              </a:lnSpc>
            </a:pPr>
            <a:r>
              <a:rPr lang="en-US" sz="1162" i="1" dirty="0">
                <a:solidFill>
                  <a:srgbClr val="3B362F"/>
                </a:solidFill>
                <a:latin typeface="Calibri" pitchFamily="34" charset="0"/>
                <a:ea typeface="Calibri" pitchFamily="34" charset="-122"/>
                <a:cs typeface="Calibri" pitchFamily="34" charset="-120"/>
              </a:rPr>
              <a:t>Rohan gets his inventory in time for the festival. The bank keeps a happy customer instead of losing one. Same papers, read the right way this time — by the bank and by Rohan. Rohan is just one person. But this platform is built to give every person a clear answer, not just a yes or no.</a:t>
            </a:r>
            <a:endParaRPr lang="en-US" sz="1162" dirty="0"/>
          </a:p>
        </p:txBody>
      </p:sp>
      <p:sp>
        <p:nvSpPr>
          <p:cNvPr id="17" name="Text 14"/>
          <p:cNvSpPr/>
          <p:nvPr/>
        </p:nvSpPr>
        <p:spPr>
          <a:xfrm>
            <a:off x="411480" y="4896612"/>
            <a:ext cx="5486400" cy="192024"/>
          </a:xfrm>
          <a:prstGeom prst="rect">
            <a:avLst/>
          </a:prstGeom>
          <a:noFill/>
          <a:ln/>
        </p:spPr>
        <p:txBody>
          <a:bodyPr wrap="square" rtlCol="0" anchor="ctr"/>
          <a:lstStyle/>
          <a:p>
            <a:pPr marL="0" indent="0" algn="l">
              <a:buNone/>
            </a:pPr>
            <a:r>
              <a:rPr lang="en-US" sz="712" dirty="0">
                <a:solidFill>
                  <a:srgbClr val="8A8378"/>
                </a:solidFill>
                <a:latin typeface="Calibri" pitchFamily="34" charset="0"/>
                <a:ea typeface="Calibri" pitchFamily="34" charset="-122"/>
                <a:cs typeface="Calibri" pitchFamily="34" charset="-120"/>
              </a:rPr>
              <a:t>THE NEW WAY</a:t>
            </a:r>
            <a:endParaRPr lang="en-US" sz="712" dirty="0"/>
          </a:p>
        </p:txBody>
      </p:sp>
      <p:sp>
        <p:nvSpPr>
          <p:cNvPr id="18" name="Text 15"/>
          <p:cNvSpPr/>
          <p:nvPr/>
        </p:nvSpPr>
        <p:spPr>
          <a:xfrm>
            <a:off x="6947154" y="4896612"/>
            <a:ext cx="1783080" cy="192024"/>
          </a:xfrm>
          <a:prstGeom prst="rect">
            <a:avLst/>
          </a:prstGeom>
          <a:noFill/>
          <a:ln/>
        </p:spPr>
        <p:txBody>
          <a:bodyPr wrap="square" rtlCol="0" anchor="ctr"/>
          <a:lstStyle/>
          <a:p>
            <a:pPr marL="0" indent="0" algn="r">
              <a:buNone/>
            </a:pPr>
            <a:r>
              <a:rPr lang="en-US" sz="712" dirty="0">
                <a:solidFill>
                  <a:srgbClr val="8A8378"/>
                </a:solidFill>
                <a:latin typeface="Calibri" pitchFamily="34" charset="0"/>
                <a:ea typeface="Calibri" pitchFamily="34" charset="-122"/>
                <a:cs typeface="Calibri" pitchFamily="34" charset="-120"/>
              </a:rPr>
              <a:t>Rohan's Story</a:t>
            </a:r>
            <a:endParaRPr lang="en-US" sz="712" dirty="0"/>
          </a:p>
        </p:txBody>
      </p:sp>
      <p:pic>
        <p:nvPicPr>
          <p:cNvPr id="19" name="Picture 18" descr="s9.png"/>
          <p:cNvPicPr>
            <a:picLocks noChangeAspect="1"/>
          </p:cNvPicPr>
          <p:nvPr/>
        </p:nvPicPr>
        <p:blipFill>
          <a:blip r:embed="rId2"/>
          <a:stretch>
            <a:fillRect/>
          </a:stretch>
        </p:blipFill>
        <p:spPr>
          <a:xfrm>
            <a:off x="480060" y="788670"/>
            <a:ext cx="3909060" cy="3977640"/>
          </a:xfrm>
          <a:prstGeom prst="rect">
            <a:avLst/>
          </a:prstGeom>
        </p:spPr>
      </p:pic>
    </p:spTree>
  </p:cSld>
  <p:clrMapOvr>
    <a:masterClrMapping/>
  </p:clrMapOvr>
  <p:transition spd="slow">
    <p:fade/>
  </p:transition>
</p:sld>
</file>

<file path=ppt/slides/slide6.xml><?xml version="1.0" encoding="utf-8"?>
<p:sld xmlns:a="http://schemas.openxmlformats.org/drawingml/2006/main" xmlns:r="http://schemas.openxmlformats.org/officeDocument/2006/relationships" xmlns:p="http://schemas.openxmlformats.org/presentationml/2006/main">
  <p:cSld name="Slide 9">
    <p:bg>
      <p:bgPr>
        <a:solidFill>
          <a:srgbClr val="12213A"/>
        </a:solidFill>
        <a:effectLst/>
      </p:bgPr>
    </p:bg>
    <p:spTree>
      <p:nvGrpSpPr>
        <p:cNvPr id="1" name=""/>
        <p:cNvGrpSpPr/>
        <p:nvPr/>
      </p:nvGrpSpPr>
      <p:grpSpPr>
        <a:xfrm>
          <a:off x="0" y="0"/>
          <a:ext cx="0" cy="0"/>
          <a:chOff x="0" y="0"/>
          <a:chExt cx="0" cy="0"/>
        </a:xfrm>
      </p:grpSpPr>
      <p:sp>
        <p:nvSpPr>
          <p:cNvPr id="2" name="Shape 0"/>
          <p:cNvSpPr/>
          <p:nvPr/>
        </p:nvSpPr>
        <p:spPr>
          <a:xfrm>
            <a:off x="0" y="0"/>
            <a:ext cx="9141714" cy="5143500"/>
          </a:xfrm>
          <a:prstGeom prst="rect">
            <a:avLst/>
          </a:prstGeom>
          <a:solidFill>
            <a:srgbClr val="12213A"/>
          </a:solidFill>
          <a:ln/>
        </p:spPr>
      </p:sp>
      <p:sp>
        <p:nvSpPr>
          <p:cNvPr id="3" name="Text 1"/>
          <p:cNvSpPr/>
          <p:nvPr/>
        </p:nvSpPr>
        <p:spPr>
          <a:xfrm>
            <a:off x="0" y="1028700"/>
            <a:ext cx="9141714" cy="274320"/>
          </a:xfrm>
          <a:prstGeom prst="rect">
            <a:avLst/>
          </a:prstGeom>
          <a:noFill/>
          <a:ln/>
        </p:spPr>
        <p:txBody>
          <a:bodyPr wrap="square" lIns="0" tIns="0" rIns="0" bIns="0" rtlCol="0" anchor="ctr"/>
          <a:lstStyle/>
          <a:p>
            <a:pPr marL="0" indent="0" algn="ctr">
              <a:buNone/>
            </a:pPr>
            <a:r>
              <a:rPr lang="en-US" sz="975" b="1" kern="0" spc="250" dirty="0">
                <a:solidFill>
                  <a:srgbClr val="7C8CE8"/>
                </a:solidFill>
                <a:latin typeface="Calibri" pitchFamily="34" charset="0"/>
                <a:ea typeface="Calibri" pitchFamily="34" charset="-122"/>
                <a:cs typeface="Calibri" pitchFamily="34" charset="-120"/>
              </a:rPr>
              <a:t>IN ONE SENTENCE</a:t>
            </a:r>
            <a:endParaRPr lang="en-US" sz="975" dirty="0"/>
          </a:p>
        </p:txBody>
      </p:sp>
      <p:sp>
        <p:nvSpPr>
          <p:cNvPr id="4" name="Text 2"/>
          <p:cNvSpPr/>
          <p:nvPr/>
        </p:nvSpPr>
        <p:spPr>
          <a:xfrm>
            <a:off x="1028700" y="1440180"/>
            <a:ext cx="7084314" cy="1508760"/>
          </a:xfrm>
          <a:prstGeom prst="rect">
            <a:avLst/>
          </a:prstGeom>
          <a:noFill/>
          <a:ln/>
        </p:spPr>
        <p:txBody>
          <a:bodyPr wrap="square" lIns="0" tIns="0" rIns="0" bIns="0" rtlCol="0" anchor="ctr"/>
          <a:lstStyle/>
          <a:p>
            <a:pPr marL="0" indent="0" algn="ctr">
              <a:lnSpc>
                <a:spcPct val="130000"/>
              </a:lnSpc>
              <a:buNone/>
            </a:pPr>
            <a:r>
              <a:rPr lang="en-US" sz="2400" b="1" dirty="0">
                <a:solidFill>
                  <a:srgbClr val="FFFFFF"/>
                </a:solidFill>
                <a:latin typeface="Cambria" pitchFamily="34" charset="0"/>
                <a:ea typeface="Cambria" pitchFamily="34" charset="-122"/>
                <a:cs typeface="Cambria" pitchFamily="34" charset="-120"/>
              </a:rPr>
              <a:t>A loan decision that used to take days</a:t>
            </a:r>
            <a:endParaRPr lang="en-US" sz="2400" dirty="0"/>
          </a:p>
          <a:p>
            <a:pPr marL="0" indent="0" algn="ctr">
              <a:lnSpc>
                <a:spcPct val="130000"/>
              </a:lnSpc>
              <a:buNone/>
            </a:pPr>
            <a:r>
              <a:rPr lang="en-US" sz="2400" b="1" dirty="0">
                <a:solidFill>
                  <a:srgbClr val="FFFFFF"/>
                </a:solidFill>
                <a:latin typeface="Cambria" pitchFamily="34" charset="0"/>
                <a:ea typeface="Cambria" pitchFamily="34" charset="-122"/>
                <a:cs typeface="Cambria" pitchFamily="34" charset="-120"/>
              </a:rPr>
              <a:t>and still felt unfair now takes minutes —</a:t>
            </a:r>
            <a:endParaRPr lang="en-US" sz="2400" dirty="0"/>
          </a:p>
          <a:p>
            <a:pPr marL="0" indent="0" algn="ctr">
              <a:lnSpc>
                <a:spcPct val="130000"/>
              </a:lnSpc>
              <a:buNone/>
            </a:pPr>
            <a:r>
              <a:rPr lang="en-US" sz="2400" b="1" dirty="0">
                <a:solidFill>
                  <a:srgbClr val="FFFFFF"/>
                </a:solidFill>
                <a:latin typeface="Cambria" pitchFamily="34" charset="0"/>
                <a:ea typeface="Cambria" pitchFamily="34" charset="-122"/>
                <a:cs typeface="Cambria" pitchFamily="34" charset="-120"/>
              </a:rPr>
              <a:t>and finally explains itself.</a:t>
            </a:r>
            <a:endParaRPr lang="en-US" sz="2400" dirty="0"/>
          </a:p>
        </p:txBody>
      </p:sp>
      <p:sp>
        <p:nvSpPr>
          <p:cNvPr id="5" name="Shape 3"/>
          <p:cNvSpPr/>
          <p:nvPr/>
        </p:nvSpPr>
        <p:spPr>
          <a:xfrm>
            <a:off x="3888486" y="3086100"/>
            <a:ext cx="1371600" cy="0"/>
          </a:xfrm>
          <a:prstGeom prst="line">
            <a:avLst/>
          </a:prstGeom>
          <a:noFill/>
          <a:ln w="9525">
            <a:solidFill>
              <a:srgbClr val="2E3D5E"/>
            </a:solidFill>
            <a:prstDash val="solid"/>
          </a:ln>
        </p:spPr>
      </p:sp>
      <p:sp>
        <p:nvSpPr>
          <p:cNvPr id="6" name="Text 4"/>
          <p:cNvSpPr/>
          <p:nvPr/>
        </p:nvSpPr>
        <p:spPr>
          <a:xfrm>
            <a:off x="1714500" y="3257550"/>
            <a:ext cx="5712714" cy="685800"/>
          </a:xfrm>
          <a:prstGeom prst="rect">
            <a:avLst/>
          </a:prstGeom>
          <a:noFill/>
          <a:ln/>
        </p:spPr>
        <p:txBody>
          <a:bodyPr wrap="square" lIns="0" tIns="0" rIns="0" bIns="0" rtlCol="0" anchor="ctr"/>
          <a:lstStyle/>
          <a:p>
            <a:pPr marL="0" indent="0" algn="ctr">
              <a:lnSpc>
                <a:spcPct val="135000"/>
              </a:lnSpc>
              <a:buNone/>
            </a:pPr>
            <a:r>
              <a:rPr lang="en-US" sz="1012" i="1" dirty="0">
                <a:solidFill>
                  <a:srgbClr val="C9D2E8"/>
                </a:solidFill>
                <a:latin typeface="Calibri" pitchFamily="34" charset="0"/>
                <a:ea typeface="Calibri" pitchFamily="34" charset="-122"/>
                <a:cs typeface="Calibri" pitchFamily="34" charset="-120"/>
              </a:rPr>
              <a:t>Rohan's story is one applicant. The platform behind it — built on real documents, real risk scoring, and a mandatory human sign-off — is built to give every applicant an answer, not just a stamp.</a:t>
            </a:r>
            <a:endParaRPr lang="en-US" sz="1012" dirty="0"/>
          </a:p>
        </p:txBody>
      </p:sp>
      <p:sp>
        <p:nvSpPr>
          <p:cNvPr id="7" name="Text 5"/>
          <p:cNvSpPr/>
          <p:nvPr/>
        </p:nvSpPr>
        <p:spPr>
          <a:xfrm>
            <a:off x="0" y="4217670"/>
            <a:ext cx="9141714" cy="274320"/>
          </a:xfrm>
          <a:prstGeom prst="rect">
            <a:avLst/>
          </a:prstGeom>
          <a:noFill/>
          <a:ln/>
        </p:spPr>
        <p:txBody>
          <a:bodyPr wrap="square" lIns="0" tIns="0" rIns="0" bIns="0" rtlCol="0" anchor="ctr"/>
          <a:lstStyle/>
          <a:p>
            <a:pPr marL="0" indent="0" algn="ctr">
              <a:buNone/>
            </a:pPr>
            <a:r>
              <a:rPr lang="en-US" sz="900" dirty="0">
                <a:solidFill>
                  <a:srgbClr val="7C8CE8"/>
                </a:solidFill>
                <a:latin typeface="Calibri" pitchFamily="34" charset="0"/>
                <a:ea typeface="Calibri" pitchFamily="34" charset="-122"/>
                <a:cs typeface="Calibri" pitchFamily="34" charset="-120"/>
              </a:rPr>
              <a:t>Credit Risk Intelligence Platform · Ashu Sharma &amp; Akash Chaurasiya</a:t>
            </a:r>
            <a:endParaRPr lang="en-US" sz="900" dirty="0"/>
          </a:p>
        </p:txBody>
      </p:sp>
      <p:sp>
        <p:nvSpPr>
          <p:cNvPr id="8" name="Text 6"/>
          <p:cNvSpPr/>
          <p:nvPr/>
        </p:nvSpPr>
        <p:spPr>
          <a:xfrm>
            <a:off x="411480" y="4896612"/>
            <a:ext cx="5486400" cy="192024"/>
          </a:xfrm>
          <a:prstGeom prst="rect">
            <a:avLst/>
          </a:prstGeom>
          <a:noFill/>
          <a:ln/>
        </p:spPr>
        <p:txBody>
          <a:bodyPr wrap="square" rtlCol="0" anchor="ctr"/>
          <a:lstStyle/>
          <a:p>
            <a:pPr marL="0" indent="0" algn="l">
              <a:buNone/>
            </a:pPr>
            <a:r>
              <a:rPr lang="en-US" sz="712" dirty="0">
                <a:solidFill>
                  <a:srgbClr val="AEB0C4"/>
                </a:solidFill>
                <a:latin typeface="Calibri" pitchFamily="34" charset="0"/>
                <a:ea typeface="Calibri" pitchFamily="34" charset="-122"/>
                <a:cs typeface="Calibri" pitchFamily="34" charset="-120"/>
              </a:rPr>
              <a:t>Close</a:t>
            </a:r>
            <a:endParaRPr lang="en-US" sz="712" dirty="0"/>
          </a:p>
        </p:txBody>
      </p:sp>
      <p:sp>
        <p:nvSpPr>
          <p:cNvPr id="9" name="Text 7"/>
          <p:cNvSpPr/>
          <p:nvPr/>
        </p:nvSpPr>
        <p:spPr>
          <a:xfrm>
            <a:off x="6947154" y="4896612"/>
            <a:ext cx="1783080" cy="192024"/>
          </a:xfrm>
          <a:prstGeom prst="rect">
            <a:avLst/>
          </a:prstGeom>
          <a:noFill/>
          <a:ln/>
        </p:spPr>
        <p:txBody>
          <a:bodyPr wrap="square" rtlCol="0" anchor="ctr"/>
          <a:lstStyle/>
          <a:p>
            <a:pPr marL="0" indent="0" algn="r">
              <a:buNone/>
            </a:pPr>
            <a:r>
              <a:rPr lang="en-US" sz="712" dirty="0">
                <a:solidFill>
                  <a:srgbClr val="AEB0C4"/>
                </a:solidFill>
                <a:latin typeface="Calibri" pitchFamily="34" charset="0"/>
                <a:ea typeface="Calibri" pitchFamily="34" charset="-122"/>
                <a:cs typeface="Calibri" pitchFamily="34" charset="-120"/>
              </a:rPr>
              <a:t>Rohan's Story</a:t>
            </a:r>
            <a:endParaRPr lang="en-US" sz="712" dirty="0"/>
          </a:p>
        </p:txBody>
      </p:sp>
    </p:spTree>
  </p:cSld>
  <p:clrMapOvr>
    <a:masterClrMapping/>
  </p:clrMapOvr>
  <p:transition spd="slow">
    <p:fade/>
  </p:transition>
</p:sld>
</file>

<file path=ppt/slides/slide7.xml><?xml version="1.0" encoding="utf-8"?>
<p:sld xmlns:a="http://schemas.openxmlformats.org/drawingml/2006/main" xmlns:r="http://schemas.openxmlformats.org/officeDocument/2006/relationships" xmlns:p="http://schemas.openxmlformats.org/presentationml/2006/main">
  <p:cSld name="Problem and Solution">
    <p:bg>
      <p:bgPr>
        <a:solidFill>
          <a:srgbClr val="0F1B2D"/>
        </a:solidFill>
        <a:effectLst/>
      </p:bgPr>
    </p:bg>
    <p:spTree>
      <p:nvGrpSpPr>
        <p:cNvPr id="1" name=""/>
        <p:cNvGrpSpPr/>
        <p:nvPr/>
      </p:nvGrpSpPr>
      <p:grpSpPr>
        <a:xfrm>
          <a:off x="0" y="0"/>
          <a:ext cx="0" cy="0"/>
          <a:chOff x="0" y="0"/>
          <a:chExt cx="0" cy="0"/>
        </a:xfrm>
      </p:grpSpPr>
      <p:sp>
        <p:nvSpPr>
          <p:cNvPr id="101" name="Badge"/>
          <p:cNvSpPr/>
          <p:nvPr/>
        </p:nvSpPr>
        <p:spPr>
          <a:xfrm>
            <a:off x="457200" y="274320"/>
            <a:ext cx="1700000" cy="256032"/>
          </a:xfrm>
          <a:prstGeom prst="roundRect">
            <a:avLst>
              <a:gd name="adj" fmla="val 50000"/>
            </a:avLst>
          </a:prstGeom>
          <a:solidFill>
            <a:srgbClr val="2563EB">
              <a:alpha val="25000"/>
            </a:srgbClr>
          </a:solidFill>
          <a:ln/>
        </p:spPr>
      </p:sp>
      <p:sp>
        <p:nvSpPr>
          <p:cNvPr id="102" name="BadgeText"/>
          <p:cNvSpPr/>
          <p:nvPr/>
        </p:nvSpPr>
        <p:spPr>
          <a:xfrm>
            <a:off x="457200" y="274320"/>
            <a:ext cx="1700000" cy="256032"/>
          </a:xfrm>
          <a:prstGeom prst="rect">
            <a:avLst/>
          </a:prstGeom>
          <a:noFill/>
          <a:ln/>
        </p:spPr>
        <p:txBody>
          <a:bodyPr wrap="square" lIns="0" tIns="0" rIns="0" bIns="0" rtlCol="0" anchor="ctr"/>
          <a:lstStyle/>
          <a:p>
            <a:pPr marL="0" indent="0" algn="ctr">
              <a:buNone/>
            </a:pPr>
            <a:r>
              <a:rPr lang="en-US" sz="900" b="1" kern="0" spc="150" dirty="0">
                <a:solidFill>
                  <a:srgbClr val="2563EB"/>
                </a:solidFill>
              </a:rPr>
              <a:t>OVERVIEW</a:t>
            </a:r>
          </a:p>
        </p:txBody>
      </p:sp>
      <p:sp>
        <p:nvSpPr>
          <p:cNvPr id="103" name="Title"/>
          <p:cNvSpPr/>
          <p:nvPr/>
        </p:nvSpPr>
        <p:spPr>
          <a:xfrm>
            <a:off x="457200" y="590000"/>
            <a:ext cx="8229600" cy="500000"/>
          </a:xfrm>
          <a:prstGeom prst="rect">
            <a:avLst/>
          </a:prstGeom>
          <a:noFill/>
          <a:ln/>
        </p:spPr>
        <p:txBody>
          <a:bodyPr wrap="square" lIns="0" tIns="0" rIns="0" bIns="0" rtlCol="0" anchor="ctr"/>
          <a:lstStyle/>
          <a:p>
            <a:pPr marL="0" indent="0">
              <a:buNone/>
            </a:pPr>
            <a:r>
              <a:rPr lang="en-US" sz="2200" b="1" dirty="0">
                <a:solidFill>
                  <a:srgbClr val="FFFFFF"/>
                </a:solidFill>
                <a:latin typeface="Cambria" pitchFamily="34" charset="0"/>
              </a:rPr>
              <a:t>Why We Built It — And What We Built</a:t>
            </a:r>
          </a:p>
        </p:txBody>
      </p:sp>
      <p:sp>
        <p:nvSpPr>
          <p:cNvPr id="104" name="Badge"/>
          <p:cNvSpPr/>
          <p:nvPr/>
        </p:nvSpPr>
        <p:spPr>
          <a:xfrm>
            <a:off x="457200" y="1230000"/>
            <a:ext cx="1450000" cy="230000"/>
          </a:xfrm>
          <a:prstGeom prst="roundRect">
            <a:avLst>
              <a:gd name="adj" fmla="val 50000"/>
            </a:avLst>
          </a:prstGeom>
          <a:solidFill>
            <a:srgbClr val="DC2626">
              <a:alpha val="25000"/>
            </a:srgbClr>
          </a:solidFill>
          <a:ln/>
        </p:spPr>
      </p:sp>
      <p:sp>
        <p:nvSpPr>
          <p:cNvPr id="105" name="BadgeText"/>
          <p:cNvSpPr/>
          <p:nvPr/>
        </p:nvSpPr>
        <p:spPr>
          <a:xfrm>
            <a:off x="457200" y="1230000"/>
            <a:ext cx="1450000" cy="230000"/>
          </a:xfrm>
          <a:prstGeom prst="rect">
            <a:avLst/>
          </a:prstGeom>
          <a:noFill/>
          <a:ln/>
        </p:spPr>
        <p:txBody>
          <a:bodyPr wrap="square" lIns="0" tIns="0" rIns="0" bIns="0" rtlCol="0" anchor="ctr"/>
          <a:lstStyle/>
          <a:p>
            <a:pPr marL="0" indent="0" algn="ctr">
              <a:buNone/>
            </a:pPr>
            <a:r>
              <a:rPr lang="en-US" sz="900" b="1" kern="0" spc="150" dirty="0">
                <a:solidFill>
                  <a:srgbClr val="DC2626"/>
                </a:solidFill>
              </a:rPr>
              <a:t>THE PROBLEM</a:t>
            </a:r>
          </a:p>
        </p:txBody>
      </p:sp>
      <p:sp>
        <p:nvSpPr>
          <p:cNvPr id="106" name="Text"/>
          <p:cNvSpPr/>
          <p:nvPr/>
        </p:nvSpPr>
        <p:spPr>
          <a:xfrm>
            <a:off x="457200" y="1560000"/>
            <a:ext cx="340000" cy="340000"/>
          </a:xfrm>
          <a:prstGeom prst="rect">
            <a:avLst/>
          </a:prstGeom>
          <a:noFill/>
          <a:ln/>
        </p:spPr>
        <p:txBody>
          <a:bodyPr wrap="square" lIns="0" tIns="0" rIns="0" bIns="0" rtlCol="0" anchor="ctr"/>
          <a:lstStyle/>
          <a:p>
            <a:pPr marL="0" indent="0" algn="l">
              <a:buNone/>
            </a:pPr>
            <a:r>
              <a:rPr lang="en-US" sz="1500" b="0" dirty="0">
                <a:solidFill>
                  <a:srgbClr val="FFFFFF"/>
                </a:solidFill>
              </a:rPr>
              <a:t>📄</a:t>
            </a:r>
          </a:p>
        </p:txBody>
      </p:sp>
      <p:sp>
        <p:nvSpPr>
          <p:cNvPr id="107" name="Text"/>
          <p:cNvSpPr/>
          <p:nvPr/>
        </p:nvSpPr>
        <p:spPr>
          <a:xfrm>
            <a:off x="857200" y="1560000"/>
            <a:ext cx="3600500" cy="180000"/>
          </a:xfrm>
          <a:prstGeom prst="rect">
            <a:avLst/>
          </a:prstGeom>
          <a:noFill/>
          <a:ln/>
        </p:spPr>
        <p:txBody>
          <a:bodyPr wrap="square" lIns="0" tIns="0" rIns="0" bIns="0" rtlCol="0" anchor="t"/>
          <a:lstStyle/>
          <a:p>
            <a:pPr marL="0" indent="0" algn="l">
              <a:buNone/>
            </a:pPr>
            <a:r>
              <a:rPr lang="en-US" sz="1050" b="1" dirty="0">
                <a:solidFill>
                  <a:srgbClr val="FFFFFF"/>
                </a:solidFill>
              </a:rPr>
              <a:t>Manual Review</a:t>
            </a:r>
          </a:p>
        </p:txBody>
      </p:sp>
      <p:sp>
        <p:nvSpPr>
          <p:cNvPr id="108" name="Text"/>
          <p:cNvSpPr/>
          <p:nvPr/>
        </p:nvSpPr>
        <p:spPr>
          <a:xfrm>
            <a:off x="857200" y="1735000"/>
            <a:ext cx="3600500" cy="300000"/>
          </a:xfrm>
          <a:prstGeom prst="rect">
            <a:avLst/>
          </a:prstGeom>
          <a:noFill/>
          <a:ln/>
        </p:spPr>
        <p:txBody>
          <a:bodyPr wrap="square" lIns="0" tIns="0" rIns="0" bIns="0" rtlCol="0" anchor="t"/>
          <a:lstStyle/>
          <a:p>
            <a:pPr marL="0" indent="0" algn="l">
              <a:lnSpc>
                <a:spcPct val="115000"/>
              </a:lnSpc>
              <a:buNone/>
            </a:pPr>
            <a:r>
              <a:rPr lang="en-US" sz="850" b="0" dirty="0">
                <a:solidFill>
                  <a:srgbClr val="94A3B8"/>
                </a:solidFill>
              </a:rPr>
              <a:t>Officers read 50-100 page PDFs by hand — 3-5 days per application.</a:t>
            </a:r>
          </a:p>
        </p:txBody>
      </p:sp>
      <p:sp>
        <p:nvSpPr>
          <p:cNvPr id="109" name="Text"/>
          <p:cNvSpPr/>
          <p:nvPr/>
        </p:nvSpPr>
        <p:spPr>
          <a:xfrm>
            <a:off x="457200" y="2030000"/>
            <a:ext cx="340000" cy="340000"/>
          </a:xfrm>
          <a:prstGeom prst="rect">
            <a:avLst/>
          </a:prstGeom>
          <a:noFill/>
          <a:ln/>
        </p:spPr>
        <p:txBody>
          <a:bodyPr wrap="square" lIns="0" tIns="0" rIns="0" bIns="0" rtlCol="0" anchor="ctr"/>
          <a:lstStyle/>
          <a:p>
            <a:pPr marL="0" indent="0" algn="l">
              <a:buNone/>
            </a:pPr>
            <a:r>
              <a:rPr lang="en-US" sz="1500" b="0" dirty="0">
                <a:solidFill>
                  <a:srgbClr val="FFFFFF"/>
                </a:solidFill>
              </a:rPr>
              <a:t>❌</a:t>
            </a:r>
          </a:p>
        </p:txBody>
      </p:sp>
      <p:sp>
        <p:nvSpPr>
          <p:cNvPr id="110" name="Text"/>
          <p:cNvSpPr/>
          <p:nvPr/>
        </p:nvSpPr>
        <p:spPr>
          <a:xfrm>
            <a:off x="857200" y="2030000"/>
            <a:ext cx="3600500" cy="180000"/>
          </a:xfrm>
          <a:prstGeom prst="rect">
            <a:avLst/>
          </a:prstGeom>
          <a:noFill/>
          <a:ln/>
        </p:spPr>
        <p:txBody>
          <a:bodyPr wrap="square" lIns="0" tIns="0" rIns="0" bIns="0" rtlCol="0" anchor="t"/>
          <a:lstStyle/>
          <a:p>
            <a:pPr marL="0" indent="0" algn="l">
              <a:buNone/>
            </a:pPr>
            <a:r>
              <a:rPr lang="en-US" sz="1050" b="1" dirty="0">
                <a:solidFill>
                  <a:srgbClr val="FFFFFF"/>
                </a:solidFill>
              </a:rPr>
              <a:t>Human Error</a:t>
            </a:r>
          </a:p>
        </p:txBody>
      </p:sp>
      <p:sp>
        <p:nvSpPr>
          <p:cNvPr id="111" name="Text"/>
          <p:cNvSpPr/>
          <p:nvPr/>
        </p:nvSpPr>
        <p:spPr>
          <a:xfrm>
            <a:off x="857200" y="2205000"/>
            <a:ext cx="3600500" cy="300000"/>
          </a:xfrm>
          <a:prstGeom prst="rect">
            <a:avLst/>
          </a:prstGeom>
          <a:noFill/>
          <a:ln/>
        </p:spPr>
        <p:txBody>
          <a:bodyPr wrap="square" lIns="0" tIns="0" rIns="0" bIns="0" rtlCol="0" anchor="t"/>
          <a:lstStyle/>
          <a:p>
            <a:pPr marL="0" indent="0" algn="l">
              <a:lnSpc>
                <a:spcPct val="115000"/>
              </a:lnSpc>
              <a:buNone/>
            </a:pPr>
            <a:r>
              <a:rPr lang="en-US" sz="850" b="0" dirty="0">
                <a:solidFill>
                  <a:srgbClr val="94A3B8"/>
                </a:solidFill>
              </a:rPr>
              <a:t>Same applicant gets different risk ratings from different officers.</a:t>
            </a:r>
          </a:p>
        </p:txBody>
      </p:sp>
      <p:sp>
        <p:nvSpPr>
          <p:cNvPr id="112" name="Text"/>
          <p:cNvSpPr/>
          <p:nvPr/>
        </p:nvSpPr>
        <p:spPr>
          <a:xfrm>
            <a:off x="457200" y="2500000"/>
            <a:ext cx="340000" cy="340000"/>
          </a:xfrm>
          <a:prstGeom prst="rect">
            <a:avLst/>
          </a:prstGeom>
          <a:noFill/>
          <a:ln/>
        </p:spPr>
        <p:txBody>
          <a:bodyPr wrap="square" lIns="0" tIns="0" rIns="0" bIns="0" rtlCol="0" anchor="ctr"/>
          <a:lstStyle/>
          <a:p>
            <a:pPr marL="0" indent="0" algn="l">
              <a:buNone/>
            </a:pPr>
            <a:r>
              <a:rPr lang="en-US" sz="1500" b="0" dirty="0">
                <a:solidFill>
                  <a:srgbClr val="FFFFFF"/>
                </a:solidFill>
              </a:rPr>
              <a:t>⏰</a:t>
            </a:r>
          </a:p>
        </p:txBody>
      </p:sp>
      <p:sp>
        <p:nvSpPr>
          <p:cNvPr id="113" name="Text"/>
          <p:cNvSpPr/>
          <p:nvPr/>
        </p:nvSpPr>
        <p:spPr>
          <a:xfrm>
            <a:off x="857200" y="2500000"/>
            <a:ext cx="3600500" cy="180000"/>
          </a:xfrm>
          <a:prstGeom prst="rect">
            <a:avLst/>
          </a:prstGeom>
          <a:noFill/>
          <a:ln/>
        </p:spPr>
        <p:txBody>
          <a:bodyPr wrap="square" lIns="0" tIns="0" rIns="0" bIns="0" rtlCol="0" anchor="t"/>
          <a:lstStyle/>
          <a:p>
            <a:pPr marL="0" indent="0" algn="l">
              <a:buNone/>
            </a:pPr>
            <a:r>
              <a:rPr lang="en-US" sz="1050" b="1" dirty="0">
                <a:solidFill>
                  <a:srgbClr val="FFFFFF"/>
                </a:solidFill>
              </a:rPr>
              <a:t>Slow Decisions</a:t>
            </a:r>
          </a:p>
        </p:txBody>
      </p:sp>
      <p:sp>
        <p:nvSpPr>
          <p:cNvPr id="114" name="Text"/>
          <p:cNvSpPr/>
          <p:nvPr/>
        </p:nvSpPr>
        <p:spPr>
          <a:xfrm>
            <a:off x="857200" y="2675000"/>
            <a:ext cx="3600500" cy="300000"/>
          </a:xfrm>
          <a:prstGeom prst="rect">
            <a:avLst/>
          </a:prstGeom>
          <a:noFill/>
          <a:ln/>
        </p:spPr>
        <p:txBody>
          <a:bodyPr wrap="square" lIns="0" tIns="0" rIns="0" bIns="0" rtlCol="0" anchor="t"/>
          <a:lstStyle/>
          <a:p>
            <a:pPr marL="0" indent="0" algn="l">
              <a:lnSpc>
                <a:spcPct val="115000"/>
              </a:lnSpc>
              <a:buNone/>
            </a:pPr>
            <a:r>
              <a:rPr lang="en-US" sz="850" b="0" dirty="0">
                <a:solidFill>
                  <a:srgbClr val="94A3B8"/>
                </a:solidFill>
              </a:rPr>
              <a:t>Customers wait weeks while documents sit in a processing queue.</a:t>
            </a:r>
          </a:p>
        </p:txBody>
      </p:sp>
      <p:sp>
        <p:nvSpPr>
          <p:cNvPr id="115" name="Text"/>
          <p:cNvSpPr/>
          <p:nvPr/>
        </p:nvSpPr>
        <p:spPr>
          <a:xfrm>
            <a:off x="457200" y="2970000"/>
            <a:ext cx="340000" cy="340000"/>
          </a:xfrm>
          <a:prstGeom prst="rect">
            <a:avLst/>
          </a:prstGeom>
          <a:noFill/>
          <a:ln/>
        </p:spPr>
        <p:txBody>
          <a:bodyPr wrap="square" lIns="0" tIns="0" rIns="0" bIns="0" rtlCol="0" anchor="ctr"/>
          <a:lstStyle/>
          <a:p>
            <a:pPr marL="0" indent="0" algn="l">
              <a:buNone/>
            </a:pPr>
            <a:r>
              <a:rPr lang="en-US" sz="1500" b="0" dirty="0">
                <a:solidFill>
                  <a:srgbClr val="FFFFFF"/>
                </a:solidFill>
              </a:rPr>
              <a:t>💰</a:t>
            </a:r>
          </a:p>
        </p:txBody>
      </p:sp>
      <p:sp>
        <p:nvSpPr>
          <p:cNvPr id="116" name="Text"/>
          <p:cNvSpPr/>
          <p:nvPr/>
        </p:nvSpPr>
        <p:spPr>
          <a:xfrm>
            <a:off x="857200" y="2970000"/>
            <a:ext cx="3600500" cy="180000"/>
          </a:xfrm>
          <a:prstGeom prst="rect">
            <a:avLst/>
          </a:prstGeom>
          <a:noFill/>
          <a:ln/>
        </p:spPr>
        <p:txBody>
          <a:bodyPr wrap="square" lIns="0" tIns="0" rIns="0" bIns="0" rtlCol="0" anchor="t"/>
          <a:lstStyle/>
          <a:p>
            <a:pPr marL="0" indent="0" algn="l">
              <a:buNone/>
            </a:pPr>
            <a:r>
              <a:rPr lang="en-US" sz="1050" b="1" dirty="0">
                <a:solidFill>
                  <a:srgbClr val="FFFFFF"/>
                </a:solidFill>
              </a:rPr>
              <a:t>Revenue Loss</a:t>
            </a:r>
          </a:p>
        </p:txBody>
      </p:sp>
      <p:sp>
        <p:nvSpPr>
          <p:cNvPr id="117" name="Text"/>
          <p:cNvSpPr/>
          <p:nvPr/>
        </p:nvSpPr>
        <p:spPr>
          <a:xfrm>
            <a:off x="857200" y="3145000"/>
            <a:ext cx="3600500" cy="300000"/>
          </a:xfrm>
          <a:prstGeom prst="rect">
            <a:avLst/>
          </a:prstGeom>
          <a:noFill/>
          <a:ln/>
        </p:spPr>
        <p:txBody>
          <a:bodyPr wrap="square" lIns="0" tIns="0" rIns="0" bIns="0" rtlCol="0" anchor="t"/>
          <a:lstStyle/>
          <a:p>
            <a:pPr marL="0" indent="0" algn="l">
              <a:lnSpc>
                <a:spcPct val="115000"/>
              </a:lnSpc>
              <a:buNone/>
            </a:pPr>
            <a:r>
              <a:rPr lang="en-US" sz="850" b="0" dirty="0">
                <a:solidFill>
                  <a:srgbClr val="94A3B8"/>
                </a:solidFill>
              </a:rPr>
              <a:t>Banks lose creditworthy customers to faster competitors.</a:t>
            </a:r>
          </a:p>
        </p:txBody>
      </p:sp>
      <p:sp>
        <p:nvSpPr>
          <p:cNvPr id="118" name="Badge"/>
          <p:cNvSpPr/>
          <p:nvPr/>
        </p:nvSpPr>
        <p:spPr>
          <a:xfrm>
            <a:off x="4686300" y="1230000"/>
            <a:ext cx="1550000" cy="230000"/>
          </a:xfrm>
          <a:prstGeom prst="roundRect">
            <a:avLst>
              <a:gd name="adj" fmla="val 50000"/>
            </a:avLst>
          </a:prstGeom>
          <a:solidFill>
            <a:srgbClr val="059669">
              <a:alpha val="25000"/>
            </a:srgbClr>
          </a:solidFill>
          <a:ln/>
        </p:spPr>
      </p:sp>
      <p:sp>
        <p:nvSpPr>
          <p:cNvPr id="119" name="BadgeText"/>
          <p:cNvSpPr/>
          <p:nvPr/>
        </p:nvSpPr>
        <p:spPr>
          <a:xfrm>
            <a:off x="4686300" y="1230000"/>
            <a:ext cx="1550000" cy="230000"/>
          </a:xfrm>
          <a:prstGeom prst="rect">
            <a:avLst/>
          </a:prstGeom>
          <a:noFill/>
          <a:ln/>
        </p:spPr>
        <p:txBody>
          <a:bodyPr wrap="square" lIns="0" tIns="0" rIns="0" bIns="0" rtlCol="0" anchor="ctr"/>
          <a:lstStyle/>
          <a:p>
            <a:pPr marL="0" indent="0" algn="ctr">
              <a:buNone/>
            </a:pPr>
            <a:r>
              <a:rPr lang="en-US" sz="900" b="1" kern="0" spc="150" dirty="0">
                <a:solidFill>
                  <a:srgbClr val="059669"/>
                </a:solidFill>
              </a:rPr>
              <a:t>OUR SOLUTION</a:t>
            </a:r>
          </a:p>
        </p:txBody>
      </p:sp>
      <p:sp>
        <p:nvSpPr>
          <p:cNvPr id="120" name="Text"/>
          <p:cNvSpPr/>
          <p:nvPr/>
        </p:nvSpPr>
        <p:spPr>
          <a:xfrm>
            <a:off x="4686300" y="1560000"/>
            <a:ext cx="4000500" cy="620000"/>
          </a:xfrm>
          <a:prstGeom prst="rect">
            <a:avLst/>
          </a:prstGeom>
          <a:noFill/>
          <a:ln/>
        </p:spPr>
        <p:txBody>
          <a:bodyPr wrap="square" lIns="0" tIns="0" rIns="0" bIns="0" rtlCol="0" anchor="t"/>
          <a:lstStyle/>
          <a:p>
            <a:pPr marL="0" indent="0" algn="l">
              <a:lnSpc>
                <a:spcPct val="125000"/>
              </a:lnSpc>
              <a:buNone/>
            </a:pPr>
            <a:r>
              <a:rPr lang="en-US" sz="950" b="0" dirty="0">
                <a:solidFill>
                  <a:srgbClr val="CBD5E1"/>
                </a:solidFill>
              </a:rPr>
              <a:t>An AI platform that extracts key financial data from uploaded PDFs, generates explainable credit risk scores, and gives AI-powered loan recommendations — for both individual customers and financial institutions.</a:t>
            </a:r>
          </a:p>
        </p:txBody>
      </p:sp>
      <p:sp>
        <p:nvSpPr>
          <p:cNvPr id="121" name="Text"/>
          <p:cNvSpPr/>
          <p:nvPr/>
        </p:nvSpPr>
        <p:spPr>
          <a:xfrm>
            <a:off x="4686300" y="2260000"/>
            <a:ext cx="30000" cy="200000"/>
          </a:xfrm>
          <a:prstGeom prst="rect">
            <a:avLst/>
          </a:prstGeom>
          <a:noFill/>
          <a:ln/>
        </p:spPr>
        <p:txBody>
          <a:bodyPr wrap="square" lIns="0" tIns="0" rIns="0" bIns="0" rtlCol="0" anchor="t"/>
          <a:lstStyle/>
          <a:p>
            <a:pPr marL="0" indent="0" algn="l">
              <a:buNone/>
            </a:pPr>
            <a:r>
              <a:rPr lang="en-US" sz="1000" b="1" dirty="0">
                <a:solidFill>
                  <a:srgbClr val="059669"/>
                </a:solidFill>
              </a:rPr>
              <a:t>•</a:t>
            </a:r>
          </a:p>
        </p:txBody>
      </p:sp>
      <p:sp>
        <p:nvSpPr>
          <p:cNvPr id="122" name="Text"/>
          <p:cNvSpPr/>
          <p:nvPr/>
        </p:nvSpPr>
        <p:spPr>
          <a:xfrm>
            <a:off x="4906300" y="2260000"/>
            <a:ext cx="3780500" cy="200000"/>
          </a:xfrm>
          <a:prstGeom prst="rect">
            <a:avLst/>
          </a:prstGeom>
          <a:noFill/>
          <a:ln/>
        </p:spPr>
        <p:txBody>
          <a:bodyPr wrap="square" lIns="0" tIns="0" rIns="0" bIns="0" rtlCol="0" anchor="t"/>
          <a:lstStyle/>
          <a:p>
            <a:pPr marL="0" indent="0" algn="l">
              <a:buNone/>
            </a:pPr>
            <a:r>
              <a:rPr lang="en-US" sz="900" b="0" dirty="0">
                <a:solidFill>
                  <a:srgbClr val="E2E8F0"/>
                </a:solidFill>
              </a:rPr>
              <a:t>Automatic PDF data extraction</a:t>
            </a:r>
          </a:p>
        </p:txBody>
      </p:sp>
      <p:sp>
        <p:nvSpPr>
          <p:cNvPr id="123" name="Text"/>
          <p:cNvSpPr/>
          <p:nvPr/>
        </p:nvSpPr>
        <p:spPr>
          <a:xfrm>
            <a:off x="4686300" y="2520000"/>
            <a:ext cx="30000" cy="200000"/>
          </a:xfrm>
          <a:prstGeom prst="rect">
            <a:avLst/>
          </a:prstGeom>
          <a:noFill/>
          <a:ln/>
        </p:spPr>
        <p:txBody>
          <a:bodyPr wrap="square" lIns="0" tIns="0" rIns="0" bIns="0" rtlCol="0" anchor="t"/>
          <a:lstStyle/>
          <a:p>
            <a:pPr marL="0" indent="0" algn="l">
              <a:buNone/>
            </a:pPr>
            <a:r>
              <a:rPr lang="en-US" sz="1000" b="1" dirty="0">
                <a:solidFill>
                  <a:srgbClr val="059669"/>
                </a:solidFill>
              </a:rPr>
              <a:t>•</a:t>
            </a:r>
          </a:p>
        </p:txBody>
      </p:sp>
      <p:sp>
        <p:nvSpPr>
          <p:cNvPr id="124" name="Text"/>
          <p:cNvSpPr/>
          <p:nvPr/>
        </p:nvSpPr>
        <p:spPr>
          <a:xfrm>
            <a:off x="4906300" y="2520000"/>
            <a:ext cx="3780500" cy="200000"/>
          </a:xfrm>
          <a:prstGeom prst="rect">
            <a:avLst/>
          </a:prstGeom>
          <a:noFill/>
          <a:ln/>
        </p:spPr>
        <p:txBody>
          <a:bodyPr wrap="square" lIns="0" tIns="0" rIns="0" bIns="0" rtlCol="0" anchor="t"/>
          <a:lstStyle/>
          <a:p>
            <a:pPr marL="0" indent="0" algn="l">
              <a:buNone/>
            </a:pPr>
            <a:r>
              <a:rPr lang="en-US" sz="900" b="0" dirty="0">
                <a:solidFill>
                  <a:srgbClr val="E2E8F0"/>
                </a:solidFill>
              </a:rPr>
              <a:t>Explainable risk scores, not black-box numbers</a:t>
            </a:r>
          </a:p>
        </p:txBody>
      </p:sp>
      <p:sp>
        <p:nvSpPr>
          <p:cNvPr id="125" name="Text"/>
          <p:cNvSpPr/>
          <p:nvPr/>
        </p:nvSpPr>
        <p:spPr>
          <a:xfrm>
            <a:off x="4686300" y="2780000"/>
            <a:ext cx="30000" cy="200000"/>
          </a:xfrm>
          <a:prstGeom prst="rect">
            <a:avLst/>
          </a:prstGeom>
          <a:noFill/>
          <a:ln/>
        </p:spPr>
        <p:txBody>
          <a:bodyPr wrap="square" lIns="0" tIns="0" rIns="0" bIns="0" rtlCol="0" anchor="t"/>
          <a:lstStyle/>
          <a:p>
            <a:pPr marL="0" indent="0" algn="l">
              <a:buNone/>
            </a:pPr>
            <a:r>
              <a:rPr lang="en-US" sz="1000" b="1" dirty="0">
                <a:solidFill>
                  <a:srgbClr val="059669"/>
                </a:solidFill>
              </a:rPr>
              <a:t>•</a:t>
            </a:r>
          </a:p>
        </p:txBody>
      </p:sp>
      <p:sp>
        <p:nvSpPr>
          <p:cNvPr id="126" name="Text"/>
          <p:cNvSpPr/>
          <p:nvPr/>
        </p:nvSpPr>
        <p:spPr>
          <a:xfrm>
            <a:off x="4906300" y="2780000"/>
            <a:ext cx="3780500" cy="200000"/>
          </a:xfrm>
          <a:prstGeom prst="rect">
            <a:avLst/>
          </a:prstGeom>
          <a:noFill/>
          <a:ln/>
        </p:spPr>
        <p:txBody>
          <a:bodyPr wrap="square" lIns="0" tIns="0" rIns="0" bIns="0" rtlCol="0" anchor="t"/>
          <a:lstStyle/>
          <a:p>
            <a:pPr marL="0" indent="0" algn="l">
              <a:buNone/>
            </a:pPr>
            <a:r>
              <a:rPr lang="en-US" sz="900" b="0" dirty="0">
                <a:solidFill>
                  <a:srgbClr val="E2E8F0"/>
                </a:solidFill>
              </a:rPr>
              <a:t>Safer loan amounts, better rates, next steps</a:t>
            </a:r>
          </a:p>
        </p:txBody>
      </p:sp>
      <p:sp>
        <p:nvSpPr>
          <p:cNvPr id="127" name="Text"/>
          <p:cNvSpPr/>
          <p:nvPr/>
        </p:nvSpPr>
        <p:spPr>
          <a:xfrm>
            <a:off x="4686300" y="3040000"/>
            <a:ext cx="30000" cy="200000"/>
          </a:xfrm>
          <a:prstGeom prst="rect">
            <a:avLst/>
          </a:prstGeom>
          <a:noFill/>
          <a:ln/>
        </p:spPr>
        <p:txBody>
          <a:bodyPr wrap="square" lIns="0" tIns="0" rIns="0" bIns="0" rtlCol="0" anchor="t"/>
          <a:lstStyle/>
          <a:p>
            <a:pPr marL="0" indent="0" algn="l">
              <a:buNone/>
            </a:pPr>
            <a:r>
              <a:rPr lang="en-US" sz="1000" b="1" dirty="0">
                <a:solidFill>
                  <a:srgbClr val="059669"/>
                </a:solidFill>
              </a:rPr>
              <a:t>•</a:t>
            </a:r>
          </a:p>
        </p:txBody>
      </p:sp>
      <p:sp>
        <p:nvSpPr>
          <p:cNvPr id="128" name="Text"/>
          <p:cNvSpPr/>
          <p:nvPr/>
        </p:nvSpPr>
        <p:spPr>
          <a:xfrm>
            <a:off x="4906300" y="3040000"/>
            <a:ext cx="3780500" cy="200000"/>
          </a:xfrm>
          <a:prstGeom prst="rect">
            <a:avLst/>
          </a:prstGeom>
          <a:noFill/>
          <a:ln/>
        </p:spPr>
        <p:txBody>
          <a:bodyPr wrap="square" lIns="0" tIns="0" rIns="0" bIns="0" rtlCol="0" anchor="t"/>
          <a:lstStyle/>
          <a:p>
            <a:pPr marL="0" indent="0" algn="l">
              <a:buNone/>
            </a:pPr>
            <a:r>
              <a:rPr lang="en-US" sz="900" b="0" dirty="0">
                <a:solidFill>
                  <a:srgbClr val="E2E8F0"/>
                </a:solidFill>
              </a:rPr>
              <a:t>Full CI/CD deploy pipeline on Azure</a:t>
            </a:r>
          </a:p>
        </p:txBody>
      </p:sp>
      <p:sp>
        <p:nvSpPr>
          <p:cNvPr id="129" name="Pill"/>
          <p:cNvSpPr/>
          <p:nvPr/>
        </p:nvSpPr>
        <p:spPr>
          <a:xfrm>
            <a:off x="4686300" y="3420000"/>
            <a:ext cx="750000" cy="250000"/>
          </a:xfrm>
          <a:prstGeom prst="roundRect">
            <a:avLst>
              <a:gd name="adj" fmla="val 50000"/>
            </a:avLst>
          </a:prstGeom>
          <a:solidFill>
            <a:srgbClr val="2563EB">
              <a:alpha val="20000"/>
            </a:srgbClr>
          </a:solidFill>
          <a:ln/>
        </p:spPr>
        <p:txBody>
          <a:bodyPr wrap="square" lIns="0" tIns="0" rIns="0" bIns="0" rtlCol="0" anchor="ctr"/>
          <a:lstStyle/>
          <a:p>
            <a:pPr marL="0" indent="0" algn="ctr">
              <a:buNone/>
            </a:pPr>
            <a:r>
              <a:rPr lang="en-US" sz="750" b="1" dirty="0">
                <a:solidFill>
                  <a:srgbClr val="FFFFFF"/>
                </a:solidFill>
              </a:rPr>
              <a:t>Streamlit</a:t>
            </a:r>
          </a:p>
        </p:txBody>
      </p:sp>
      <p:sp>
        <p:nvSpPr>
          <p:cNvPr id="130" name="Pill"/>
          <p:cNvSpPr/>
          <p:nvPr/>
        </p:nvSpPr>
        <p:spPr>
          <a:xfrm>
            <a:off x="5516300" y="3420000"/>
            <a:ext cx="750000" cy="250000"/>
          </a:xfrm>
          <a:prstGeom prst="roundRect">
            <a:avLst>
              <a:gd name="adj" fmla="val 50000"/>
            </a:avLst>
          </a:prstGeom>
          <a:solidFill>
            <a:srgbClr val="0891B2">
              <a:alpha val="20000"/>
            </a:srgbClr>
          </a:solidFill>
          <a:ln/>
        </p:spPr>
        <p:txBody>
          <a:bodyPr wrap="square" lIns="0" tIns="0" rIns="0" bIns="0" rtlCol="0" anchor="ctr"/>
          <a:lstStyle/>
          <a:p>
            <a:pPr marL="0" indent="0" algn="ctr">
              <a:buNone/>
            </a:pPr>
            <a:r>
              <a:rPr lang="en-US" sz="750" b="1" dirty="0">
                <a:solidFill>
                  <a:srgbClr val="FFFFFF"/>
                </a:solidFill>
              </a:rPr>
              <a:t>LangChain</a:t>
            </a:r>
          </a:p>
        </p:txBody>
      </p:sp>
      <p:sp>
        <p:nvSpPr>
          <p:cNvPr id="131" name="Pill"/>
          <p:cNvSpPr/>
          <p:nvPr/>
        </p:nvSpPr>
        <p:spPr>
          <a:xfrm>
            <a:off x="6346300" y="3420000"/>
            <a:ext cx="690000" cy="250000"/>
          </a:xfrm>
          <a:prstGeom prst="roundRect">
            <a:avLst>
              <a:gd name="adj" fmla="val 50000"/>
            </a:avLst>
          </a:prstGeom>
          <a:solidFill>
            <a:srgbClr val="059669">
              <a:alpha val="20000"/>
            </a:srgbClr>
          </a:solidFill>
          <a:ln/>
        </p:spPr>
        <p:txBody>
          <a:bodyPr wrap="square" lIns="0" tIns="0" rIns="0" bIns="0" rtlCol="0" anchor="ctr"/>
          <a:lstStyle/>
          <a:p>
            <a:pPr marL="0" indent="0" algn="ctr">
              <a:buNone/>
            </a:pPr>
            <a:r>
              <a:rPr lang="en-US" sz="750" b="1" dirty="0">
                <a:solidFill>
                  <a:srgbClr val="FFFFFF"/>
                </a:solidFill>
              </a:rPr>
              <a:t>Pinecone</a:t>
            </a:r>
          </a:p>
        </p:txBody>
      </p:sp>
      <p:sp>
        <p:nvSpPr>
          <p:cNvPr id="132" name="Pill"/>
          <p:cNvSpPr/>
          <p:nvPr/>
        </p:nvSpPr>
        <p:spPr>
          <a:xfrm>
            <a:off x="7116300" y="3420000"/>
            <a:ext cx="570000" cy="250000"/>
          </a:xfrm>
          <a:prstGeom prst="roundRect">
            <a:avLst>
              <a:gd name="adj" fmla="val 50000"/>
            </a:avLst>
          </a:prstGeom>
          <a:solidFill>
            <a:srgbClr val="D97706">
              <a:alpha val="20000"/>
            </a:srgbClr>
          </a:solidFill>
          <a:ln/>
        </p:spPr>
        <p:txBody>
          <a:bodyPr wrap="square" lIns="0" tIns="0" rIns="0" bIns="0" rtlCol="0" anchor="ctr"/>
          <a:lstStyle/>
          <a:p>
            <a:pPr marL="0" indent="0" algn="ctr">
              <a:buNone/>
            </a:pPr>
            <a:r>
              <a:rPr lang="en-US" sz="750" b="1" dirty="0">
                <a:solidFill>
                  <a:srgbClr val="FFFFFF"/>
                </a:solidFill>
              </a:rPr>
              <a:t>Docker</a:t>
            </a:r>
          </a:p>
        </p:txBody>
      </p:sp>
      <p:sp>
        <p:nvSpPr>
          <p:cNvPr id="133" name="Pill"/>
          <p:cNvSpPr/>
          <p:nvPr/>
        </p:nvSpPr>
        <p:spPr>
          <a:xfrm>
            <a:off x="7766300" y="3420000"/>
            <a:ext cx="510000" cy="250000"/>
          </a:xfrm>
          <a:prstGeom prst="roundRect">
            <a:avLst>
              <a:gd name="adj" fmla="val 50000"/>
            </a:avLst>
          </a:prstGeom>
          <a:solidFill>
            <a:srgbClr val="2563EB">
              <a:alpha val="20000"/>
            </a:srgbClr>
          </a:solidFill>
          <a:ln/>
        </p:spPr>
        <p:txBody>
          <a:bodyPr wrap="square" lIns="0" tIns="0" rIns="0" bIns="0" rtlCol="0" anchor="ctr"/>
          <a:lstStyle/>
          <a:p>
            <a:pPr marL="0" indent="0" algn="ctr">
              <a:buNone/>
            </a:pPr>
            <a:r>
              <a:rPr lang="en-US" sz="750" b="1" dirty="0">
                <a:solidFill>
                  <a:srgbClr val="FFFFFF"/>
                </a:solidFill>
              </a:rPr>
              <a:t>Azure</a:t>
            </a:r>
          </a:p>
        </p:txBody>
      </p:sp>
      <p:sp>
        <p:nvSpPr>
          <p:cNvPr id="134" name="Pill"/>
          <p:cNvSpPr/>
          <p:nvPr/>
        </p:nvSpPr>
        <p:spPr>
          <a:xfrm>
            <a:off x="4686300" y="3720000"/>
            <a:ext cx="750000" cy="250000"/>
          </a:xfrm>
          <a:prstGeom prst="roundRect">
            <a:avLst>
              <a:gd name="adj" fmla="val 50000"/>
            </a:avLst>
          </a:prstGeom>
          <a:solidFill>
            <a:srgbClr val="0891B2">
              <a:alpha val="20000"/>
            </a:srgbClr>
          </a:solidFill>
          <a:ln/>
        </p:spPr>
        <p:txBody>
          <a:bodyPr wrap="square" lIns="0" tIns="0" rIns="0" bIns="0" rtlCol="0" anchor="ctr"/>
          <a:lstStyle/>
          <a:p>
            <a:pPr marL="0" indent="0" algn="ctr">
              <a:buNone/>
            </a:pPr>
            <a:r>
              <a:rPr lang="en-US" sz="750" b="1" dirty="0">
                <a:solidFill>
                  <a:srgbClr val="FFFFFF"/>
                </a:solidFill>
              </a:rPr>
              <a:t>LangSmith</a:t>
            </a:r>
          </a:p>
        </p:txBody>
      </p:sp>
      <p:sp>
        <p:nvSpPr>
          <p:cNvPr id="135" name="Pill"/>
          <p:cNvSpPr/>
          <p:nvPr/>
        </p:nvSpPr>
        <p:spPr>
          <a:xfrm>
            <a:off x="5516300" y="3720000"/>
            <a:ext cx="570000" cy="250000"/>
          </a:xfrm>
          <a:prstGeom prst="roundRect">
            <a:avLst>
              <a:gd name="adj" fmla="val 50000"/>
            </a:avLst>
          </a:prstGeom>
          <a:solidFill>
            <a:srgbClr val="94A3B8">
              <a:alpha val="20000"/>
            </a:srgbClr>
          </a:solidFill>
          <a:ln/>
        </p:spPr>
        <p:txBody>
          <a:bodyPr wrap="square" lIns="0" tIns="0" rIns="0" bIns="0" rtlCol="0" anchor="ctr"/>
          <a:lstStyle/>
          <a:p>
            <a:pPr marL="0" indent="0" algn="ctr">
              <a:buNone/>
            </a:pPr>
            <a:r>
              <a:rPr lang="en-US" sz="750" b="1" dirty="0">
                <a:solidFill>
                  <a:srgbClr val="FFFFFF"/>
                </a:solidFill>
              </a:rPr>
              <a:t>OpenAI</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4">
    <p:bg>
      <p:bgPr>
        <a:solidFill>
          <a:srgbClr val="0F1B2D"/>
        </a:solidFill>
        <a:effectLst/>
      </p:bgPr>
    </p:bg>
    <p:spTree>
      <p:nvGrpSpPr>
        <p:cNvPr id="1" name=""/>
        <p:cNvGrpSpPr/>
        <p:nvPr/>
      </p:nvGrpSpPr>
      <p:grpSpPr>
        <a:xfrm>
          <a:off x="0" y="0"/>
          <a:ext cx="0" cy="0"/>
          <a:chOff x="0" y="0"/>
          <a:chExt cx="0" cy="0"/>
        </a:xfrm>
      </p:grpSpPr>
      <p:sp>
        <p:nvSpPr>
          <p:cNvPr id="2" name="Shape 0"/>
          <p:cNvSpPr/>
          <p:nvPr/>
        </p:nvSpPr>
        <p:spPr>
          <a:xfrm>
            <a:off x="457200" y="274320"/>
            <a:ext cx="1280160" cy="256032"/>
          </a:xfrm>
          <a:prstGeom prst="roundRect">
            <a:avLst>
              <a:gd name="adj" fmla="val 50000"/>
            </a:avLst>
          </a:prstGeom>
          <a:solidFill>
            <a:srgbClr val="2563EB">
              <a:alpha val="25000"/>
            </a:srgbClr>
          </a:solidFill>
          <a:ln/>
        </p:spPr>
      </p:sp>
      <p:sp>
        <p:nvSpPr>
          <p:cNvPr id="3" name="Text 1"/>
          <p:cNvSpPr/>
          <p:nvPr/>
        </p:nvSpPr>
        <p:spPr>
          <a:xfrm>
            <a:off x="457200" y="274320"/>
            <a:ext cx="1280160" cy="256032"/>
          </a:xfrm>
          <a:prstGeom prst="rect">
            <a:avLst/>
          </a:prstGeom>
          <a:noFill/>
          <a:ln/>
        </p:spPr>
        <p:txBody>
          <a:bodyPr wrap="square" lIns="0" tIns="0" rIns="0" bIns="0" rtlCol="0" anchor="ctr"/>
          <a:lstStyle/>
          <a:p>
            <a:pPr marL="0" indent="0" algn="ctr">
              <a:buNone/>
            </a:pPr>
            <a:r>
              <a:rPr lang="en-US" sz="900" b="1" kern="0" spc="150" dirty="0">
                <a:solidFill>
                  <a:srgbClr val="2563EB"/>
                </a:solidFill>
              </a:rPr>
              <a:t>ARCHITECTURE</a:t>
            </a:r>
            <a:endParaRPr lang="en-US" sz="900" dirty="0"/>
          </a:p>
        </p:txBody>
      </p:sp>
      <p:sp>
        <p:nvSpPr>
          <p:cNvPr id="4" name="Text 2"/>
          <p:cNvSpPr/>
          <p:nvPr/>
        </p:nvSpPr>
        <p:spPr>
          <a:xfrm>
            <a:off x="457200" y="621792"/>
            <a:ext cx="8229600" cy="50292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System Architecture</a:t>
            </a:r>
            <a:endParaRPr lang="en-US" sz="3000" dirty="0"/>
          </a:p>
        </p:txBody>
      </p:sp>
      <p:sp>
        <p:nvSpPr>
          <p:cNvPr id="5" name="Shape 3"/>
          <p:cNvSpPr/>
          <p:nvPr/>
        </p:nvSpPr>
        <p:spPr>
          <a:xfrm>
            <a:off x="365760" y="1325880"/>
            <a:ext cx="1572768" cy="2651760"/>
          </a:xfrm>
          <a:prstGeom prst="roundRect">
            <a:avLst>
              <a:gd name="adj" fmla="val 5814"/>
            </a:avLst>
          </a:prstGeom>
          <a:solidFill>
            <a:srgbClr val="162032"/>
          </a:solidFill>
          <a:ln/>
          <a:effectLst>
            <a:outerShdw blurRad="101600" dist="38100" dir="2700000" algn="bl" rotWithShape="0">
              <a:srgbClr val="000000">
                <a:alpha val="18000"/>
              </a:srgbClr>
            </a:outerShdw>
          </a:effectLst>
        </p:spPr>
      </p:sp>
      <p:sp>
        <p:nvSpPr>
          <p:cNvPr id="6" name="Shape 4"/>
          <p:cNvSpPr/>
          <p:nvPr/>
        </p:nvSpPr>
        <p:spPr>
          <a:xfrm>
            <a:off x="365760" y="1325880"/>
            <a:ext cx="1572768" cy="347472"/>
          </a:xfrm>
          <a:prstGeom prst="roundRect">
            <a:avLst>
              <a:gd name="adj" fmla="val 26316"/>
            </a:avLst>
          </a:prstGeom>
          <a:solidFill>
            <a:srgbClr val="0891B2">
              <a:alpha val="75000"/>
            </a:srgbClr>
          </a:solidFill>
          <a:ln/>
        </p:spPr>
      </p:sp>
      <p:sp>
        <p:nvSpPr>
          <p:cNvPr id="7" name="Text 5"/>
          <p:cNvSpPr/>
          <p:nvPr/>
        </p:nvSpPr>
        <p:spPr>
          <a:xfrm>
            <a:off x="365760" y="1325880"/>
            <a:ext cx="1572768" cy="347472"/>
          </a:xfrm>
          <a:prstGeom prst="rect">
            <a:avLst/>
          </a:prstGeom>
          <a:noFill/>
          <a:ln/>
        </p:spPr>
        <p:txBody>
          <a:bodyPr wrap="square" lIns="0" tIns="0" rIns="0" bIns="0" rtlCol="0" anchor="ctr"/>
          <a:lstStyle/>
          <a:p>
            <a:pPr marL="0" indent="0" algn="ctr">
              <a:buNone/>
            </a:pPr>
            <a:r>
              <a:rPr lang="en-US" sz="1000" b="1" dirty="0">
                <a:solidFill>
                  <a:srgbClr val="FFFFFF"/>
                </a:solidFill>
              </a:rPr>
              <a:t>UI Layer</a:t>
            </a:r>
            <a:endParaRPr lang="en-US" sz="1000" dirty="0"/>
          </a:p>
        </p:txBody>
      </p:sp>
      <p:sp>
        <p:nvSpPr>
          <p:cNvPr id="8" name="Text 6"/>
          <p:cNvSpPr/>
          <p:nvPr/>
        </p:nvSpPr>
        <p:spPr>
          <a:xfrm>
            <a:off x="457200" y="1783080"/>
            <a:ext cx="1389888" cy="384048"/>
          </a:xfrm>
          <a:prstGeom prst="rect">
            <a:avLst/>
          </a:prstGeom>
          <a:noFill/>
          <a:ln/>
        </p:spPr>
        <p:txBody>
          <a:bodyPr wrap="square" lIns="0" tIns="0" rIns="0" bIns="0" rtlCol="0" anchor="ctr"/>
          <a:lstStyle/>
          <a:p>
            <a:pPr marL="0" indent="0" algn="ctr">
              <a:lnSpc>
                <a:spcPct val="120000"/>
              </a:lnSpc>
              <a:buNone/>
            </a:pPr>
            <a:r>
              <a:rPr lang="en-US" sz="900" dirty="0">
                <a:solidFill>
                  <a:srgbClr val="CBD5E1"/>
                </a:solidFill>
              </a:rPr>
              <a:t>Streamlit Web App</a:t>
            </a:r>
            <a:endParaRPr lang="en-US" sz="900" dirty="0"/>
          </a:p>
        </p:txBody>
      </p:sp>
      <p:sp>
        <p:nvSpPr>
          <p:cNvPr id="9" name="Text 7"/>
          <p:cNvSpPr/>
          <p:nvPr/>
        </p:nvSpPr>
        <p:spPr>
          <a:xfrm>
            <a:off x="457200" y="2258568"/>
            <a:ext cx="1389888" cy="384048"/>
          </a:xfrm>
          <a:prstGeom prst="rect">
            <a:avLst/>
          </a:prstGeom>
          <a:noFill/>
          <a:ln/>
        </p:spPr>
        <p:txBody>
          <a:bodyPr wrap="square" lIns="0" tIns="0" rIns="0" bIns="0" rtlCol="0" anchor="ctr"/>
          <a:lstStyle/>
          <a:p>
            <a:pPr marL="0" indent="0" algn="ctr">
              <a:lnSpc>
                <a:spcPct val="120000"/>
              </a:lnSpc>
              <a:buNone/>
            </a:pPr>
            <a:r>
              <a:rPr lang="en-US" sz="900" dirty="0">
                <a:solidFill>
                  <a:srgbClr val="CBD5E1"/>
                </a:solidFill>
              </a:rPr>
              <a:t>Auth (JWT + bcrypt)</a:t>
            </a:r>
            <a:endParaRPr lang="en-US" sz="900" dirty="0"/>
          </a:p>
        </p:txBody>
      </p:sp>
      <p:sp>
        <p:nvSpPr>
          <p:cNvPr id="10" name="Text 8"/>
          <p:cNvSpPr/>
          <p:nvPr/>
        </p:nvSpPr>
        <p:spPr>
          <a:xfrm>
            <a:off x="457200" y="2734056"/>
            <a:ext cx="1389888" cy="384048"/>
          </a:xfrm>
          <a:prstGeom prst="rect">
            <a:avLst/>
          </a:prstGeom>
          <a:noFill/>
          <a:ln/>
        </p:spPr>
        <p:txBody>
          <a:bodyPr wrap="square" lIns="0" tIns="0" rIns="0" bIns="0" rtlCol="0" anchor="ctr"/>
          <a:lstStyle/>
          <a:p>
            <a:pPr marL="0" indent="0" algn="ctr">
              <a:lnSpc>
                <a:spcPct val="120000"/>
              </a:lnSpc>
              <a:buNone/>
            </a:pPr>
            <a:r>
              <a:rPr lang="en-US" sz="900" dirty="0">
                <a:solidFill>
                  <a:srgbClr val="CBD5E1"/>
                </a:solidFill>
              </a:rPr>
              <a:t>Customer + Institution Views</a:t>
            </a:r>
            <a:endParaRPr lang="en-US" sz="900" dirty="0"/>
          </a:p>
        </p:txBody>
      </p:sp>
      <p:sp>
        <p:nvSpPr>
          <p:cNvPr id="11" name="Shape 9"/>
          <p:cNvSpPr/>
          <p:nvPr/>
        </p:nvSpPr>
        <p:spPr>
          <a:xfrm>
            <a:off x="1938528" y="2651760"/>
            <a:ext cx="146304" cy="0"/>
          </a:xfrm>
          <a:prstGeom prst="line">
            <a:avLst/>
          </a:prstGeom>
          <a:noFill/>
          <a:ln w="19050">
            <a:solidFill>
              <a:srgbClr val="0891B2"/>
            </a:solidFill>
            <a:prstDash val="sysDash"/>
          </a:ln>
        </p:spPr>
      </p:sp>
      <p:sp>
        <p:nvSpPr>
          <p:cNvPr id="12" name="Shape 10"/>
          <p:cNvSpPr/>
          <p:nvPr/>
        </p:nvSpPr>
        <p:spPr>
          <a:xfrm>
            <a:off x="2084832" y="1325880"/>
            <a:ext cx="1572768" cy="2651760"/>
          </a:xfrm>
          <a:prstGeom prst="roundRect">
            <a:avLst>
              <a:gd name="adj" fmla="val 5814"/>
            </a:avLst>
          </a:prstGeom>
          <a:solidFill>
            <a:srgbClr val="162032"/>
          </a:solidFill>
          <a:ln/>
          <a:effectLst>
            <a:outerShdw blurRad="101600" dist="38100" dir="2700000" algn="bl" rotWithShape="0">
              <a:srgbClr val="000000">
                <a:alpha val="18000"/>
              </a:srgbClr>
            </a:outerShdw>
          </a:effectLst>
        </p:spPr>
      </p:sp>
      <p:sp>
        <p:nvSpPr>
          <p:cNvPr id="13" name="Shape 11"/>
          <p:cNvSpPr/>
          <p:nvPr/>
        </p:nvSpPr>
        <p:spPr>
          <a:xfrm>
            <a:off x="2084832" y="1325880"/>
            <a:ext cx="1572768" cy="347472"/>
          </a:xfrm>
          <a:prstGeom prst="roundRect">
            <a:avLst>
              <a:gd name="adj" fmla="val 26316"/>
            </a:avLst>
          </a:prstGeom>
          <a:solidFill>
            <a:srgbClr val="2563EB">
              <a:alpha val="75000"/>
            </a:srgbClr>
          </a:solidFill>
          <a:ln/>
        </p:spPr>
      </p:sp>
      <p:sp>
        <p:nvSpPr>
          <p:cNvPr id="14" name="Text 12"/>
          <p:cNvSpPr/>
          <p:nvPr/>
        </p:nvSpPr>
        <p:spPr>
          <a:xfrm>
            <a:off x="2084832" y="1325880"/>
            <a:ext cx="1572768" cy="347472"/>
          </a:xfrm>
          <a:prstGeom prst="rect">
            <a:avLst/>
          </a:prstGeom>
          <a:noFill/>
          <a:ln/>
        </p:spPr>
        <p:txBody>
          <a:bodyPr wrap="square" lIns="0" tIns="0" rIns="0" bIns="0" rtlCol="0" anchor="ctr"/>
          <a:lstStyle/>
          <a:p>
            <a:pPr marL="0" indent="0" algn="ctr">
              <a:buNone/>
            </a:pPr>
            <a:r>
              <a:rPr lang="en-US" sz="1000" b="1" dirty="0">
                <a:solidFill>
                  <a:srgbClr val="FFFFFF"/>
                </a:solidFill>
              </a:rPr>
              <a:t>Orchestrator</a:t>
            </a:r>
            <a:endParaRPr lang="en-US" sz="1000" dirty="0"/>
          </a:p>
        </p:txBody>
      </p:sp>
      <p:sp>
        <p:nvSpPr>
          <p:cNvPr id="15" name="Text 13"/>
          <p:cNvSpPr/>
          <p:nvPr/>
        </p:nvSpPr>
        <p:spPr>
          <a:xfrm>
            <a:off x="2176272" y="1783080"/>
            <a:ext cx="1389888" cy="384048"/>
          </a:xfrm>
          <a:prstGeom prst="rect">
            <a:avLst/>
          </a:prstGeom>
          <a:noFill/>
          <a:ln/>
        </p:spPr>
        <p:txBody>
          <a:bodyPr wrap="square" lIns="0" tIns="0" rIns="0" bIns="0" rtlCol="0" anchor="ctr"/>
          <a:lstStyle/>
          <a:p>
            <a:pPr marL="0" indent="0" algn="ctr">
              <a:lnSpc>
                <a:spcPct val="120000"/>
              </a:lnSpc>
              <a:buNone/>
            </a:pPr>
            <a:r>
              <a:rPr lang="en-US" sz="900" dirty="0">
                <a:solidFill>
                  <a:srgbClr val="CBD5E1"/>
                </a:solidFill>
              </a:rPr>
              <a:t>Chat Agent</a:t>
            </a:r>
            <a:endParaRPr lang="en-US" sz="900" dirty="0"/>
          </a:p>
        </p:txBody>
      </p:sp>
      <p:sp>
        <p:nvSpPr>
          <p:cNvPr id="16" name="Text 14"/>
          <p:cNvSpPr/>
          <p:nvPr/>
        </p:nvSpPr>
        <p:spPr>
          <a:xfrm>
            <a:off x="2176272" y="2258568"/>
            <a:ext cx="1389888" cy="384048"/>
          </a:xfrm>
          <a:prstGeom prst="rect">
            <a:avLst/>
          </a:prstGeom>
          <a:noFill/>
          <a:ln/>
        </p:spPr>
        <p:txBody>
          <a:bodyPr wrap="square" lIns="0" tIns="0" rIns="0" bIns="0" rtlCol="0" anchor="ctr"/>
          <a:lstStyle/>
          <a:p>
            <a:pPr marL="0" indent="0" algn="ctr">
              <a:lnSpc>
                <a:spcPct val="120000"/>
              </a:lnSpc>
              <a:buNone/>
            </a:pPr>
            <a:r>
              <a:rPr lang="en-US" sz="900" dirty="0">
                <a:solidFill>
                  <a:srgbClr val="CBD5E1"/>
                </a:solidFill>
              </a:rPr>
              <a:t>Document Agent</a:t>
            </a:r>
            <a:endParaRPr lang="en-US" sz="900" dirty="0"/>
          </a:p>
        </p:txBody>
      </p:sp>
      <p:sp>
        <p:nvSpPr>
          <p:cNvPr id="17" name="Text 15"/>
          <p:cNvSpPr/>
          <p:nvPr/>
        </p:nvSpPr>
        <p:spPr>
          <a:xfrm>
            <a:off x="2176272" y="2734056"/>
            <a:ext cx="1389888" cy="384048"/>
          </a:xfrm>
          <a:prstGeom prst="rect">
            <a:avLst/>
          </a:prstGeom>
          <a:noFill/>
          <a:ln/>
        </p:spPr>
        <p:txBody>
          <a:bodyPr wrap="square" lIns="0" tIns="0" rIns="0" bIns="0" rtlCol="0" anchor="ctr"/>
          <a:lstStyle/>
          <a:p>
            <a:pPr marL="0" indent="0" algn="ctr">
              <a:lnSpc>
                <a:spcPct val="120000"/>
              </a:lnSpc>
              <a:buNone/>
            </a:pPr>
            <a:r>
              <a:rPr lang="en-US" sz="900" dirty="0">
                <a:solidFill>
                  <a:srgbClr val="CBD5E1"/>
                </a:solidFill>
              </a:rPr>
              <a:t>Retrieval Agent</a:t>
            </a:r>
            <a:endParaRPr lang="en-US" sz="900" dirty="0"/>
          </a:p>
        </p:txBody>
      </p:sp>
      <p:sp>
        <p:nvSpPr>
          <p:cNvPr id="18" name="Shape 16"/>
          <p:cNvSpPr/>
          <p:nvPr/>
        </p:nvSpPr>
        <p:spPr>
          <a:xfrm>
            <a:off x="3657600" y="2651760"/>
            <a:ext cx="146304" cy="0"/>
          </a:xfrm>
          <a:prstGeom prst="line">
            <a:avLst/>
          </a:prstGeom>
          <a:noFill/>
          <a:ln w="19050">
            <a:solidFill>
              <a:srgbClr val="2563EB"/>
            </a:solidFill>
            <a:prstDash val="sysDash"/>
          </a:ln>
        </p:spPr>
      </p:sp>
      <p:sp>
        <p:nvSpPr>
          <p:cNvPr id="19" name="Shape 17"/>
          <p:cNvSpPr/>
          <p:nvPr/>
        </p:nvSpPr>
        <p:spPr>
          <a:xfrm>
            <a:off x="3803904" y="1325880"/>
            <a:ext cx="1572768" cy="2651760"/>
          </a:xfrm>
          <a:prstGeom prst="roundRect">
            <a:avLst>
              <a:gd name="adj" fmla="val 5814"/>
            </a:avLst>
          </a:prstGeom>
          <a:solidFill>
            <a:srgbClr val="162032"/>
          </a:solidFill>
          <a:ln/>
          <a:effectLst>
            <a:outerShdw blurRad="101600" dist="38100" dir="2700000" algn="bl" rotWithShape="0">
              <a:srgbClr val="000000">
                <a:alpha val="18000"/>
              </a:srgbClr>
            </a:outerShdw>
          </a:effectLst>
        </p:spPr>
      </p:sp>
      <p:sp>
        <p:nvSpPr>
          <p:cNvPr id="20" name="Shape 18"/>
          <p:cNvSpPr/>
          <p:nvPr/>
        </p:nvSpPr>
        <p:spPr>
          <a:xfrm>
            <a:off x="3803904" y="1325880"/>
            <a:ext cx="1572768" cy="347472"/>
          </a:xfrm>
          <a:prstGeom prst="roundRect">
            <a:avLst>
              <a:gd name="adj" fmla="val 26316"/>
            </a:avLst>
          </a:prstGeom>
          <a:solidFill>
            <a:srgbClr val="D97706">
              <a:alpha val="75000"/>
            </a:srgbClr>
          </a:solidFill>
          <a:ln/>
        </p:spPr>
      </p:sp>
      <p:sp>
        <p:nvSpPr>
          <p:cNvPr id="21" name="Text 19"/>
          <p:cNvSpPr/>
          <p:nvPr/>
        </p:nvSpPr>
        <p:spPr>
          <a:xfrm>
            <a:off x="3803904" y="1325880"/>
            <a:ext cx="1572768" cy="347472"/>
          </a:xfrm>
          <a:prstGeom prst="rect">
            <a:avLst/>
          </a:prstGeom>
          <a:noFill/>
          <a:ln/>
        </p:spPr>
        <p:txBody>
          <a:bodyPr wrap="square" lIns="0" tIns="0" rIns="0" bIns="0" rtlCol="0" anchor="ctr"/>
          <a:lstStyle/>
          <a:p>
            <a:pPr marL="0" indent="0" algn="ctr">
              <a:buNone/>
            </a:pPr>
            <a:r>
              <a:rPr lang="en-US" sz="1000" b="1" dirty="0">
                <a:solidFill>
                  <a:srgbClr val="FFFFFF"/>
                </a:solidFill>
              </a:rPr>
              <a:t>AI / LLM</a:t>
            </a:r>
            <a:endParaRPr lang="en-US" sz="1000" dirty="0"/>
          </a:p>
        </p:txBody>
      </p:sp>
      <p:sp>
        <p:nvSpPr>
          <p:cNvPr id="22" name="Text 20"/>
          <p:cNvSpPr/>
          <p:nvPr/>
        </p:nvSpPr>
        <p:spPr>
          <a:xfrm>
            <a:off x="3895344" y="1783080"/>
            <a:ext cx="1389888" cy="384048"/>
          </a:xfrm>
          <a:prstGeom prst="rect">
            <a:avLst/>
          </a:prstGeom>
          <a:noFill/>
          <a:ln/>
        </p:spPr>
        <p:txBody>
          <a:bodyPr wrap="square" lIns="0" tIns="0" rIns="0" bIns="0" rtlCol="0" anchor="ctr"/>
          <a:lstStyle/>
          <a:p>
            <a:pPr marL="0" indent="0" algn="ctr">
              <a:lnSpc>
                <a:spcPct val="120000"/>
              </a:lnSpc>
              <a:buNone/>
            </a:pPr>
            <a:r>
              <a:rPr lang="en-US" sz="900" dirty="0">
                <a:solidFill>
                  <a:srgbClr val="CBD5E1"/>
                </a:solidFill>
              </a:rPr>
              <a:t>OpenAI → Groq → Gemini</a:t>
            </a:r>
            <a:endParaRPr lang="en-US" sz="900" dirty="0"/>
          </a:p>
        </p:txBody>
      </p:sp>
      <p:sp>
        <p:nvSpPr>
          <p:cNvPr id="23" name="Text 21"/>
          <p:cNvSpPr/>
          <p:nvPr/>
        </p:nvSpPr>
        <p:spPr>
          <a:xfrm>
            <a:off x="3895344" y="2258568"/>
            <a:ext cx="1389888" cy="384048"/>
          </a:xfrm>
          <a:prstGeom prst="rect">
            <a:avLst/>
          </a:prstGeom>
          <a:noFill/>
          <a:ln/>
        </p:spPr>
        <p:txBody>
          <a:bodyPr wrap="square" lIns="0" tIns="0" rIns="0" bIns="0" rtlCol="0" anchor="ctr"/>
          <a:lstStyle/>
          <a:p>
            <a:pPr marL="0" indent="0" algn="ctr">
              <a:lnSpc>
                <a:spcPct val="120000"/>
              </a:lnSpc>
              <a:buNone/>
            </a:pPr>
            <a:r>
              <a:rPr lang="en-US" sz="900" dirty="0">
                <a:solidFill>
                  <a:srgbClr val="CBD5E1"/>
                </a:solidFill>
              </a:rPr>
              <a:t>3-tier fallback chain</a:t>
            </a:r>
            <a:endParaRPr lang="en-US" sz="900" dirty="0"/>
          </a:p>
        </p:txBody>
      </p:sp>
      <p:sp>
        <p:nvSpPr>
          <p:cNvPr id="24" name="Text 22"/>
          <p:cNvSpPr/>
          <p:nvPr/>
        </p:nvSpPr>
        <p:spPr>
          <a:xfrm>
            <a:off x="3895344" y="2734056"/>
            <a:ext cx="1389888" cy="384048"/>
          </a:xfrm>
          <a:prstGeom prst="rect">
            <a:avLst/>
          </a:prstGeom>
          <a:noFill/>
          <a:ln/>
        </p:spPr>
        <p:txBody>
          <a:bodyPr wrap="square" lIns="0" tIns="0" rIns="0" bIns="0" rtlCol="0" anchor="ctr"/>
          <a:lstStyle/>
          <a:p>
            <a:pPr marL="0" indent="0" algn="ctr">
              <a:lnSpc>
                <a:spcPct val="120000"/>
              </a:lnSpc>
              <a:buNone/>
            </a:pPr>
            <a:r>
              <a:rPr lang="en-US" sz="900" dirty="0">
                <a:solidFill>
                  <a:srgbClr val="CBD5E1"/>
                </a:solidFill>
              </a:rPr>
              <a:t>LangSmith tracing</a:t>
            </a:r>
            <a:endParaRPr lang="en-US" sz="900" dirty="0"/>
          </a:p>
        </p:txBody>
      </p:sp>
      <p:sp>
        <p:nvSpPr>
          <p:cNvPr id="25" name="Shape 23"/>
          <p:cNvSpPr/>
          <p:nvPr/>
        </p:nvSpPr>
        <p:spPr>
          <a:xfrm>
            <a:off x="5376672" y="2651760"/>
            <a:ext cx="146304" cy="0"/>
          </a:xfrm>
          <a:prstGeom prst="line">
            <a:avLst/>
          </a:prstGeom>
          <a:noFill/>
          <a:ln w="19050">
            <a:solidFill>
              <a:srgbClr val="D97706"/>
            </a:solidFill>
            <a:prstDash val="sysDash"/>
          </a:ln>
        </p:spPr>
      </p:sp>
      <p:sp>
        <p:nvSpPr>
          <p:cNvPr id="26" name="Shape 24"/>
          <p:cNvSpPr/>
          <p:nvPr/>
        </p:nvSpPr>
        <p:spPr>
          <a:xfrm>
            <a:off x="5522976" y="1325880"/>
            <a:ext cx="1572768" cy="2651760"/>
          </a:xfrm>
          <a:prstGeom prst="roundRect">
            <a:avLst>
              <a:gd name="adj" fmla="val 5814"/>
            </a:avLst>
          </a:prstGeom>
          <a:solidFill>
            <a:srgbClr val="162032"/>
          </a:solidFill>
          <a:ln/>
          <a:effectLst>
            <a:outerShdw blurRad="101600" dist="38100" dir="2700000" algn="bl" rotWithShape="0">
              <a:srgbClr val="000000">
                <a:alpha val="18000"/>
              </a:srgbClr>
            </a:outerShdw>
          </a:effectLst>
        </p:spPr>
      </p:sp>
      <p:sp>
        <p:nvSpPr>
          <p:cNvPr id="27" name="Shape 25"/>
          <p:cNvSpPr/>
          <p:nvPr/>
        </p:nvSpPr>
        <p:spPr>
          <a:xfrm>
            <a:off x="5522976" y="1325880"/>
            <a:ext cx="1572768" cy="347472"/>
          </a:xfrm>
          <a:prstGeom prst="roundRect">
            <a:avLst>
              <a:gd name="adj" fmla="val 26316"/>
            </a:avLst>
          </a:prstGeom>
          <a:solidFill>
            <a:srgbClr val="059669">
              <a:alpha val="75000"/>
            </a:srgbClr>
          </a:solidFill>
          <a:ln/>
        </p:spPr>
      </p:sp>
      <p:sp>
        <p:nvSpPr>
          <p:cNvPr id="28" name="Text 26"/>
          <p:cNvSpPr/>
          <p:nvPr/>
        </p:nvSpPr>
        <p:spPr>
          <a:xfrm>
            <a:off x="5522976" y="1325880"/>
            <a:ext cx="1572768" cy="347472"/>
          </a:xfrm>
          <a:prstGeom prst="rect">
            <a:avLst/>
          </a:prstGeom>
          <a:noFill/>
          <a:ln/>
        </p:spPr>
        <p:txBody>
          <a:bodyPr wrap="square" lIns="0" tIns="0" rIns="0" bIns="0" rtlCol="0" anchor="ctr"/>
          <a:lstStyle/>
          <a:p>
            <a:pPr marL="0" indent="0" algn="ctr">
              <a:buNone/>
            </a:pPr>
            <a:r>
              <a:rPr lang="en-US" sz="1000" b="1" dirty="0">
                <a:solidFill>
                  <a:srgbClr val="FFFFFF"/>
                </a:solidFill>
              </a:rPr>
              <a:t>Data Layer</a:t>
            </a:r>
            <a:endParaRPr lang="en-US" sz="1000" dirty="0"/>
          </a:p>
        </p:txBody>
      </p:sp>
      <p:sp>
        <p:nvSpPr>
          <p:cNvPr id="29" name="Text 27"/>
          <p:cNvSpPr/>
          <p:nvPr/>
        </p:nvSpPr>
        <p:spPr>
          <a:xfrm>
            <a:off x="5614416" y="1783080"/>
            <a:ext cx="1389888" cy="384048"/>
          </a:xfrm>
          <a:prstGeom prst="rect">
            <a:avLst/>
          </a:prstGeom>
          <a:noFill/>
          <a:ln/>
        </p:spPr>
        <p:txBody>
          <a:bodyPr wrap="square" lIns="0" tIns="0" rIns="0" bIns="0" rtlCol="0" anchor="ctr"/>
          <a:lstStyle/>
          <a:p>
            <a:pPr marL="0" indent="0" algn="ctr">
              <a:lnSpc>
                <a:spcPct val="120000"/>
              </a:lnSpc>
              <a:buNone/>
            </a:pPr>
            <a:r>
              <a:rPr lang="en-US" sz="900" dirty="0">
                <a:solidFill>
                  <a:srgbClr val="CBD5E1"/>
                </a:solidFill>
              </a:rPr>
              <a:t>Pinecone Vector DB</a:t>
            </a:r>
            <a:endParaRPr lang="en-US" sz="900" dirty="0"/>
          </a:p>
        </p:txBody>
      </p:sp>
      <p:sp>
        <p:nvSpPr>
          <p:cNvPr id="30" name="Text 28"/>
          <p:cNvSpPr/>
          <p:nvPr/>
        </p:nvSpPr>
        <p:spPr>
          <a:xfrm>
            <a:off x="5614416" y="2258568"/>
            <a:ext cx="1389888" cy="384048"/>
          </a:xfrm>
          <a:prstGeom prst="rect">
            <a:avLst/>
          </a:prstGeom>
          <a:noFill/>
          <a:ln/>
        </p:spPr>
        <p:txBody>
          <a:bodyPr wrap="square" lIns="0" tIns="0" rIns="0" bIns="0" rtlCol="0" anchor="ctr"/>
          <a:lstStyle/>
          <a:p>
            <a:pPr marL="0" indent="0" algn="ctr">
              <a:lnSpc>
                <a:spcPct val="120000"/>
              </a:lnSpc>
              <a:buNone/>
            </a:pPr>
            <a:r>
              <a:rPr lang="en-US" sz="900" dirty="0">
                <a:solidFill>
                  <a:srgbClr val="CBD5E1"/>
                </a:solidFill>
              </a:rPr>
              <a:t>BM25 Hybrid Search</a:t>
            </a:r>
            <a:endParaRPr lang="en-US" sz="900" dirty="0"/>
          </a:p>
        </p:txBody>
      </p:sp>
      <p:sp>
        <p:nvSpPr>
          <p:cNvPr id="31" name="Text 29"/>
          <p:cNvSpPr/>
          <p:nvPr/>
        </p:nvSpPr>
        <p:spPr>
          <a:xfrm>
            <a:off x="5614416" y="2734056"/>
            <a:ext cx="1389888" cy="384048"/>
          </a:xfrm>
          <a:prstGeom prst="rect">
            <a:avLst/>
          </a:prstGeom>
          <a:noFill/>
          <a:ln/>
        </p:spPr>
        <p:txBody>
          <a:bodyPr wrap="square" lIns="0" tIns="0" rIns="0" bIns="0" rtlCol="0" anchor="ctr"/>
          <a:lstStyle/>
          <a:p>
            <a:pPr marL="0" indent="0" algn="ctr">
              <a:lnSpc>
                <a:spcPct val="120000"/>
              </a:lnSpc>
              <a:buNone/>
            </a:pPr>
            <a:r>
              <a:rPr lang="en-US" sz="900" dirty="0">
                <a:solidFill>
                  <a:srgbClr val="CBD5E1"/>
                </a:solidFill>
              </a:rPr>
              <a:t>SQLite User Auth</a:t>
            </a:r>
            <a:endParaRPr lang="en-US" sz="900" dirty="0"/>
          </a:p>
        </p:txBody>
      </p:sp>
      <p:sp>
        <p:nvSpPr>
          <p:cNvPr id="32" name="Shape 30"/>
          <p:cNvSpPr/>
          <p:nvPr/>
        </p:nvSpPr>
        <p:spPr>
          <a:xfrm>
            <a:off x="7095744" y="2651760"/>
            <a:ext cx="146304" cy="0"/>
          </a:xfrm>
          <a:prstGeom prst="line">
            <a:avLst/>
          </a:prstGeom>
          <a:noFill/>
          <a:ln w="19050">
            <a:solidFill>
              <a:srgbClr val="059669"/>
            </a:solidFill>
            <a:prstDash val="sysDash"/>
          </a:ln>
        </p:spPr>
      </p:sp>
      <p:sp>
        <p:nvSpPr>
          <p:cNvPr id="33" name="Shape 31"/>
          <p:cNvSpPr/>
          <p:nvPr/>
        </p:nvSpPr>
        <p:spPr>
          <a:xfrm>
            <a:off x="7242048" y="1325880"/>
            <a:ext cx="1572768" cy="2651760"/>
          </a:xfrm>
          <a:prstGeom prst="roundRect">
            <a:avLst>
              <a:gd name="adj" fmla="val 5814"/>
            </a:avLst>
          </a:prstGeom>
          <a:solidFill>
            <a:srgbClr val="162032"/>
          </a:solidFill>
          <a:ln/>
          <a:effectLst>
            <a:outerShdw blurRad="101600" dist="38100" dir="2700000" algn="bl" rotWithShape="0">
              <a:srgbClr val="000000">
                <a:alpha val="18000"/>
              </a:srgbClr>
            </a:outerShdw>
          </a:effectLst>
        </p:spPr>
      </p:sp>
      <p:sp>
        <p:nvSpPr>
          <p:cNvPr id="34" name="Shape 32"/>
          <p:cNvSpPr/>
          <p:nvPr/>
        </p:nvSpPr>
        <p:spPr>
          <a:xfrm>
            <a:off x="7242048" y="1325880"/>
            <a:ext cx="1572768" cy="347472"/>
          </a:xfrm>
          <a:prstGeom prst="roundRect">
            <a:avLst>
              <a:gd name="adj" fmla="val 26316"/>
            </a:avLst>
          </a:prstGeom>
          <a:solidFill>
            <a:srgbClr val="DC2626">
              <a:alpha val="75000"/>
            </a:srgbClr>
          </a:solidFill>
          <a:ln/>
        </p:spPr>
      </p:sp>
      <p:sp>
        <p:nvSpPr>
          <p:cNvPr id="35" name="Text 33"/>
          <p:cNvSpPr/>
          <p:nvPr/>
        </p:nvSpPr>
        <p:spPr>
          <a:xfrm>
            <a:off x="7242048" y="1325880"/>
            <a:ext cx="1572768" cy="347472"/>
          </a:xfrm>
          <a:prstGeom prst="rect">
            <a:avLst/>
          </a:prstGeom>
          <a:noFill/>
          <a:ln/>
        </p:spPr>
        <p:txBody>
          <a:bodyPr wrap="square" lIns="0" tIns="0" rIns="0" bIns="0" rtlCol="0" anchor="ctr"/>
          <a:lstStyle/>
          <a:p>
            <a:pPr marL="0" indent="0" algn="ctr">
              <a:buNone/>
            </a:pPr>
            <a:r>
              <a:rPr lang="en-US" sz="1000" b="1" dirty="0">
                <a:solidFill>
                  <a:srgbClr val="FFFFFF"/>
                </a:solidFill>
              </a:rPr>
              <a:t>Cloud</a:t>
            </a:r>
            <a:endParaRPr lang="en-US" sz="1000" dirty="0"/>
          </a:p>
        </p:txBody>
      </p:sp>
      <p:sp>
        <p:nvSpPr>
          <p:cNvPr id="36" name="Text 34"/>
          <p:cNvSpPr/>
          <p:nvPr/>
        </p:nvSpPr>
        <p:spPr>
          <a:xfrm>
            <a:off x="7333488" y="1783080"/>
            <a:ext cx="1389888" cy="384048"/>
          </a:xfrm>
          <a:prstGeom prst="rect">
            <a:avLst/>
          </a:prstGeom>
          <a:noFill/>
          <a:ln/>
        </p:spPr>
        <p:txBody>
          <a:bodyPr wrap="square" lIns="0" tIns="0" rIns="0" bIns="0" rtlCol="0" anchor="ctr"/>
          <a:lstStyle/>
          <a:p>
            <a:pPr marL="0" indent="0" algn="ctr">
              <a:lnSpc>
                <a:spcPct val="120000"/>
              </a:lnSpc>
              <a:buNone/>
            </a:pPr>
            <a:r>
              <a:rPr lang="en-US" sz="900" dirty="0">
                <a:solidFill>
                  <a:srgbClr val="CBD5E1"/>
                </a:solidFill>
              </a:rPr>
              <a:t>Azure App Service</a:t>
            </a:r>
            <a:endParaRPr lang="en-US" sz="900" dirty="0"/>
          </a:p>
        </p:txBody>
      </p:sp>
      <p:sp>
        <p:nvSpPr>
          <p:cNvPr id="38" name="Text 36"/>
          <p:cNvSpPr/>
          <p:nvPr/>
        </p:nvSpPr>
        <p:spPr>
          <a:xfrm>
            <a:off x="7296912" y="2276856"/>
            <a:ext cx="1389888" cy="384048"/>
          </a:xfrm>
          <a:prstGeom prst="rect">
            <a:avLst/>
          </a:prstGeom>
          <a:noFill/>
          <a:ln/>
        </p:spPr>
        <p:txBody>
          <a:bodyPr wrap="square" lIns="0" tIns="0" rIns="0" bIns="0" rtlCol="0" anchor="ctr"/>
          <a:lstStyle/>
          <a:p>
            <a:pPr marL="0" indent="0" algn="ctr">
              <a:lnSpc>
                <a:spcPct val="120000"/>
              </a:lnSpc>
              <a:buNone/>
            </a:pPr>
            <a:r>
              <a:rPr lang="en-US" sz="900" dirty="0">
                <a:solidFill>
                  <a:srgbClr val="CBD5E1"/>
                </a:solidFill>
              </a:rPr>
              <a:t>GitHub Actions CI/CD</a:t>
            </a:r>
            <a:endParaRPr lang="en-US" sz="900" dirty="0"/>
          </a:p>
        </p:txBody>
      </p:sp>
      <p:sp>
        <p:nvSpPr>
          <p:cNvPr id="39" name="Text 37"/>
          <p:cNvSpPr/>
          <p:nvPr/>
        </p:nvSpPr>
        <p:spPr>
          <a:xfrm>
            <a:off x="365760" y="4160520"/>
            <a:ext cx="8412480" cy="320040"/>
          </a:xfrm>
          <a:prstGeom prst="rect">
            <a:avLst/>
          </a:prstGeom>
          <a:noFill/>
          <a:ln/>
        </p:spPr>
        <p:txBody>
          <a:bodyPr wrap="square" lIns="0" tIns="0" rIns="0" bIns="0" rtlCol="0" anchor="ctr"/>
          <a:lstStyle/>
          <a:p>
            <a:pPr marL="0" indent="0" algn="ctr">
              <a:buNone/>
            </a:pPr>
            <a:r>
              <a:rPr lang="en-US" sz="950" i="1" dirty="0">
                <a:solidFill>
                  <a:srgbClr val="94A3B8"/>
                </a:solidFill>
              </a:rPr>
              <a:t>← User uploads PDF → Chunks → Vectors → LLM → Risk Score + Recommendations →</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Features and Views">
    <p:bg>
      <p:bgPr>
        <a:solidFill>
          <a:srgbClr val="0F1B2D"/>
        </a:solidFill>
        <a:effectLst/>
      </p:bgPr>
    </p:bg>
    <p:spTree>
      <p:nvGrpSpPr>
        <p:cNvPr id="1" name=""/>
        <p:cNvGrpSpPr/>
        <p:nvPr/>
      </p:nvGrpSpPr>
      <p:grpSpPr>
        <a:xfrm>
          <a:off x="0" y="0"/>
          <a:ext cx="0" cy="0"/>
          <a:chOff x="0" y="0"/>
          <a:chExt cx="0" cy="0"/>
        </a:xfrm>
      </p:grpSpPr>
      <p:sp>
        <p:nvSpPr>
          <p:cNvPr id="101" name="Badge"/>
          <p:cNvSpPr/>
          <p:nvPr/>
        </p:nvSpPr>
        <p:spPr>
          <a:xfrm>
            <a:off x="457200" y="274320"/>
            <a:ext cx="1550000" cy="256032"/>
          </a:xfrm>
          <a:prstGeom prst="roundRect">
            <a:avLst>
              <a:gd name="adj" fmla="val 50000"/>
            </a:avLst>
          </a:prstGeom>
          <a:solidFill>
            <a:srgbClr val="2563EB">
              <a:alpha val="25000"/>
            </a:srgbClr>
          </a:solidFill>
          <a:ln/>
        </p:spPr>
      </p:sp>
      <p:sp>
        <p:nvSpPr>
          <p:cNvPr id="102" name="BadgeText"/>
          <p:cNvSpPr/>
          <p:nvPr/>
        </p:nvSpPr>
        <p:spPr>
          <a:xfrm>
            <a:off x="457200" y="274320"/>
            <a:ext cx="1550000" cy="256032"/>
          </a:xfrm>
          <a:prstGeom prst="rect">
            <a:avLst/>
          </a:prstGeom>
          <a:noFill/>
          <a:ln/>
        </p:spPr>
        <p:txBody>
          <a:bodyPr wrap="square" lIns="0" tIns="0" rIns="0" bIns="0" rtlCol="0" anchor="ctr"/>
          <a:lstStyle/>
          <a:p>
            <a:pPr marL="0" indent="0" algn="ctr">
              <a:buNone/>
            </a:pPr>
            <a:r>
              <a:rPr lang="en-US" sz="900" b="1" kern="0" spc="150" dirty="0">
                <a:solidFill>
                  <a:srgbClr val="2563EB"/>
                </a:solidFill>
              </a:rPr>
              <a:t>FEATURES</a:t>
            </a:r>
          </a:p>
        </p:txBody>
      </p:sp>
      <p:sp>
        <p:nvSpPr>
          <p:cNvPr id="103" name="Title"/>
          <p:cNvSpPr/>
          <p:nvPr/>
        </p:nvSpPr>
        <p:spPr>
          <a:xfrm>
            <a:off x="457200" y="590000"/>
            <a:ext cx="8229600" cy="460000"/>
          </a:xfrm>
          <a:prstGeom prst="rect">
            <a:avLst/>
          </a:prstGeom>
          <a:noFill/>
          <a:ln/>
        </p:spPr>
        <p:txBody>
          <a:bodyPr wrap="square" lIns="0" tIns="0" rIns="0" bIns="0" rtlCol="0" anchor="ctr"/>
          <a:lstStyle/>
          <a:p>
            <a:pPr marL="0" indent="0">
              <a:buNone/>
            </a:pPr>
            <a:r>
              <a:rPr lang="en-US" sz="2400" b="1" dirty="0">
                <a:solidFill>
                  <a:srgbClr val="FFFFFF"/>
                </a:solidFill>
                <a:latin typeface="Cambria" pitchFamily="34" charset="0"/>
              </a:rPr>
              <a:t>Everything Inside The Platform</a:t>
            </a:r>
          </a:p>
        </p:txBody>
      </p:sp>
      <p:sp>
        <p:nvSpPr>
          <p:cNvPr id="104" name="Card"/>
          <p:cNvSpPr/>
          <p:nvPr/>
        </p:nvSpPr>
        <p:spPr>
          <a:xfrm>
            <a:off x="457200" y="1180000"/>
            <a:ext cx="2600000" cy="620000"/>
          </a:xfrm>
          <a:prstGeom prst="roundRect">
            <a:avLst>
              <a:gd name="adj" fmla="val 9000"/>
            </a:avLst>
          </a:prstGeom>
          <a:solidFill>
            <a:srgbClr val="162032"/>
          </a:solidFill>
          <a:ln/>
          <a:effectLst>
            <a:outerShdw blurRad="101600" dist="38100" dir="2700000" algn="bl" rotWithShape="0">
              <a:srgbClr val="000000">
                <a:alpha val="18000"/>
              </a:srgbClr>
            </a:outerShdw>
          </a:effectLst>
        </p:spPr>
      </p:sp>
      <p:sp>
        <p:nvSpPr>
          <p:cNvPr id="105" name="Text"/>
          <p:cNvSpPr/>
          <p:nvPr/>
        </p:nvSpPr>
        <p:spPr>
          <a:xfrm>
            <a:off x="597200" y="1250000"/>
            <a:ext cx="400000" cy="400000"/>
          </a:xfrm>
          <a:prstGeom prst="rect">
            <a:avLst/>
          </a:prstGeom>
          <a:noFill/>
          <a:ln/>
        </p:spPr>
        <p:txBody>
          <a:bodyPr wrap="square" lIns="0" tIns="0" rIns="0" bIns="0" rtlCol="0" anchor="ctr"/>
          <a:lstStyle/>
          <a:p>
            <a:pPr marL="0" indent="0" algn="l">
              <a:buNone/>
            </a:pPr>
            <a:r>
              <a:rPr lang="en-US" sz="1700" b="0" dirty="0">
                <a:solidFill>
                  <a:srgbClr val="FFFFFF"/>
                </a:solidFill>
              </a:rPr>
              <a:t>🔐</a:t>
            </a:r>
          </a:p>
        </p:txBody>
      </p:sp>
      <p:sp>
        <p:nvSpPr>
          <p:cNvPr id="106" name="Text"/>
          <p:cNvSpPr/>
          <p:nvPr/>
        </p:nvSpPr>
        <p:spPr>
          <a:xfrm>
            <a:off x="1017200" y="1270000"/>
            <a:ext cx="2000000" cy="220000"/>
          </a:xfrm>
          <a:prstGeom prst="rect">
            <a:avLst/>
          </a:prstGeom>
          <a:noFill/>
          <a:ln/>
        </p:spPr>
        <p:txBody>
          <a:bodyPr wrap="square" lIns="0" tIns="0" rIns="0" bIns="0" rtlCol="0" anchor="t"/>
          <a:lstStyle/>
          <a:p>
            <a:pPr marL="0" indent="0" algn="l">
              <a:buNone/>
            </a:pPr>
            <a:r>
              <a:rPr lang="en-US" sz="1000" b="1" dirty="0">
                <a:solidFill>
                  <a:srgbClr val="FFFFFF"/>
                </a:solidFill>
              </a:rPr>
              <a:t>Secure Login</a:t>
            </a:r>
          </a:p>
        </p:txBody>
      </p:sp>
      <p:sp>
        <p:nvSpPr>
          <p:cNvPr id="107" name="Text"/>
          <p:cNvSpPr/>
          <p:nvPr/>
        </p:nvSpPr>
        <p:spPr>
          <a:xfrm>
            <a:off x="1017200" y="1480000"/>
            <a:ext cx="2000000" cy="220000"/>
          </a:xfrm>
          <a:prstGeom prst="rect">
            <a:avLst/>
          </a:prstGeom>
          <a:noFill/>
          <a:ln/>
        </p:spPr>
        <p:txBody>
          <a:bodyPr wrap="square" lIns="0" tIns="0" rIns="0" bIns="0" rtlCol="0" anchor="t"/>
          <a:lstStyle/>
          <a:p>
            <a:pPr marL="0" indent="0" algn="l">
              <a:buNone/>
            </a:pPr>
            <a:r>
              <a:rPr lang="en-US" sz="800" b="0" dirty="0">
                <a:solidFill>
                  <a:srgbClr val="94A3B8"/>
                </a:solidFill>
              </a:rPr>
              <a:t>JWT + bcrypt auth</a:t>
            </a:r>
          </a:p>
        </p:txBody>
      </p:sp>
      <p:sp>
        <p:nvSpPr>
          <p:cNvPr id="108" name="Card"/>
          <p:cNvSpPr/>
          <p:nvPr/>
        </p:nvSpPr>
        <p:spPr>
          <a:xfrm>
            <a:off x="3172000" y="1180000"/>
            <a:ext cx="2600000" cy="620000"/>
          </a:xfrm>
          <a:prstGeom prst="roundRect">
            <a:avLst>
              <a:gd name="adj" fmla="val 9000"/>
            </a:avLst>
          </a:prstGeom>
          <a:solidFill>
            <a:srgbClr val="162032"/>
          </a:solidFill>
          <a:ln/>
          <a:effectLst>
            <a:outerShdw blurRad="101600" dist="38100" dir="2700000" algn="bl" rotWithShape="0">
              <a:srgbClr val="000000">
                <a:alpha val="18000"/>
              </a:srgbClr>
            </a:outerShdw>
          </a:effectLst>
        </p:spPr>
      </p:sp>
      <p:sp>
        <p:nvSpPr>
          <p:cNvPr id="109" name="Text"/>
          <p:cNvSpPr/>
          <p:nvPr/>
        </p:nvSpPr>
        <p:spPr>
          <a:xfrm>
            <a:off x="3312000" y="1250000"/>
            <a:ext cx="400000" cy="400000"/>
          </a:xfrm>
          <a:prstGeom prst="rect">
            <a:avLst/>
          </a:prstGeom>
          <a:noFill/>
          <a:ln/>
        </p:spPr>
        <p:txBody>
          <a:bodyPr wrap="square" lIns="0" tIns="0" rIns="0" bIns="0" rtlCol="0" anchor="ctr"/>
          <a:lstStyle/>
          <a:p>
            <a:pPr marL="0" indent="0" algn="l">
              <a:buNone/>
            </a:pPr>
            <a:r>
              <a:rPr lang="en-US" sz="1700" b="0" dirty="0">
                <a:solidFill>
                  <a:srgbClr val="FFFFFF"/>
                </a:solidFill>
              </a:rPr>
              <a:t>📤</a:t>
            </a:r>
          </a:p>
        </p:txBody>
      </p:sp>
      <p:sp>
        <p:nvSpPr>
          <p:cNvPr id="110" name="Text"/>
          <p:cNvSpPr/>
          <p:nvPr/>
        </p:nvSpPr>
        <p:spPr>
          <a:xfrm>
            <a:off x="3732000" y="1270000"/>
            <a:ext cx="2000000" cy="220000"/>
          </a:xfrm>
          <a:prstGeom prst="rect">
            <a:avLst/>
          </a:prstGeom>
          <a:noFill/>
          <a:ln/>
        </p:spPr>
        <p:txBody>
          <a:bodyPr wrap="square" lIns="0" tIns="0" rIns="0" bIns="0" rtlCol="0" anchor="t"/>
          <a:lstStyle/>
          <a:p>
            <a:pPr marL="0" indent="0" algn="l">
              <a:buNone/>
            </a:pPr>
            <a:r>
              <a:rPr lang="en-US" sz="1000" b="1" dirty="0">
                <a:solidFill>
                  <a:srgbClr val="FFFFFF"/>
                </a:solidFill>
              </a:rPr>
              <a:t>Upload PDFs</a:t>
            </a:r>
          </a:p>
        </p:txBody>
      </p:sp>
      <p:sp>
        <p:nvSpPr>
          <p:cNvPr id="111" name="Text"/>
          <p:cNvSpPr/>
          <p:nvPr/>
        </p:nvSpPr>
        <p:spPr>
          <a:xfrm>
            <a:off x="3732000" y="1480000"/>
            <a:ext cx="2000000" cy="220000"/>
          </a:xfrm>
          <a:prstGeom prst="rect">
            <a:avLst/>
          </a:prstGeom>
          <a:noFill/>
          <a:ln/>
        </p:spPr>
        <p:txBody>
          <a:bodyPr wrap="square" lIns="0" tIns="0" rIns="0" bIns="0" rtlCol="0" anchor="t"/>
          <a:lstStyle/>
          <a:p>
            <a:pPr marL="0" indent="0" algn="l">
              <a:buNone/>
            </a:pPr>
            <a:r>
              <a:rPr lang="en-US" sz="800" b="0" dirty="0">
                <a:solidFill>
                  <a:srgbClr val="94A3B8"/>
                </a:solidFill>
              </a:rPr>
              <a:t>Salary slips, statements, ITR</a:t>
            </a:r>
          </a:p>
        </p:txBody>
      </p:sp>
      <p:sp>
        <p:nvSpPr>
          <p:cNvPr id="112" name="Card"/>
          <p:cNvSpPr/>
          <p:nvPr/>
        </p:nvSpPr>
        <p:spPr>
          <a:xfrm>
            <a:off x="5886800" y="1180000"/>
            <a:ext cx="2600000" cy="620000"/>
          </a:xfrm>
          <a:prstGeom prst="roundRect">
            <a:avLst>
              <a:gd name="adj" fmla="val 9000"/>
            </a:avLst>
          </a:prstGeom>
          <a:solidFill>
            <a:srgbClr val="162032"/>
          </a:solidFill>
          <a:ln/>
          <a:effectLst>
            <a:outerShdw blurRad="101600" dist="38100" dir="2700000" algn="bl" rotWithShape="0">
              <a:srgbClr val="000000">
                <a:alpha val="18000"/>
              </a:srgbClr>
            </a:outerShdw>
          </a:effectLst>
        </p:spPr>
      </p:sp>
      <p:sp>
        <p:nvSpPr>
          <p:cNvPr id="113" name="Text"/>
          <p:cNvSpPr/>
          <p:nvPr/>
        </p:nvSpPr>
        <p:spPr>
          <a:xfrm>
            <a:off x="6026800" y="1250000"/>
            <a:ext cx="400000" cy="400000"/>
          </a:xfrm>
          <a:prstGeom prst="rect">
            <a:avLst/>
          </a:prstGeom>
          <a:noFill/>
          <a:ln/>
        </p:spPr>
        <p:txBody>
          <a:bodyPr wrap="square" lIns="0" tIns="0" rIns="0" bIns="0" rtlCol="0" anchor="ctr"/>
          <a:lstStyle/>
          <a:p>
            <a:pPr marL="0" indent="0" algn="l">
              <a:buNone/>
            </a:pPr>
            <a:r>
              <a:rPr lang="en-US" sz="1700" b="0" dirty="0">
                <a:solidFill>
                  <a:srgbClr val="FFFFFF"/>
                </a:solidFill>
              </a:rPr>
              <a:t>📊</a:t>
            </a:r>
          </a:p>
        </p:txBody>
      </p:sp>
      <p:sp>
        <p:nvSpPr>
          <p:cNvPr id="114" name="Text"/>
          <p:cNvSpPr/>
          <p:nvPr/>
        </p:nvSpPr>
        <p:spPr>
          <a:xfrm>
            <a:off x="6446800" y="1270000"/>
            <a:ext cx="2000000" cy="220000"/>
          </a:xfrm>
          <a:prstGeom prst="rect">
            <a:avLst/>
          </a:prstGeom>
          <a:noFill/>
          <a:ln/>
        </p:spPr>
        <p:txBody>
          <a:bodyPr wrap="square" lIns="0" tIns="0" rIns="0" bIns="0" rtlCol="0" anchor="t"/>
          <a:lstStyle/>
          <a:p>
            <a:pPr marL="0" indent="0" algn="l">
              <a:buNone/>
            </a:pPr>
            <a:r>
              <a:rPr lang="en-US" sz="1000" b="1" dirty="0">
                <a:solidFill>
                  <a:srgbClr val="FFFFFF"/>
                </a:solidFill>
              </a:rPr>
              <a:t>Risk Analysis</a:t>
            </a:r>
          </a:p>
        </p:txBody>
      </p:sp>
      <p:sp>
        <p:nvSpPr>
          <p:cNvPr id="115" name="Text"/>
          <p:cNvSpPr/>
          <p:nvPr/>
        </p:nvSpPr>
        <p:spPr>
          <a:xfrm>
            <a:off x="6446800" y="1480000"/>
            <a:ext cx="2000000" cy="220000"/>
          </a:xfrm>
          <a:prstGeom prst="rect">
            <a:avLst/>
          </a:prstGeom>
          <a:noFill/>
          <a:ln/>
        </p:spPr>
        <p:txBody>
          <a:bodyPr wrap="square" lIns="0" tIns="0" rIns="0" bIns="0" rtlCol="0" anchor="t"/>
          <a:lstStyle/>
          <a:p>
            <a:pPr marL="0" indent="0" algn="l">
              <a:buNone/>
            </a:pPr>
            <a:r>
              <a:rPr lang="en-US" sz="800" b="0" dirty="0">
                <a:solidFill>
                  <a:srgbClr val="94A3B8"/>
                </a:solidFill>
              </a:rPr>
              <a:t>AI credit score + red flags</a:t>
            </a:r>
          </a:p>
        </p:txBody>
      </p:sp>
      <p:sp>
        <p:nvSpPr>
          <p:cNvPr id="116" name="Card"/>
          <p:cNvSpPr/>
          <p:nvPr/>
        </p:nvSpPr>
        <p:spPr>
          <a:xfrm>
            <a:off x="457200" y="1914800"/>
            <a:ext cx="2600000" cy="620000"/>
          </a:xfrm>
          <a:prstGeom prst="roundRect">
            <a:avLst>
              <a:gd name="adj" fmla="val 9000"/>
            </a:avLst>
          </a:prstGeom>
          <a:solidFill>
            <a:srgbClr val="162032"/>
          </a:solidFill>
          <a:ln/>
          <a:effectLst>
            <a:outerShdw blurRad="101600" dist="38100" dir="2700000" algn="bl" rotWithShape="0">
              <a:srgbClr val="000000">
                <a:alpha val="18000"/>
              </a:srgbClr>
            </a:outerShdw>
          </a:effectLst>
        </p:spPr>
      </p:sp>
      <p:sp>
        <p:nvSpPr>
          <p:cNvPr id="117" name="Text"/>
          <p:cNvSpPr/>
          <p:nvPr/>
        </p:nvSpPr>
        <p:spPr>
          <a:xfrm>
            <a:off x="597200" y="1984800"/>
            <a:ext cx="400000" cy="400000"/>
          </a:xfrm>
          <a:prstGeom prst="rect">
            <a:avLst/>
          </a:prstGeom>
          <a:noFill/>
          <a:ln/>
        </p:spPr>
        <p:txBody>
          <a:bodyPr wrap="square" lIns="0" tIns="0" rIns="0" bIns="0" rtlCol="0" anchor="ctr"/>
          <a:lstStyle/>
          <a:p>
            <a:pPr marL="0" indent="0" algn="l">
              <a:buNone/>
            </a:pPr>
            <a:r>
              <a:rPr lang="en-US" sz="1700" b="0" dirty="0">
                <a:solidFill>
                  <a:srgbClr val="FFFFFF"/>
                </a:solidFill>
              </a:rPr>
              <a:t>💡</a:t>
            </a:r>
          </a:p>
        </p:txBody>
      </p:sp>
      <p:sp>
        <p:nvSpPr>
          <p:cNvPr id="118" name="Text"/>
          <p:cNvSpPr/>
          <p:nvPr/>
        </p:nvSpPr>
        <p:spPr>
          <a:xfrm>
            <a:off x="1017200" y="2004800"/>
            <a:ext cx="2000000" cy="220000"/>
          </a:xfrm>
          <a:prstGeom prst="rect">
            <a:avLst/>
          </a:prstGeom>
          <a:noFill/>
          <a:ln/>
        </p:spPr>
        <p:txBody>
          <a:bodyPr wrap="square" lIns="0" tIns="0" rIns="0" bIns="0" rtlCol="0" anchor="t"/>
          <a:lstStyle/>
          <a:p>
            <a:pPr marL="0" indent="0" algn="l">
              <a:buNone/>
            </a:pPr>
            <a:r>
              <a:rPr lang="en-US" sz="1000" b="1" dirty="0">
                <a:solidFill>
                  <a:srgbClr val="FFFFFF"/>
                </a:solidFill>
              </a:rPr>
              <a:t>AI Recommendations</a:t>
            </a:r>
          </a:p>
        </p:txBody>
      </p:sp>
      <p:sp>
        <p:nvSpPr>
          <p:cNvPr id="119" name="Text"/>
          <p:cNvSpPr/>
          <p:nvPr/>
        </p:nvSpPr>
        <p:spPr>
          <a:xfrm>
            <a:off x="1017200" y="2214800"/>
            <a:ext cx="2000000" cy="220000"/>
          </a:xfrm>
          <a:prstGeom prst="rect">
            <a:avLst/>
          </a:prstGeom>
          <a:noFill/>
          <a:ln/>
        </p:spPr>
        <p:txBody>
          <a:bodyPr wrap="square" lIns="0" tIns="0" rIns="0" bIns="0" rtlCol="0" anchor="t"/>
          <a:lstStyle/>
          <a:p>
            <a:pPr marL="0" indent="0" algn="l">
              <a:buNone/>
            </a:pPr>
            <a:r>
              <a:rPr lang="en-US" sz="800" b="0" dirty="0">
                <a:solidFill>
                  <a:srgbClr val="94A3B8"/>
                </a:solidFill>
              </a:rPr>
              <a:t>Urgency-sorted action plan</a:t>
            </a:r>
          </a:p>
        </p:txBody>
      </p:sp>
      <p:sp>
        <p:nvSpPr>
          <p:cNvPr id="120" name="Card"/>
          <p:cNvSpPr/>
          <p:nvPr/>
        </p:nvSpPr>
        <p:spPr>
          <a:xfrm>
            <a:off x="3172000" y="1914800"/>
            <a:ext cx="2600000" cy="620000"/>
          </a:xfrm>
          <a:prstGeom prst="roundRect">
            <a:avLst>
              <a:gd name="adj" fmla="val 9000"/>
            </a:avLst>
          </a:prstGeom>
          <a:solidFill>
            <a:srgbClr val="162032"/>
          </a:solidFill>
          <a:ln/>
          <a:effectLst>
            <a:outerShdw blurRad="101600" dist="38100" dir="2700000" algn="bl" rotWithShape="0">
              <a:srgbClr val="000000">
                <a:alpha val="18000"/>
              </a:srgbClr>
            </a:outerShdw>
          </a:effectLst>
        </p:spPr>
      </p:sp>
      <p:sp>
        <p:nvSpPr>
          <p:cNvPr id="121" name="Text"/>
          <p:cNvSpPr/>
          <p:nvPr/>
        </p:nvSpPr>
        <p:spPr>
          <a:xfrm>
            <a:off x="3312000" y="1984800"/>
            <a:ext cx="400000" cy="400000"/>
          </a:xfrm>
          <a:prstGeom prst="rect">
            <a:avLst/>
          </a:prstGeom>
          <a:noFill/>
          <a:ln/>
        </p:spPr>
        <p:txBody>
          <a:bodyPr wrap="square" lIns="0" tIns="0" rIns="0" bIns="0" rtlCol="0" anchor="ctr"/>
          <a:lstStyle/>
          <a:p>
            <a:pPr marL="0" indent="0" algn="l">
              <a:buNone/>
            </a:pPr>
            <a:r>
              <a:rPr lang="en-US" sz="1700" b="0" dirty="0">
                <a:solidFill>
                  <a:srgbClr val="FFFFFF"/>
                </a:solidFill>
              </a:rPr>
              <a:t>💬</a:t>
            </a:r>
          </a:p>
        </p:txBody>
      </p:sp>
      <p:sp>
        <p:nvSpPr>
          <p:cNvPr id="122" name="Text"/>
          <p:cNvSpPr/>
          <p:nvPr/>
        </p:nvSpPr>
        <p:spPr>
          <a:xfrm>
            <a:off x="3732000" y="2004800"/>
            <a:ext cx="2000000" cy="220000"/>
          </a:xfrm>
          <a:prstGeom prst="rect">
            <a:avLst/>
          </a:prstGeom>
          <a:noFill/>
          <a:ln/>
        </p:spPr>
        <p:txBody>
          <a:bodyPr wrap="square" lIns="0" tIns="0" rIns="0" bIns="0" rtlCol="0" anchor="t"/>
          <a:lstStyle/>
          <a:p>
            <a:pPr marL="0" indent="0" algn="l">
              <a:buNone/>
            </a:pPr>
            <a:r>
              <a:rPr lang="en-US" sz="1000" b="1" dirty="0">
                <a:solidFill>
                  <a:srgbClr val="FFFFFF"/>
                </a:solidFill>
              </a:rPr>
              <a:t>AI Chat</a:t>
            </a:r>
          </a:p>
        </p:txBody>
      </p:sp>
      <p:sp>
        <p:nvSpPr>
          <p:cNvPr id="123" name="Text"/>
          <p:cNvSpPr/>
          <p:nvPr/>
        </p:nvSpPr>
        <p:spPr>
          <a:xfrm>
            <a:off x="3732000" y="2214800"/>
            <a:ext cx="2000000" cy="220000"/>
          </a:xfrm>
          <a:prstGeom prst="rect">
            <a:avLst/>
          </a:prstGeom>
          <a:noFill/>
          <a:ln/>
        </p:spPr>
        <p:txBody>
          <a:bodyPr wrap="square" lIns="0" tIns="0" rIns="0" bIns="0" rtlCol="0" anchor="t"/>
          <a:lstStyle/>
          <a:p>
            <a:pPr marL="0" indent="0" algn="l">
              <a:buNone/>
            </a:pPr>
            <a:r>
              <a:rPr lang="en-US" sz="800" b="0" dirty="0">
                <a:solidFill>
                  <a:srgbClr val="94A3B8"/>
                </a:solidFill>
              </a:rPr>
              <a:t>Ask about your own documents</a:t>
            </a:r>
          </a:p>
        </p:txBody>
      </p:sp>
      <p:sp>
        <p:nvSpPr>
          <p:cNvPr id="124" name="Card"/>
          <p:cNvSpPr/>
          <p:nvPr/>
        </p:nvSpPr>
        <p:spPr>
          <a:xfrm>
            <a:off x="5886800" y="1914800"/>
            <a:ext cx="2600000" cy="620000"/>
          </a:xfrm>
          <a:prstGeom prst="roundRect">
            <a:avLst>
              <a:gd name="adj" fmla="val 9000"/>
            </a:avLst>
          </a:prstGeom>
          <a:solidFill>
            <a:srgbClr val="162032"/>
          </a:solidFill>
          <a:ln/>
          <a:effectLst>
            <a:outerShdw blurRad="101600" dist="38100" dir="2700000" algn="bl" rotWithShape="0">
              <a:srgbClr val="000000">
                <a:alpha val="18000"/>
              </a:srgbClr>
            </a:outerShdw>
          </a:effectLst>
        </p:spPr>
      </p:sp>
      <p:sp>
        <p:nvSpPr>
          <p:cNvPr id="125" name="Text"/>
          <p:cNvSpPr/>
          <p:nvPr/>
        </p:nvSpPr>
        <p:spPr>
          <a:xfrm>
            <a:off x="6026800" y="1984800"/>
            <a:ext cx="400000" cy="400000"/>
          </a:xfrm>
          <a:prstGeom prst="rect">
            <a:avLst/>
          </a:prstGeom>
          <a:noFill/>
          <a:ln/>
        </p:spPr>
        <p:txBody>
          <a:bodyPr wrap="square" lIns="0" tIns="0" rIns="0" bIns="0" rtlCol="0" anchor="ctr"/>
          <a:lstStyle/>
          <a:p>
            <a:pPr marL="0" indent="0" algn="l">
              <a:buNone/>
            </a:pPr>
            <a:r>
              <a:rPr lang="en-US" sz="1700" b="0" dirty="0">
                <a:solidFill>
                  <a:srgbClr val="FFFFFF"/>
                </a:solidFill>
              </a:rPr>
              <a:t>🏙️</a:t>
            </a:r>
          </a:p>
        </p:txBody>
      </p:sp>
      <p:sp>
        <p:nvSpPr>
          <p:cNvPr id="126" name="Text"/>
          <p:cNvSpPr/>
          <p:nvPr/>
        </p:nvSpPr>
        <p:spPr>
          <a:xfrm>
            <a:off x="6446800" y="2004800"/>
            <a:ext cx="2000000" cy="220000"/>
          </a:xfrm>
          <a:prstGeom prst="rect">
            <a:avLst/>
          </a:prstGeom>
          <a:noFill/>
          <a:ln/>
        </p:spPr>
        <p:txBody>
          <a:bodyPr wrap="square" lIns="0" tIns="0" rIns="0" bIns="0" rtlCol="0" anchor="t"/>
          <a:lstStyle/>
          <a:p>
            <a:pPr marL="0" indent="0" algn="l">
              <a:buNone/>
            </a:pPr>
            <a:r>
              <a:rPr lang="en-US" sz="1000" b="1" dirty="0">
                <a:solidFill>
                  <a:srgbClr val="FFFFFF"/>
                </a:solidFill>
              </a:rPr>
              <a:t>Retirement Planner</a:t>
            </a:r>
          </a:p>
        </p:txBody>
      </p:sp>
      <p:sp>
        <p:nvSpPr>
          <p:cNvPr id="127" name="Text"/>
          <p:cNvSpPr/>
          <p:nvPr/>
        </p:nvSpPr>
        <p:spPr>
          <a:xfrm>
            <a:off x="6446800" y="2214800"/>
            <a:ext cx="2000000" cy="220000"/>
          </a:xfrm>
          <a:prstGeom prst="rect">
            <a:avLst/>
          </a:prstGeom>
          <a:noFill/>
          <a:ln/>
        </p:spPr>
        <p:txBody>
          <a:bodyPr wrap="square" lIns="0" tIns="0" rIns="0" bIns="0" rtlCol="0" anchor="t"/>
          <a:lstStyle/>
          <a:p>
            <a:pPr marL="0" indent="0" algn="l">
              <a:buNone/>
            </a:pPr>
            <a:r>
              <a:rPr lang="en-US" sz="800" b="0" dirty="0">
                <a:solidFill>
                  <a:srgbClr val="94A3B8"/>
                </a:solidFill>
              </a:rPr>
              <a:t>40-city cost of living</a:t>
            </a:r>
          </a:p>
        </p:txBody>
      </p:sp>
      <p:sp>
        <p:nvSpPr>
          <p:cNvPr id="128" name="Pill"/>
          <p:cNvSpPr/>
          <p:nvPr/>
        </p:nvSpPr>
        <p:spPr>
          <a:xfrm>
            <a:off x="457200" y="2709600"/>
            <a:ext cx="1750000" cy="260000"/>
          </a:xfrm>
          <a:prstGeom prst="roundRect">
            <a:avLst>
              <a:gd name="adj" fmla="val 50000"/>
            </a:avLst>
          </a:prstGeom>
          <a:solidFill>
            <a:srgbClr val="0891B2">
              <a:alpha val="20000"/>
            </a:srgbClr>
          </a:solidFill>
          <a:ln/>
        </p:spPr>
        <p:txBody>
          <a:bodyPr wrap="square" lIns="0" tIns="0" rIns="0" bIns="0" rtlCol="0" anchor="ctr"/>
          <a:lstStyle/>
          <a:p>
            <a:pPr marL="0" indent="0" algn="ctr">
              <a:buNone/>
            </a:pPr>
            <a:r>
              <a:rPr lang="en-US" sz="900" b="1" dirty="0">
                <a:solidFill>
                  <a:srgbClr val="FFFFFF"/>
                </a:solidFill>
              </a:rPr>
              <a:t>👤  CUSTOMER SEES</a:t>
            </a:r>
          </a:p>
        </p:txBody>
      </p:sp>
      <p:sp>
        <p:nvSpPr>
          <p:cNvPr id="129" name="Pill"/>
          <p:cNvSpPr/>
          <p:nvPr/>
        </p:nvSpPr>
        <p:spPr>
          <a:xfrm>
            <a:off x="4686300" y="2709600"/>
            <a:ext cx="1750000" cy="260000"/>
          </a:xfrm>
          <a:prstGeom prst="roundRect">
            <a:avLst>
              <a:gd name="adj" fmla="val 50000"/>
            </a:avLst>
          </a:prstGeom>
          <a:solidFill>
            <a:srgbClr val="D97706">
              <a:alpha val="20000"/>
            </a:srgbClr>
          </a:solidFill>
          <a:ln/>
        </p:spPr>
        <p:txBody>
          <a:bodyPr wrap="square" lIns="0" tIns="0" rIns="0" bIns="0" rtlCol="0" anchor="ctr"/>
          <a:lstStyle/>
          <a:p>
            <a:pPr marL="0" indent="0" algn="ctr">
              <a:buNone/>
            </a:pPr>
            <a:r>
              <a:rPr lang="en-US" sz="900" b="1" dirty="0">
                <a:solidFill>
                  <a:srgbClr val="FFFFFF"/>
                </a:solidFill>
              </a:rPr>
              <a:t>🏦  BANK OFFICER SEES</a:t>
            </a:r>
          </a:p>
        </p:txBody>
      </p:sp>
      <p:sp>
        <p:nvSpPr>
          <p:cNvPr id="130" name="Text"/>
          <p:cNvSpPr/>
          <p:nvPr/>
        </p:nvSpPr>
        <p:spPr>
          <a:xfrm>
            <a:off x="457200" y="3049600"/>
            <a:ext cx="30000" cy="190000"/>
          </a:xfrm>
          <a:prstGeom prst="rect">
            <a:avLst/>
          </a:prstGeom>
          <a:noFill/>
          <a:ln/>
        </p:spPr>
        <p:txBody>
          <a:bodyPr wrap="square" lIns="0" tIns="0" rIns="0" bIns="0" rtlCol="0" anchor="t"/>
          <a:lstStyle/>
          <a:p>
            <a:pPr marL="0" indent="0" algn="l">
              <a:buNone/>
            </a:pPr>
            <a:r>
              <a:rPr lang="en-US" sz="950" b="1" dirty="0">
                <a:solidFill>
                  <a:srgbClr val="0891B2"/>
                </a:solidFill>
              </a:rPr>
              <a:t>•</a:t>
            </a:r>
          </a:p>
        </p:txBody>
      </p:sp>
      <p:sp>
        <p:nvSpPr>
          <p:cNvPr id="131" name="Text"/>
          <p:cNvSpPr/>
          <p:nvPr/>
        </p:nvSpPr>
        <p:spPr>
          <a:xfrm>
            <a:off x="657200" y="3049600"/>
            <a:ext cx="3800500" cy="190000"/>
          </a:xfrm>
          <a:prstGeom prst="rect">
            <a:avLst/>
          </a:prstGeom>
          <a:noFill/>
          <a:ln/>
        </p:spPr>
        <p:txBody>
          <a:bodyPr wrap="square" lIns="0" tIns="0" rIns="0" bIns="0" rtlCol="0" anchor="t"/>
          <a:lstStyle/>
          <a:p>
            <a:pPr marL="0" indent="0" algn="l">
              <a:buNone/>
            </a:pPr>
            <a:r>
              <a:rPr lang="en-US" sz="850" b="0" dirty="0">
                <a:solidFill>
                  <a:srgbClr val="E2E8F0"/>
                </a:solidFill>
              </a:rPr>
              <a:t>Personal risk score (0-100)</a:t>
            </a:r>
          </a:p>
        </p:txBody>
      </p:sp>
      <p:sp>
        <p:nvSpPr>
          <p:cNvPr id="132" name="Text"/>
          <p:cNvSpPr/>
          <p:nvPr/>
        </p:nvSpPr>
        <p:spPr>
          <a:xfrm>
            <a:off x="457200" y="3299600"/>
            <a:ext cx="30000" cy="190000"/>
          </a:xfrm>
          <a:prstGeom prst="rect">
            <a:avLst/>
          </a:prstGeom>
          <a:noFill/>
          <a:ln/>
        </p:spPr>
        <p:txBody>
          <a:bodyPr wrap="square" lIns="0" tIns="0" rIns="0" bIns="0" rtlCol="0" anchor="t"/>
          <a:lstStyle/>
          <a:p>
            <a:pPr marL="0" indent="0" algn="l">
              <a:buNone/>
            </a:pPr>
            <a:r>
              <a:rPr lang="en-US" sz="950" b="1" dirty="0">
                <a:solidFill>
                  <a:srgbClr val="0891B2"/>
                </a:solidFill>
              </a:rPr>
              <a:t>•</a:t>
            </a:r>
          </a:p>
        </p:txBody>
      </p:sp>
      <p:sp>
        <p:nvSpPr>
          <p:cNvPr id="133" name="Text"/>
          <p:cNvSpPr/>
          <p:nvPr/>
        </p:nvSpPr>
        <p:spPr>
          <a:xfrm>
            <a:off x="657200" y="3299600"/>
            <a:ext cx="3800500" cy="190000"/>
          </a:xfrm>
          <a:prstGeom prst="rect">
            <a:avLst/>
          </a:prstGeom>
          <a:noFill/>
          <a:ln/>
        </p:spPr>
        <p:txBody>
          <a:bodyPr wrap="square" lIns="0" tIns="0" rIns="0" bIns="0" rtlCol="0" anchor="t"/>
          <a:lstStyle/>
          <a:p>
            <a:pPr marL="0" indent="0" algn="l">
              <a:buNone/>
            </a:pPr>
            <a:r>
              <a:rPr lang="en-US" sz="850" b="0" dirty="0">
                <a:solidFill>
                  <a:srgbClr val="E2E8F0"/>
                </a:solidFill>
              </a:rPr>
              <a:t>Loan approval probability</a:t>
            </a:r>
          </a:p>
        </p:txBody>
      </p:sp>
      <p:sp>
        <p:nvSpPr>
          <p:cNvPr id="134" name="Text"/>
          <p:cNvSpPr/>
          <p:nvPr/>
        </p:nvSpPr>
        <p:spPr>
          <a:xfrm>
            <a:off x="457200" y="3549600"/>
            <a:ext cx="30000" cy="190000"/>
          </a:xfrm>
          <a:prstGeom prst="rect">
            <a:avLst/>
          </a:prstGeom>
          <a:noFill/>
          <a:ln/>
        </p:spPr>
        <p:txBody>
          <a:bodyPr wrap="square" lIns="0" tIns="0" rIns="0" bIns="0" rtlCol="0" anchor="t"/>
          <a:lstStyle/>
          <a:p>
            <a:pPr marL="0" indent="0" algn="l">
              <a:buNone/>
            </a:pPr>
            <a:r>
              <a:rPr lang="en-US" sz="950" b="1" dirty="0">
                <a:solidFill>
                  <a:srgbClr val="0891B2"/>
                </a:solidFill>
              </a:rPr>
              <a:t>•</a:t>
            </a:r>
          </a:p>
        </p:txBody>
      </p:sp>
      <p:sp>
        <p:nvSpPr>
          <p:cNvPr id="135" name="Text"/>
          <p:cNvSpPr/>
          <p:nvPr/>
        </p:nvSpPr>
        <p:spPr>
          <a:xfrm>
            <a:off x="657200" y="3549600"/>
            <a:ext cx="3800500" cy="190000"/>
          </a:xfrm>
          <a:prstGeom prst="rect">
            <a:avLst/>
          </a:prstGeom>
          <a:noFill/>
          <a:ln/>
        </p:spPr>
        <p:txBody>
          <a:bodyPr wrap="square" lIns="0" tIns="0" rIns="0" bIns="0" rtlCol="0" anchor="t"/>
          <a:lstStyle/>
          <a:p>
            <a:pPr marL="0" indent="0" algn="l">
              <a:buNone/>
            </a:pPr>
            <a:r>
              <a:rPr lang="en-US" sz="850" b="0" dirty="0">
                <a:solidFill>
                  <a:srgbClr val="E2E8F0"/>
                </a:solidFill>
              </a:rPr>
              <a:t>Safe borrowing amount</a:t>
            </a:r>
          </a:p>
        </p:txBody>
      </p:sp>
      <p:sp>
        <p:nvSpPr>
          <p:cNvPr id="136" name="Text"/>
          <p:cNvSpPr/>
          <p:nvPr/>
        </p:nvSpPr>
        <p:spPr>
          <a:xfrm>
            <a:off x="457200" y="3799600"/>
            <a:ext cx="30000" cy="190000"/>
          </a:xfrm>
          <a:prstGeom prst="rect">
            <a:avLst/>
          </a:prstGeom>
          <a:noFill/>
          <a:ln/>
        </p:spPr>
        <p:txBody>
          <a:bodyPr wrap="square" lIns="0" tIns="0" rIns="0" bIns="0" rtlCol="0" anchor="t"/>
          <a:lstStyle/>
          <a:p>
            <a:pPr marL="0" indent="0" algn="l">
              <a:buNone/>
            </a:pPr>
            <a:r>
              <a:rPr lang="en-US" sz="950" b="1" dirty="0">
                <a:solidFill>
                  <a:srgbClr val="0891B2"/>
                </a:solidFill>
              </a:rPr>
              <a:t>•</a:t>
            </a:r>
          </a:p>
        </p:txBody>
      </p:sp>
      <p:sp>
        <p:nvSpPr>
          <p:cNvPr id="137" name="Text"/>
          <p:cNvSpPr/>
          <p:nvPr/>
        </p:nvSpPr>
        <p:spPr>
          <a:xfrm>
            <a:off x="657200" y="3799600"/>
            <a:ext cx="3800500" cy="190000"/>
          </a:xfrm>
          <a:prstGeom prst="rect">
            <a:avLst/>
          </a:prstGeom>
          <a:noFill/>
          <a:ln/>
        </p:spPr>
        <p:txBody>
          <a:bodyPr wrap="square" lIns="0" tIns="0" rIns="0" bIns="0" rtlCol="0" anchor="t"/>
          <a:lstStyle/>
          <a:p>
            <a:pPr marL="0" indent="0" algn="l">
              <a:buNone/>
            </a:pPr>
            <a:r>
              <a:rPr lang="en-US" sz="850" b="0" dirty="0">
                <a:solidFill>
                  <a:srgbClr val="E2E8F0"/>
                </a:solidFill>
              </a:rPr>
              <a:t>Recommended banks &amp; rates</a:t>
            </a:r>
          </a:p>
        </p:txBody>
      </p:sp>
      <p:sp>
        <p:nvSpPr>
          <p:cNvPr id="138" name="Text"/>
          <p:cNvSpPr/>
          <p:nvPr/>
        </p:nvSpPr>
        <p:spPr>
          <a:xfrm>
            <a:off x="457200" y="4049600"/>
            <a:ext cx="30000" cy="190000"/>
          </a:xfrm>
          <a:prstGeom prst="rect">
            <a:avLst/>
          </a:prstGeom>
          <a:noFill/>
          <a:ln/>
        </p:spPr>
        <p:txBody>
          <a:bodyPr wrap="square" lIns="0" tIns="0" rIns="0" bIns="0" rtlCol="0" anchor="t"/>
          <a:lstStyle/>
          <a:p>
            <a:pPr marL="0" indent="0" algn="l">
              <a:buNone/>
            </a:pPr>
            <a:r>
              <a:rPr lang="en-US" sz="950" b="1" dirty="0">
                <a:solidFill>
                  <a:srgbClr val="0891B2"/>
                </a:solidFill>
              </a:rPr>
              <a:t>•</a:t>
            </a:r>
          </a:p>
        </p:txBody>
      </p:sp>
      <p:sp>
        <p:nvSpPr>
          <p:cNvPr id="139" name="Text"/>
          <p:cNvSpPr/>
          <p:nvPr/>
        </p:nvSpPr>
        <p:spPr>
          <a:xfrm>
            <a:off x="657200" y="4049600"/>
            <a:ext cx="3800500" cy="190000"/>
          </a:xfrm>
          <a:prstGeom prst="rect">
            <a:avLst/>
          </a:prstGeom>
          <a:noFill/>
          <a:ln/>
        </p:spPr>
        <p:txBody>
          <a:bodyPr wrap="square" lIns="0" tIns="0" rIns="0" bIns="0" rtlCol="0" anchor="t"/>
          <a:lstStyle/>
          <a:p>
            <a:pPr marL="0" indent="0" algn="l">
              <a:buNone/>
            </a:pPr>
            <a:r>
              <a:rPr lang="en-US" sz="850" b="0" dirty="0">
                <a:solidFill>
                  <a:srgbClr val="E2E8F0"/>
                </a:solidFill>
              </a:rPr>
              <a:t>Debt-to-income ratio (DTI)</a:t>
            </a:r>
          </a:p>
        </p:txBody>
      </p:sp>
      <p:sp>
        <p:nvSpPr>
          <p:cNvPr id="140" name="Text"/>
          <p:cNvSpPr/>
          <p:nvPr/>
        </p:nvSpPr>
        <p:spPr>
          <a:xfrm>
            <a:off x="457200" y="4299600"/>
            <a:ext cx="30000" cy="190000"/>
          </a:xfrm>
          <a:prstGeom prst="rect">
            <a:avLst/>
          </a:prstGeom>
          <a:noFill/>
          <a:ln/>
        </p:spPr>
        <p:txBody>
          <a:bodyPr wrap="square" lIns="0" tIns="0" rIns="0" bIns="0" rtlCol="0" anchor="t"/>
          <a:lstStyle/>
          <a:p>
            <a:pPr marL="0" indent="0" algn="l">
              <a:buNone/>
            </a:pPr>
            <a:r>
              <a:rPr lang="en-US" sz="950" b="1" dirty="0">
                <a:solidFill>
                  <a:srgbClr val="0891B2"/>
                </a:solidFill>
              </a:rPr>
              <a:t>•</a:t>
            </a:r>
          </a:p>
        </p:txBody>
      </p:sp>
      <p:sp>
        <p:nvSpPr>
          <p:cNvPr id="141" name="Text"/>
          <p:cNvSpPr/>
          <p:nvPr/>
        </p:nvSpPr>
        <p:spPr>
          <a:xfrm>
            <a:off x="657200" y="4299600"/>
            <a:ext cx="3800500" cy="190000"/>
          </a:xfrm>
          <a:prstGeom prst="rect">
            <a:avLst/>
          </a:prstGeom>
          <a:noFill/>
          <a:ln/>
        </p:spPr>
        <p:txBody>
          <a:bodyPr wrap="square" lIns="0" tIns="0" rIns="0" bIns="0" rtlCol="0" anchor="t"/>
          <a:lstStyle/>
          <a:p>
            <a:pPr marL="0" indent="0" algn="l">
              <a:buNone/>
            </a:pPr>
            <a:r>
              <a:rPr lang="en-US" sz="850" b="0" dirty="0">
                <a:solidFill>
                  <a:srgbClr val="E2E8F0"/>
                </a:solidFill>
              </a:rPr>
              <a:t>Improvement action plan</a:t>
            </a:r>
          </a:p>
        </p:txBody>
      </p:sp>
      <p:sp>
        <p:nvSpPr>
          <p:cNvPr id="142" name="Text"/>
          <p:cNvSpPr/>
          <p:nvPr/>
        </p:nvSpPr>
        <p:spPr>
          <a:xfrm>
            <a:off x="4686300" y="3049600"/>
            <a:ext cx="30000" cy="190000"/>
          </a:xfrm>
          <a:prstGeom prst="rect">
            <a:avLst/>
          </a:prstGeom>
          <a:noFill/>
          <a:ln/>
        </p:spPr>
        <p:txBody>
          <a:bodyPr wrap="square" lIns="0" tIns="0" rIns="0" bIns="0" rtlCol="0" anchor="t"/>
          <a:lstStyle/>
          <a:p>
            <a:pPr marL="0" indent="0" algn="l">
              <a:buNone/>
            </a:pPr>
            <a:r>
              <a:rPr lang="en-US" sz="950" b="1" dirty="0">
                <a:solidFill>
                  <a:srgbClr val="D97706"/>
                </a:solidFill>
              </a:rPr>
              <a:t>•</a:t>
            </a:r>
          </a:p>
        </p:txBody>
      </p:sp>
      <p:sp>
        <p:nvSpPr>
          <p:cNvPr id="143" name="Text"/>
          <p:cNvSpPr/>
          <p:nvPr/>
        </p:nvSpPr>
        <p:spPr>
          <a:xfrm>
            <a:off x="4886300" y="3049600"/>
            <a:ext cx="3800500" cy="190000"/>
          </a:xfrm>
          <a:prstGeom prst="rect">
            <a:avLst/>
          </a:prstGeom>
          <a:noFill/>
          <a:ln/>
        </p:spPr>
        <p:txBody>
          <a:bodyPr wrap="square" lIns="0" tIns="0" rIns="0" bIns="0" rtlCol="0" anchor="t"/>
          <a:lstStyle/>
          <a:p>
            <a:pPr marL="0" indent="0" algn="l">
              <a:buNone/>
            </a:pPr>
            <a:r>
              <a:rPr lang="en-US" sz="850" b="0" dirty="0">
                <a:solidFill>
                  <a:srgbClr val="E2E8F0"/>
                </a:solidFill>
              </a:rPr>
              <a:t>NPA risk &amp; CRAR indicators</a:t>
            </a:r>
          </a:p>
        </p:txBody>
      </p:sp>
      <p:sp>
        <p:nvSpPr>
          <p:cNvPr id="144" name="Text"/>
          <p:cNvSpPr/>
          <p:nvPr/>
        </p:nvSpPr>
        <p:spPr>
          <a:xfrm>
            <a:off x="4686300" y="3299600"/>
            <a:ext cx="30000" cy="190000"/>
          </a:xfrm>
          <a:prstGeom prst="rect">
            <a:avLst/>
          </a:prstGeom>
          <a:noFill/>
          <a:ln/>
        </p:spPr>
        <p:txBody>
          <a:bodyPr wrap="square" lIns="0" tIns="0" rIns="0" bIns="0" rtlCol="0" anchor="t"/>
          <a:lstStyle/>
          <a:p>
            <a:pPr marL="0" indent="0" algn="l">
              <a:buNone/>
            </a:pPr>
            <a:r>
              <a:rPr lang="en-US" sz="950" b="1" dirty="0">
                <a:solidFill>
                  <a:srgbClr val="D97706"/>
                </a:solidFill>
              </a:rPr>
              <a:t>•</a:t>
            </a:r>
          </a:p>
        </p:txBody>
      </p:sp>
      <p:sp>
        <p:nvSpPr>
          <p:cNvPr id="145" name="Text"/>
          <p:cNvSpPr/>
          <p:nvPr/>
        </p:nvSpPr>
        <p:spPr>
          <a:xfrm>
            <a:off x="4886300" y="3299600"/>
            <a:ext cx="3800500" cy="190000"/>
          </a:xfrm>
          <a:prstGeom prst="rect">
            <a:avLst/>
          </a:prstGeom>
          <a:noFill/>
          <a:ln/>
        </p:spPr>
        <p:txBody>
          <a:bodyPr wrap="square" lIns="0" tIns="0" rIns="0" bIns="0" rtlCol="0" anchor="t"/>
          <a:lstStyle/>
          <a:p>
            <a:pPr marL="0" indent="0" algn="l">
              <a:buNone/>
            </a:pPr>
            <a:r>
              <a:rPr lang="en-US" sz="850" b="0" dirty="0">
                <a:solidFill>
                  <a:srgbClr val="E2E8F0"/>
                </a:solidFill>
              </a:rPr>
              <a:t>Fraud detection flags</a:t>
            </a:r>
          </a:p>
        </p:txBody>
      </p:sp>
      <p:sp>
        <p:nvSpPr>
          <p:cNvPr id="146" name="Text"/>
          <p:cNvSpPr/>
          <p:nvPr/>
        </p:nvSpPr>
        <p:spPr>
          <a:xfrm>
            <a:off x="4686300" y="3549600"/>
            <a:ext cx="30000" cy="190000"/>
          </a:xfrm>
          <a:prstGeom prst="rect">
            <a:avLst/>
          </a:prstGeom>
          <a:noFill/>
          <a:ln/>
        </p:spPr>
        <p:txBody>
          <a:bodyPr wrap="square" lIns="0" tIns="0" rIns="0" bIns="0" rtlCol="0" anchor="t"/>
          <a:lstStyle/>
          <a:p>
            <a:pPr marL="0" indent="0" algn="l">
              <a:buNone/>
            </a:pPr>
            <a:r>
              <a:rPr lang="en-US" sz="950" b="1" dirty="0">
                <a:solidFill>
                  <a:srgbClr val="D97706"/>
                </a:solidFill>
              </a:rPr>
              <a:t>•</a:t>
            </a:r>
          </a:p>
        </p:txBody>
      </p:sp>
      <p:sp>
        <p:nvSpPr>
          <p:cNvPr id="147" name="Text"/>
          <p:cNvSpPr/>
          <p:nvPr/>
        </p:nvSpPr>
        <p:spPr>
          <a:xfrm>
            <a:off x="4886300" y="3549600"/>
            <a:ext cx="3800500" cy="190000"/>
          </a:xfrm>
          <a:prstGeom prst="rect">
            <a:avLst/>
          </a:prstGeom>
          <a:noFill/>
          <a:ln/>
        </p:spPr>
        <p:txBody>
          <a:bodyPr wrap="square" lIns="0" tIns="0" rIns="0" bIns="0" rtlCol="0" anchor="t"/>
          <a:lstStyle/>
          <a:p>
            <a:pPr marL="0" indent="0" algn="l">
              <a:buNone/>
            </a:pPr>
            <a:r>
              <a:rPr lang="en-US" sz="850" b="0" dirty="0">
                <a:solidFill>
                  <a:srgbClr val="E2E8F0"/>
                </a:solidFill>
              </a:rPr>
              <a:t>Applicant financial summary</a:t>
            </a:r>
          </a:p>
        </p:txBody>
      </p:sp>
      <p:sp>
        <p:nvSpPr>
          <p:cNvPr id="148" name="Text"/>
          <p:cNvSpPr/>
          <p:nvPr/>
        </p:nvSpPr>
        <p:spPr>
          <a:xfrm>
            <a:off x="4686300" y="3799600"/>
            <a:ext cx="30000" cy="190000"/>
          </a:xfrm>
          <a:prstGeom prst="rect">
            <a:avLst/>
          </a:prstGeom>
          <a:noFill/>
          <a:ln/>
        </p:spPr>
        <p:txBody>
          <a:bodyPr wrap="square" lIns="0" tIns="0" rIns="0" bIns="0" rtlCol="0" anchor="t"/>
          <a:lstStyle/>
          <a:p>
            <a:pPr marL="0" indent="0" algn="l">
              <a:buNone/>
            </a:pPr>
            <a:r>
              <a:rPr lang="en-US" sz="950" b="1" dirty="0">
                <a:solidFill>
                  <a:srgbClr val="D97706"/>
                </a:solidFill>
              </a:rPr>
              <a:t>•</a:t>
            </a:r>
          </a:p>
        </p:txBody>
      </p:sp>
      <p:sp>
        <p:nvSpPr>
          <p:cNvPr id="149" name="Text"/>
          <p:cNvSpPr/>
          <p:nvPr/>
        </p:nvSpPr>
        <p:spPr>
          <a:xfrm>
            <a:off x="4886300" y="3799600"/>
            <a:ext cx="3800500" cy="190000"/>
          </a:xfrm>
          <a:prstGeom prst="rect">
            <a:avLst/>
          </a:prstGeom>
          <a:noFill/>
          <a:ln/>
        </p:spPr>
        <p:txBody>
          <a:bodyPr wrap="square" lIns="0" tIns="0" rIns="0" bIns="0" rtlCol="0" anchor="t"/>
          <a:lstStyle/>
          <a:p>
            <a:pPr marL="0" indent="0" algn="l">
              <a:buNone/>
            </a:pPr>
            <a:r>
              <a:rPr lang="en-US" sz="850" b="0" dirty="0">
                <a:solidFill>
                  <a:srgbClr val="E2E8F0"/>
                </a:solidFill>
              </a:rPr>
              <a:t>Loan approve / reject decision</a:t>
            </a:r>
          </a:p>
        </p:txBody>
      </p:sp>
      <p:sp>
        <p:nvSpPr>
          <p:cNvPr id="150" name="Text"/>
          <p:cNvSpPr/>
          <p:nvPr/>
        </p:nvSpPr>
        <p:spPr>
          <a:xfrm>
            <a:off x="4686300" y="4049600"/>
            <a:ext cx="30000" cy="190000"/>
          </a:xfrm>
          <a:prstGeom prst="rect">
            <a:avLst/>
          </a:prstGeom>
          <a:noFill/>
          <a:ln/>
        </p:spPr>
        <p:txBody>
          <a:bodyPr wrap="square" lIns="0" tIns="0" rIns="0" bIns="0" rtlCol="0" anchor="t"/>
          <a:lstStyle/>
          <a:p>
            <a:pPr marL="0" indent="0" algn="l">
              <a:buNone/>
            </a:pPr>
            <a:r>
              <a:rPr lang="en-US" sz="950" b="1" dirty="0">
                <a:solidFill>
                  <a:srgbClr val="D97706"/>
                </a:solidFill>
              </a:rPr>
              <a:t>•</a:t>
            </a:r>
          </a:p>
        </p:txBody>
      </p:sp>
      <p:sp>
        <p:nvSpPr>
          <p:cNvPr id="151" name="Text"/>
          <p:cNvSpPr/>
          <p:nvPr/>
        </p:nvSpPr>
        <p:spPr>
          <a:xfrm>
            <a:off x="4886300" y="4049600"/>
            <a:ext cx="3800500" cy="190000"/>
          </a:xfrm>
          <a:prstGeom prst="rect">
            <a:avLst/>
          </a:prstGeom>
          <a:noFill/>
          <a:ln/>
        </p:spPr>
        <p:txBody>
          <a:bodyPr wrap="square" lIns="0" tIns="0" rIns="0" bIns="0" rtlCol="0" anchor="t"/>
          <a:lstStyle/>
          <a:p>
            <a:pPr marL="0" indent="0" algn="l">
              <a:buNone/>
            </a:pPr>
            <a:r>
              <a:rPr lang="en-US" sz="850" b="0" dirty="0">
                <a:solidFill>
                  <a:srgbClr val="E2E8F0"/>
                </a:solidFill>
              </a:rPr>
              <a:t>Capital adequacy assessment</a:t>
            </a:r>
          </a:p>
        </p:txBody>
      </p:sp>
      <p:sp>
        <p:nvSpPr>
          <p:cNvPr id="152" name="Text"/>
          <p:cNvSpPr/>
          <p:nvPr/>
        </p:nvSpPr>
        <p:spPr>
          <a:xfrm>
            <a:off x="4686300" y="4299600"/>
            <a:ext cx="30000" cy="190000"/>
          </a:xfrm>
          <a:prstGeom prst="rect">
            <a:avLst/>
          </a:prstGeom>
          <a:noFill/>
          <a:ln/>
        </p:spPr>
        <p:txBody>
          <a:bodyPr wrap="square" lIns="0" tIns="0" rIns="0" bIns="0" rtlCol="0" anchor="t"/>
          <a:lstStyle/>
          <a:p>
            <a:pPr marL="0" indent="0" algn="l">
              <a:buNone/>
            </a:pPr>
            <a:r>
              <a:rPr lang="en-US" sz="950" b="1" dirty="0">
                <a:solidFill>
                  <a:srgbClr val="D97706"/>
                </a:solidFill>
              </a:rPr>
              <a:t>•</a:t>
            </a:r>
          </a:p>
        </p:txBody>
      </p:sp>
      <p:sp>
        <p:nvSpPr>
          <p:cNvPr id="153" name="Text"/>
          <p:cNvSpPr/>
          <p:nvPr/>
        </p:nvSpPr>
        <p:spPr>
          <a:xfrm>
            <a:off x="4886300" y="4299600"/>
            <a:ext cx="3800500" cy="190000"/>
          </a:xfrm>
          <a:prstGeom prst="rect">
            <a:avLst/>
          </a:prstGeom>
          <a:noFill/>
          <a:ln/>
        </p:spPr>
        <p:txBody>
          <a:bodyPr wrap="square" lIns="0" tIns="0" rIns="0" bIns="0" rtlCol="0" anchor="t"/>
          <a:lstStyle/>
          <a:p>
            <a:pPr marL="0" indent="0" algn="l">
              <a:buNone/>
            </a:pPr>
            <a:r>
              <a:rPr lang="en-US" sz="850" b="0" dirty="0">
                <a:solidFill>
                  <a:srgbClr val="E2E8F0"/>
                </a:solidFill>
              </a:rPr>
              <a:t>Structured executive report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ext 0"/>
          <p:cNvSpPr/>
          <p:nvPr/>
        </p:nvSpPr>
        <p:spPr>
          <a:xfrm>
            <a:off x="480060" y="377190"/>
            <a:ext cx="4114800" cy="240030"/>
          </a:xfrm>
          <a:prstGeom prst="rect">
            <a:avLst/>
          </a:prstGeom>
          <a:noFill/>
          <a:ln/>
        </p:spPr>
        <p:txBody>
          <a:bodyPr wrap="square" lIns="0" tIns="0" rIns="0" bIns="0" rtlCol="0" anchor="ctr"/>
          <a:lstStyle/>
          <a:p>
            <a:r>
              <a:rPr lang="en-US" sz="938" b="1" kern="0" spc="150" dirty="0">
                <a:solidFill>
                  <a:srgbClr val="EF6156"/>
                </a:solidFill>
                <a:latin typeface="Calibri" pitchFamily="34" charset="0"/>
                <a:ea typeface="Calibri" pitchFamily="34" charset="-122"/>
                <a:cs typeface="Calibri" pitchFamily="34" charset="-120"/>
              </a:rPr>
              <a:t>CORE FEATURE</a:t>
            </a:r>
            <a:endParaRPr lang="en-US" sz="938" dirty="0"/>
          </a:p>
        </p:txBody>
      </p:sp>
      <p:sp>
        <p:nvSpPr>
          <p:cNvPr id="3" name="Text 1"/>
          <p:cNvSpPr/>
          <p:nvPr/>
        </p:nvSpPr>
        <p:spPr>
          <a:xfrm>
            <a:off x="480060" y="617220"/>
            <a:ext cx="7886700" cy="480060"/>
          </a:xfrm>
          <a:prstGeom prst="rect">
            <a:avLst/>
          </a:prstGeom>
          <a:noFill/>
          <a:ln/>
        </p:spPr>
        <p:txBody>
          <a:bodyPr wrap="square" lIns="0" tIns="0" rIns="0" bIns="0" rtlCol="0" anchor="ctr"/>
          <a:lstStyle/>
          <a:p>
            <a:r>
              <a:rPr lang="en-US" sz="2025" b="1" dirty="0">
                <a:solidFill>
                  <a:schemeClr val="bg1"/>
                </a:solidFill>
                <a:latin typeface="Cambria" pitchFamily="34" charset="0"/>
                <a:ea typeface="Cambria" pitchFamily="34" charset="-122"/>
                <a:cs typeface="Cambria" pitchFamily="34" charset="-120"/>
              </a:rPr>
              <a:t>Understanding the documents, then scoring the risk</a:t>
            </a:r>
            <a:endParaRPr lang="en-US" sz="2025" dirty="0">
              <a:solidFill>
                <a:schemeClr val="bg1"/>
              </a:solidFill>
            </a:endParaRPr>
          </a:p>
        </p:txBody>
      </p:sp>
      <p:sp>
        <p:nvSpPr>
          <p:cNvPr id="4" name="Shape 2"/>
          <p:cNvSpPr/>
          <p:nvPr/>
        </p:nvSpPr>
        <p:spPr>
          <a:xfrm>
            <a:off x="480060" y="1200150"/>
            <a:ext cx="3954666" cy="3360420"/>
          </a:xfrm>
          <a:prstGeom prst="roundRect">
            <a:avLst>
              <a:gd name="adj" fmla="val 1837"/>
            </a:avLst>
          </a:prstGeom>
          <a:solidFill>
            <a:srgbClr val="F5F6FA"/>
          </a:solidFill>
          <a:ln/>
        </p:spPr>
      </p:sp>
      <p:sp>
        <p:nvSpPr>
          <p:cNvPr id="5" name="Shape 3"/>
          <p:cNvSpPr/>
          <p:nvPr/>
        </p:nvSpPr>
        <p:spPr>
          <a:xfrm>
            <a:off x="685800" y="1405890"/>
            <a:ext cx="411480" cy="411480"/>
          </a:xfrm>
          <a:prstGeom prst="ellipse">
            <a:avLst/>
          </a:prstGeom>
          <a:solidFill>
            <a:srgbClr val="FFFFFF"/>
          </a:solidFill>
          <a:ln/>
        </p:spPr>
      </p:sp>
      <p:pic>
        <p:nvPicPr>
          <p:cNvPr id="6" name="Image 0" descr="preencoded.png"/>
          <p:cNvPicPr>
            <a:picLocks noChangeAspect="1"/>
          </p:cNvPicPr>
          <p:nvPr/>
        </p:nvPicPr>
        <p:blipFill>
          <a:blip r:embed="rId3"/>
          <a:stretch>
            <a:fillRect/>
          </a:stretch>
        </p:blipFill>
        <p:spPr>
          <a:xfrm>
            <a:off x="788670" y="1508760"/>
            <a:ext cx="205740" cy="205740"/>
          </a:xfrm>
          <a:prstGeom prst="rect">
            <a:avLst/>
          </a:prstGeom>
        </p:spPr>
      </p:pic>
      <p:sp>
        <p:nvSpPr>
          <p:cNvPr id="7" name="Text 4"/>
          <p:cNvSpPr/>
          <p:nvPr/>
        </p:nvSpPr>
        <p:spPr>
          <a:xfrm>
            <a:off x="1200150" y="1405890"/>
            <a:ext cx="3063126" cy="411480"/>
          </a:xfrm>
          <a:prstGeom prst="rect">
            <a:avLst/>
          </a:prstGeom>
          <a:noFill/>
          <a:ln/>
        </p:spPr>
        <p:txBody>
          <a:bodyPr wrap="square" lIns="0" tIns="0" rIns="0" bIns="0" rtlCol="0" anchor="ctr"/>
          <a:lstStyle/>
          <a:p>
            <a:r>
              <a:rPr lang="en-US" sz="1275" b="1" dirty="0">
                <a:solidFill>
                  <a:srgbClr val="1E2A44"/>
                </a:solidFill>
                <a:latin typeface="Cambria" pitchFamily="34" charset="0"/>
                <a:ea typeface="Cambria" pitchFamily="34" charset="-122"/>
                <a:cs typeface="Cambria" pitchFamily="34" charset="-120"/>
              </a:rPr>
              <a:t>Document Summary</a:t>
            </a:r>
            <a:endParaRPr lang="en-US" sz="1275" dirty="0"/>
          </a:p>
        </p:txBody>
      </p:sp>
      <p:sp>
        <p:nvSpPr>
          <p:cNvPr id="8" name="Text 5"/>
          <p:cNvSpPr/>
          <p:nvPr/>
        </p:nvSpPr>
        <p:spPr>
          <a:xfrm>
            <a:off x="685800" y="1954530"/>
            <a:ext cx="3543186" cy="754380"/>
          </a:xfrm>
          <a:prstGeom prst="rect">
            <a:avLst/>
          </a:prstGeom>
          <a:noFill/>
          <a:ln/>
        </p:spPr>
        <p:txBody>
          <a:bodyPr wrap="square" lIns="0" tIns="0" rIns="0" bIns="0" rtlCol="0" anchor="ctr"/>
          <a:lstStyle/>
          <a:p>
            <a:pPr>
              <a:lnSpc>
                <a:spcPct val="120000"/>
              </a:lnSpc>
            </a:pPr>
            <a:r>
              <a:rPr lang="en-US" sz="900" dirty="0">
                <a:solidFill>
                  <a:srgbClr val="667085"/>
                </a:solidFill>
                <a:latin typeface="Calibri" pitchFamily="34" charset="0"/>
                <a:ea typeface="Calibri" pitchFamily="34" charset="-122"/>
                <a:cs typeface="Calibri" pitchFamily="34" charset="-120"/>
              </a:rPr>
              <a:t>The AI reads every uploaded PDF and pulls out the numbers that actually matter — income, expenses, existing loans, balances — and lays them out in plain language instead of raw pages.</a:t>
            </a:r>
            <a:endParaRPr lang="en-US" sz="900" dirty="0"/>
          </a:p>
        </p:txBody>
      </p:sp>
      <p:sp>
        <p:nvSpPr>
          <p:cNvPr id="9" name="Shape 6"/>
          <p:cNvSpPr/>
          <p:nvPr/>
        </p:nvSpPr>
        <p:spPr>
          <a:xfrm>
            <a:off x="685800" y="2811780"/>
            <a:ext cx="3543186" cy="1611630"/>
          </a:xfrm>
          <a:prstGeom prst="roundRect">
            <a:avLst>
              <a:gd name="adj" fmla="val 3404"/>
            </a:avLst>
          </a:prstGeom>
          <a:solidFill>
            <a:srgbClr val="FBFBFD"/>
          </a:solidFill>
          <a:ln w="19050">
            <a:solidFill>
              <a:srgbClr val="C7CCE0"/>
            </a:solidFill>
            <a:prstDash val="dash"/>
          </a:ln>
        </p:spPr>
      </p:sp>
      <p:pic>
        <p:nvPicPr>
          <p:cNvPr id="10" name="Image 1" descr="preencoded.png"/>
          <p:cNvPicPr>
            <a:picLocks noChangeAspect="1"/>
          </p:cNvPicPr>
          <p:nvPr/>
        </p:nvPicPr>
        <p:blipFill>
          <a:blip r:embed="rId4"/>
          <a:stretch>
            <a:fillRect/>
          </a:stretch>
        </p:blipFill>
        <p:spPr>
          <a:xfrm>
            <a:off x="2268798" y="3116961"/>
            <a:ext cx="377190" cy="377190"/>
          </a:xfrm>
          <a:prstGeom prst="rect">
            <a:avLst/>
          </a:prstGeom>
        </p:spPr>
      </p:pic>
      <p:sp>
        <p:nvSpPr>
          <p:cNvPr id="11" name="Text 7"/>
          <p:cNvSpPr/>
          <p:nvPr/>
        </p:nvSpPr>
        <p:spPr>
          <a:xfrm>
            <a:off x="822960" y="3583305"/>
            <a:ext cx="3268866" cy="342900"/>
          </a:xfrm>
          <a:prstGeom prst="rect">
            <a:avLst/>
          </a:prstGeom>
          <a:noFill/>
          <a:ln/>
        </p:spPr>
        <p:txBody>
          <a:bodyPr wrap="square" lIns="0" tIns="0" rIns="0" bIns="0" rtlCol="0" anchor="ctr"/>
          <a:lstStyle/>
          <a:p>
            <a:pPr algn="ctr"/>
            <a:r>
              <a:rPr lang="en-US" sz="863" b="1" dirty="0">
                <a:solidFill>
                  <a:srgbClr val="8890B5"/>
                </a:solidFill>
                <a:latin typeface="Calibri" pitchFamily="34" charset="0"/>
                <a:ea typeface="Calibri" pitchFamily="34" charset="-122"/>
                <a:cs typeface="Calibri" pitchFamily="34" charset="-120"/>
              </a:rPr>
              <a:t>Document Summary Screen</a:t>
            </a:r>
            <a:endParaRPr lang="en-US" sz="863" dirty="0"/>
          </a:p>
        </p:txBody>
      </p:sp>
      <p:sp>
        <p:nvSpPr>
          <p:cNvPr id="12" name="Text 8"/>
          <p:cNvSpPr/>
          <p:nvPr/>
        </p:nvSpPr>
        <p:spPr>
          <a:xfrm>
            <a:off x="822960" y="3837051"/>
            <a:ext cx="3268866" cy="240030"/>
          </a:xfrm>
          <a:prstGeom prst="rect">
            <a:avLst/>
          </a:prstGeom>
          <a:noFill/>
          <a:ln/>
        </p:spPr>
        <p:txBody>
          <a:bodyPr wrap="square" lIns="0" tIns="0" rIns="0" bIns="0" rtlCol="0" anchor="ctr"/>
          <a:lstStyle/>
          <a:p>
            <a:pPr algn="ctr"/>
            <a:r>
              <a:rPr lang="en-US" sz="713" i="1" dirty="0">
                <a:solidFill>
                  <a:srgbClr val="AEB4D2"/>
                </a:solidFill>
                <a:latin typeface="Calibri" pitchFamily="34" charset="0"/>
                <a:ea typeface="Calibri" pitchFamily="34" charset="-122"/>
                <a:cs typeface="Calibri" pitchFamily="34" charset="-120"/>
              </a:rPr>
              <a:t>Paste your screenshot here</a:t>
            </a:r>
            <a:endParaRPr lang="en-US" sz="713" dirty="0"/>
          </a:p>
        </p:txBody>
      </p:sp>
      <p:sp>
        <p:nvSpPr>
          <p:cNvPr id="13" name="Shape 9"/>
          <p:cNvSpPr/>
          <p:nvPr/>
        </p:nvSpPr>
        <p:spPr>
          <a:xfrm>
            <a:off x="4709046" y="1200150"/>
            <a:ext cx="3954666" cy="3360420"/>
          </a:xfrm>
          <a:prstGeom prst="roundRect">
            <a:avLst>
              <a:gd name="adj" fmla="val 1837"/>
            </a:avLst>
          </a:prstGeom>
          <a:solidFill>
            <a:srgbClr val="F5F6FA"/>
          </a:solidFill>
          <a:ln/>
        </p:spPr>
      </p:sp>
      <p:sp>
        <p:nvSpPr>
          <p:cNvPr id="14" name="Shape 10"/>
          <p:cNvSpPr/>
          <p:nvPr/>
        </p:nvSpPr>
        <p:spPr>
          <a:xfrm>
            <a:off x="4914786" y="1405890"/>
            <a:ext cx="411480" cy="411480"/>
          </a:xfrm>
          <a:prstGeom prst="ellipse">
            <a:avLst/>
          </a:prstGeom>
          <a:solidFill>
            <a:srgbClr val="FFFFFF"/>
          </a:solidFill>
          <a:ln/>
        </p:spPr>
      </p:sp>
      <p:pic>
        <p:nvPicPr>
          <p:cNvPr id="15" name="Image 2" descr="preencoded.png"/>
          <p:cNvPicPr>
            <a:picLocks noChangeAspect="1"/>
          </p:cNvPicPr>
          <p:nvPr/>
        </p:nvPicPr>
        <p:blipFill>
          <a:blip r:embed="rId5"/>
          <a:stretch>
            <a:fillRect/>
          </a:stretch>
        </p:blipFill>
        <p:spPr>
          <a:xfrm>
            <a:off x="5017656" y="1508760"/>
            <a:ext cx="205740" cy="205740"/>
          </a:xfrm>
          <a:prstGeom prst="rect">
            <a:avLst/>
          </a:prstGeom>
        </p:spPr>
      </p:pic>
      <p:sp>
        <p:nvSpPr>
          <p:cNvPr id="16" name="Text 11"/>
          <p:cNvSpPr/>
          <p:nvPr/>
        </p:nvSpPr>
        <p:spPr>
          <a:xfrm>
            <a:off x="5429136" y="1405890"/>
            <a:ext cx="3063126" cy="411480"/>
          </a:xfrm>
          <a:prstGeom prst="rect">
            <a:avLst/>
          </a:prstGeom>
          <a:noFill/>
          <a:ln/>
        </p:spPr>
        <p:txBody>
          <a:bodyPr wrap="square" lIns="0" tIns="0" rIns="0" bIns="0" rtlCol="0" anchor="ctr"/>
          <a:lstStyle/>
          <a:p>
            <a:r>
              <a:rPr lang="en-US" sz="1275" b="1" dirty="0">
                <a:solidFill>
                  <a:srgbClr val="1E2A44"/>
                </a:solidFill>
                <a:latin typeface="Cambria" pitchFamily="34" charset="0"/>
                <a:ea typeface="Cambria" pitchFamily="34" charset="-122"/>
                <a:cs typeface="Cambria" pitchFamily="34" charset="-120"/>
              </a:rPr>
              <a:t>Risk Analysis</a:t>
            </a:r>
            <a:endParaRPr lang="en-US" sz="1275" dirty="0"/>
          </a:p>
        </p:txBody>
      </p:sp>
      <p:sp>
        <p:nvSpPr>
          <p:cNvPr id="17" name="Text 12"/>
          <p:cNvSpPr/>
          <p:nvPr/>
        </p:nvSpPr>
        <p:spPr>
          <a:xfrm>
            <a:off x="4914786" y="1954530"/>
            <a:ext cx="3543186" cy="754380"/>
          </a:xfrm>
          <a:prstGeom prst="rect">
            <a:avLst/>
          </a:prstGeom>
          <a:noFill/>
          <a:ln/>
        </p:spPr>
        <p:txBody>
          <a:bodyPr wrap="square" lIns="0" tIns="0" rIns="0" bIns="0" rtlCol="0" anchor="ctr"/>
          <a:lstStyle/>
          <a:p>
            <a:pPr>
              <a:lnSpc>
                <a:spcPct val="120000"/>
              </a:lnSpc>
            </a:pPr>
            <a:r>
              <a:rPr lang="en-US" sz="900" dirty="0">
                <a:solidFill>
                  <a:srgbClr val="667085"/>
                </a:solidFill>
                <a:latin typeface="Calibri" pitchFamily="34" charset="0"/>
                <a:ea typeface="Calibri" pitchFamily="34" charset="-122"/>
                <a:cs typeface="Calibri" pitchFamily="34" charset="-120"/>
              </a:rPr>
              <a:t>From that summary, the app calculates a credit risk score out of 100, and explains it — what's working in the applicant's favor, what the red flags are, and how much of their income already goes toward debt.</a:t>
            </a:r>
            <a:endParaRPr lang="en-US" sz="900" dirty="0"/>
          </a:p>
        </p:txBody>
      </p:sp>
      <p:sp>
        <p:nvSpPr>
          <p:cNvPr id="18" name="Shape 13"/>
          <p:cNvSpPr/>
          <p:nvPr/>
        </p:nvSpPr>
        <p:spPr>
          <a:xfrm>
            <a:off x="4914786" y="2811780"/>
            <a:ext cx="3543186" cy="1611630"/>
          </a:xfrm>
          <a:prstGeom prst="roundRect">
            <a:avLst>
              <a:gd name="adj" fmla="val 3404"/>
            </a:avLst>
          </a:prstGeom>
          <a:solidFill>
            <a:srgbClr val="FBFBFD"/>
          </a:solidFill>
          <a:ln w="19050">
            <a:solidFill>
              <a:srgbClr val="C7CCE0"/>
            </a:solidFill>
            <a:prstDash val="dash"/>
          </a:ln>
        </p:spPr>
      </p:sp>
      <p:pic>
        <p:nvPicPr>
          <p:cNvPr id="19" name="Image 3" descr="preencoded.png"/>
          <p:cNvPicPr>
            <a:picLocks noChangeAspect="1"/>
          </p:cNvPicPr>
          <p:nvPr/>
        </p:nvPicPr>
        <p:blipFill>
          <a:blip r:embed="rId4"/>
          <a:stretch>
            <a:fillRect/>
          </a:stretch>
        </p:blipFill>
        <p:spPr>
          <a:xfrm>
            <a:off x="6497783" y="3116961"/>
            <a:ext cx="377190" cy="377190"/>
          </a:xfrm>
          <a:prstGeom prst="rect">
            <a:avLst/>
          </a:prstGeom>
        </p:spPr>
      </p:pic>
      <p:sp>
        <p:nvSpPr>
          <p:cNvPr id="20" name="Text 14"/>
          <p:cNvSpPr/>
          <p:nvPr/>
        </p:nvSpPr>
        <p:spPr>
          <a:xfrm>
            <a:off x="5051946" y="3583305"/>
            <a:ext cx="3268866" cy="342900"/>
          </a:xfrm>
          <a:prstGeom prst="rect">
            <a:avLst/>
          </a:prstGeom>
          <a:noFill/>
          <a:ln/>
        </p:spPr>
        <p:txBody>
          <a:bodyPr wrap="square" lIns="0" tIns="0" rIns="0" bIns="0" rtlCol="0" anchor="ctr"/>
          <a:lstStyle/>
          <a:p>
            <a:pPr algn="ctr"/>
            <a:r>
              <a:rPr lang="en-US" sz="863" b="1" dirty="0">
                <a:solidFill>
                  <a:srgbClr val="8890B5"/>
                </a:solidFill>
                <a:latin typeface="Calibri" pitchFamily="34" charset="0"/>
                <a:ea typeface="Calibri" pitchFamily="34" charset="-122"/>
                <a:cs typeface="Calibri" pitchFamily="34" charset="-120"/>
              </a:rPr>
              <a:t>Risk Analysis Screen</a:t>
            </a:r>
            <a:endParaRPr lang="en-US" sz="863" dirty="0"/>
          </a:p>
        </p:txBody>
      </p:sp>
      <p:sp>
        <p:nvSpPr>
          <p:cNvPr id="21" name="Text 15"/>
          <p:cNvSpPr/>
          <p:nvPr/>
        </p:nvSpPr>
        <p:spPr>
          <a:xfrm>
            <a:off x="5051946" y="3837051"/>
            <a:ext cx="3268866" cy="240030"/>
          </a:xfrm>
          <a:prstGeom prst="rect">
            <a:avLst/>
          </a:prstGeom>
          <a:noFill/>
          <a:ln/>
        </p:spPr>
        <p:txBody>
          <a:bodyPr wrap="square" lIns="0" tIns="0" rIns="0" bIns="0" rtlCol="0" anchor="ctr"/>
          <a:lstStyle/>
          <a:p>
            <a:pPr algn="ctr"/>
            <a:r>
              <a:rPr lang="en-US" sz="713" i="1" dirty="0">
                <a:solidFill>
                  <a:srgbClr val="AEB4D2"/>
                </a:solidFill>
                <a:latin typeface="Calibri" pitchFamily="34" charset="0"/>
                <a:ea typeface="Calibri" pitchFamily="34" charset="-122"/>
                <a:cs typeface="Calibri" pitchFamily="34" charset="-120"/>
              </a:rPr>
              <a:t>Paste your screenshot here</a:t>
            </a:r>
            <a:endParaRPr lang="en-US" sz="713" dirty="0"/>
          </a:p>
        </p:txBody>
      </p:sp>
      <p:sp>
        <p:nvSpPr>
          <p:cNvPr id="22" name="Text 16"/>
          <p:cNvSpPr/>
          <p:nvPr/>
        </p:nvSpPr>
        <p:spPr>
          <a:xfrm>
            <a:off x="480060" y="4800600"/>
            <a:ext cx="3429000" cy="205740"/>
          </a:xfrm>
          <a:prstGeom prst="rect">
            <a:avLst/>
          </a:prstGeom>
          <a:noFill/>
          <a:ln/>
        </p:spPr>
        <p:txBody>
          <a:bodyPr wrap="square" lIns="0" tIns="0" rIns="0" bIns="0" rtlCol="0" anchor="ctr"/>
          <a:lstStyle/>
          <a:p>
            <a:r>
              <a:rPr lang="en-US" sz="750" dirty="0">
                <a:solidFill>
                  <a:srgbClr val="667085"/>
                </a:solidFill>
                <a:latin typeface="Calibri" pitchFamily="34" charset="0"/>
                <a:ea typeface="Calibri" pitchFamily="34" charset="-122"/>
                <a:cs typeface="Calibri" pitchFamily="34" charset="-120"/>
              </a:rPr>
              <a:t>Credit Risk Intelligence Platform</a:t>
            </a:r>
            <a:endParaRPr lang="en-US" sz="750" dirty="0"/>
          </a:p>
        </p:txBody>
      </p:sp>
      <p:sp>
        <p:nvSpPr>
          <p:cNvPr id="23" name="Text 17"/>
          <p:cNvSpPr/>
          <p:nvPr/>
        </p:nvSpPr>
        <p:spPr>
          <a:xfrm>
            <a:off x="8526551" y="4800600"/>
            <a:ext cx="411480" cy="205740"/>
          </a:xfrm>
          <a:prstGeom prst="rect">
            <a:avLst/>
          </a:prstGeom>
          <a:noFill/>
          <a:ln/>
        </p:spPr>
        <p:txBody>
          <a:bodyPr wrap="square" lIns="0" tIns="0" rIns="0" bIns="0" rtlCol="0" anchor="ctr"/>
          <a:lstStyle/>
          <a:p>
            <a:pPr algn="r"/>
            <a:r>
              <a:rPr lang="en-US" sz="750" dirty="0">
                <a:solidFill>
                  <a:srgbClr val="667085"/>
                </a:solidFill>
                <a:latin typeface="Calibri" pitchFamily="34" charset="0"/>
                <a:ea typeface="Calibri" pitchFamily="34" charset="-122"/>
                <a:cs typeface="Calibri" pitchFamily="34" charset="-120"/>
              </a:rPr>
              <a:t>07</a:t>
            </a:r>
            <a:endParaRPr lang="en-US" sz="750" dirty="0"/>
          </a:p>
        </p:txBody>
      </p:sp>
      <p:pic>
        <p:nvPicPr>
          <p:cNvPr id="25" name="Picture 24">
            <a:extLst>
              <a:ext uri="{FF2B5EF4-FFF2-40B4-BE49-F238E27FC236}">
                <a16:creationId xmlns:a16="http://schemas.microsoft.com/office/drawing/2014/main" id="{59C93F49-5CBB-6A40-7F34-5B986D725910}"/>
              </a:ext>
            </a:extLst>
          </p:cNvPr>
          <p:cNvPicPr>
            <a:picLocks noChangeAspect="1"/>
          </p:cNvPicPr>
          <p:nvPr/>
        </p:nvPicPr>
        <p:blipFill>
          <a:blip r:embed="rId6"/>
          <a:stretch>
            <a:fillRect/>
          </a:stretch>
        </p:blipFill>
        <p:spPr>
          <a:xfrm>
            <a:off x="696074" y="2811781"/>
            <a:ext cx="3567201" cy="1611629"/>
          </a:xfrm>
          <a:prstGeom prst="rect">
            <a:avLst/>
          </a:prstGeom>
        </p:spPr>
      </p:pic>
      <p:pic>
        <p:nvPicPr>
          <p:cNvPr id="27" name="Picture 26">
            <a:extLst>
              <a:ext uri="{FF2B5EF4-FFF2-40B4-BE49-F238E27FC236}">
                <a16:creationId xmlns:a16="http://schemas.microsoft.com/office/drawing/2014/main" id="{30E07E07-A533-5DD9-13AD-7FA66E087458}"/>
              </a:ext>
            </a:extLst>
          </p:cNvPr>
          <p:cNvPicPr>
            <a:picLocks noChangeAspect="1"/>
          </p:cNvPicPr>
          <p:nvPr/>
        </p:nvPicPr>
        <p:blipFill>
          <a:blip r:embed="rId7"/>
          <a:stretch>
            <a:fillRect/>
          </a:stretch>
        </p:blipFill>
        <p:spPr>
          <a:xfrm>
            <a:off x="4953476" y="2811780"/>
            <a:ext cx="3504495" cy="161163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Core Feature Showcase">
    <p:bg>
      <p:bgPr>
        <a:solidFill>
          <a:srgbClr val="0F1B2D"/>
        </a:solidFill>
        <a:effectLst/>
      </p:bgPr>
    </p:bg>
    <p:spTree>
      <p:nvGrpSpPr>
        <p:cNvPr id="1" name=""/>
        <p:cNvGrpSpPr/>
        <p:nvPr/>
      </p:nvGrpSpPr>
      <p:grpSpPr>
        <a:xfrm>
          <a:off x="0" y="0"/>
          <a:ext cx="0" cy="0"/>
          <a:chOff x="0" y="0"/>
          <a:chExt cx="0" cy="0"/>
        </a:xfrm>
      </p:grpSpPr>
      <p:sp>
        <p:nvSpPr>
          <p:cNvPr id="101" name="Badge"/>
          <p:cNvSpPr/>
          <p:nvPr/>
        </p:nvSpPr>
        <p:spPr>
          <a:xfrm>
            <a:off x="457200" y="274320"/>
            <a:ext cx="1650000" cy="256032"/>
          </a:xfrm>
          <a:prstGeom prst="roundRect">
            <a:avLst>
              <a:gd name="adj" fmla="val 50000"/>
            </a:avLst>
          </a:prstGeom>
          <a:solidFill>
            <a:srgbClr val="0891B2">
              <a:alpha val="25000"/>
            </a:srgbClr>
          </a:solidFill>
          <a:ln/>
        </p:spPr>
      </p:sp>
      <p:sp>
        <p:nvSpPr>
          <p:cNvPr id="102" name="BadgeText"/>
          <p:cNvSpPr/>
          <p:nvPr/>
        </p:nvSpPr>
        <p:spPr>
          <a:xfrm>
            <a:off x="457200" y="274320"/>
            <a:ext cx="1650000" cy="256032"/>
          </a:xfrm>
          <a:prstGeom prst="rect">
            <a:avLst/>
          </a:prstGeom>
          <a:noFill/>
          <a:ln/>
        </p:spPr>
        <p:txBody>
          <a:bodyPr wrap="square" lIns="0" tIns="0" rIns="0" bIns="0" rtlCol="0" anchor="ctr"/>
          <a:lstStyle/>
          <a:p>
            <a:pPr marL="0" indent="0" algn="ctr">
              <a:buNone/>
            </a:pPr>
            <a:r>
              <a:rPr lang="en-US" sz="900" b="1" kern="0" spc="150" dirty="0">
                <a:solidFill>
                  <a:srgbClr val="0891B2"/>
                </a:solidFill>
              </a:rPr>
              <a:t>CORE FEATURES</a:t>
            </a:r>
          </a:p>
        </p:txBody>
      </p:sp>
      <p:sp>
        <p:nvSpPr>
          <p:cNvPr id="103" name="Title"/>
          <p:cNvSpPr/>
          <p:nvPr/>
        </p:nvSpPr>
        <p:spPr>
          <a:xfrm>
            <a:off x="457200" y="590000"/>
            <a:ext cx="8229600" cy="460000"/>
          </a:xfrm>
          <a:prstGeom prst="rect">
            <a:avLst/>
          </a:prstGeom>
          <a:noFill/>
          <a:ln/>
        </p:spPr>
        <p:txBody>
          <a:bodyPr wrap="square" lIns="0" tIns="0" rIns="0" bIns="0" rtlCol="0" anchor="ctr"/>
          <a:lstStyle/>
          <a:p>
            <a:pPr marL="0" indent="0">
              <a:buNone/>
            </a:pPr>
            <a:r>
              <a:rPr lang="en-US" sz="2200" b="1" dirty="0">
                <a:solidFill>
                  <a:srgbClr val="FFFFFF"/>
                </a:solidFill>
                <a:latin typeface="Cambria" pitchFamily="34" charset="0"/>
              </a:rPr>
              <a:t>Recommendations · Retirement · Chat</a:t>
            </a:r>
          </a:p>
        </p:txBody>
      </p:sp>
      <p:sp>
        <p:nvSpPr>
          <p:cNvPr id="104" name="Text"/>
          <p:cNvSpPr/>
          <p:nvPr/>
        </p:nvSpPr>
        <p:spPr>
          <a:xfrm>
            <a:off x="457200" y="1150000"/>
            <a:ext cx="2643200" cy="220000"/>
          </a:xfrm>
          <a:prstGeom prst="rect">
            <a:avLst/>
          </a:prstGeom>
          <a:noFill/>
          <a:ln/>
        </p:spPr>
        <p:txBody>
          <a:bodyPr wrap="square" lIns="0" tIns="0" rIns="0" bIns="0" rtlCol="0" anchor="t"/>
          <a:lstStyle/>
          <a:p>
            <a:pPr marL="0" indent="0" algn="l">
              <a:buNone/>
            </a:pPr>
            <a:r>
              <a:rPr lang="en-US" sz="1000" b="1" dirty="0">
                <a:solidFill>
                  <a:srgbClr val="FFFFFF"/>
                </a:solidFill>
              </a:rPr>
              <a:t>🎯 AI Recommendations</a:t>
            </a:r>
          </a:p>
        </p:txBody>
      </p:sp>
      <p:sp>
        <p:nvSpPr>
          <p:cNvPr id="105" name="Text"/>
          <p:cNvSpPr/>
          <p:nvPr/>
        </p:nvSpPr>
        <p:spPr>
          <a:xfrm>
            <a:off x="457200" y="1380000"/>
            <a:ext cx="2643200" cy="340000"/>
          </a:xfrm>
          <a:prstGeom prst="rect">
            <a:avLst/>
          </a:prstGeom>
          <a:noFill/>
          <a:ln/>
        </p:spPr>
        <p:txBody>
          <a:bodyPr wrap="square" lIns="0" tIns="0" rIns="0" bIns="0" rtlCol="0" anchor="t"/>
          <a:lstStyle/>
          <a:p>
            <a:pPr marL="0" indent="0" algn="l">
              <a:lnSpc>
                <a:spcPct val="115000"/>
              </a:lnSpc>
              <a:buNone/>
            </a:pPr>
            <a:r>
              <a:rPr lang="en-US" sz="800" b="0" dirty="0">
                <a:solidFill>
                  <a:srgbClr val="94A3B8"/>
                </a:solidFill>
              </a:rPr>
              <a:t>Personalised action plan from your risk profile.</a:t>
            </a:r>
          </a:p>
        </p:txBody>
      </p:sp>
      <p:pic>
        <p:nvPicPr>
          <p:cNvPr id="106" name="Shot_rIdImg1"/>
          <p:cNvPicPr>
            <a:picLocks noChangeAspect="1"/>
          </p:cNvPicPr>
          <p:nvPr/>
        </p:nvPicPr>
        <p:blipFill>
          <a:blip r:embed="rId2"/>
          <a:stretch>
            <a:fillRect/>
          </a:stretch>
        </p:blipFill>
        <p:spPr>
          <a:xfrm>
            <a:off x="1003388" y="1750000"/>
            <a:ext cx="1550823" cy="1150000"/>
          </a:xfrm>
          <a:prstGeom prst="roundRect">
            <a:avLst>
              <a:gd name="adj" fmla="val 3000"/>
            </a:avLst>
          </a:prstGeom>
          <a:ln w="12700">
            <a:solidFill>
              <a:srgbClr val="2A3B52"/>
            </a:solidFill>
          </a:ln>
        </p:spPr>
      </p:pic>
      <p:sp>
        <p:nvSpPr>
          <p:cNvPr id="107" name="Text"/>
          <p:cNvSpPr/>
          <p:nvPr/>
        </p:nvSpPr>
        <p:spPr>
          <a:xfrm>
            <a:off x="457200" y="3030000"/>
            <a:ext cx="30000" cy="190000"/>
          </a:xfrm>
          <a:prstGeom prst="rect">
            <a:avLst/>
          </a:prstGeom>
          <a:noFill/>
          <a:ln/>
        </p:spPr>
        <p:txBody>
          <a:bodyPr wrap="square" lIns="0" tIns="0" rIns="0" bIns="0" rtlCol="0" anchor="t"/>
          <a:lstStyle/>
          <a:p>
            <a:pPr marL="0" indent="0" algn="l">
              <a:buNone/>
            </a:pPr>
            <a:r>
              <a:rPr lang="en-US" sz="900" b="1" dirty="0">
                <a:solidFill>
                  <a:srgbClr val="0891B2"/>
                </a:solidFill>
              </a:rPr>
              <a:t>•</a:t>
            </a:r>
          </a:p>
        </p:txBody>
      </p:sp>
      <p:sp>
        <p:nvSpPr>
          <p:cNvPr id="108" name="Text"/>
          <p:cNvSpPr/>
          <p:nvPr/>
        </p:nvSpPr>
        <p:spPr>
          <a:xfrm>
            <a:off x="647200" y="3030000"/>
            <a:ext cx="2453200" cy="190000"/>
          </a:xfrm>
          <a:prstGeom prst="rect">
            <a:avLst/>
          </a:prstGeom>
          <a:noFill/>
          <a:ln/>
        </p:spPr>
        <p:txBody>
          <a:bodyPr wrap="square" lIns="0" tIns="0" rIns="0" bIns="0" rtlCol="0" anchor="t"/>
          <a:lstStyle/>
          <a:p>
            <a:pPr marL="0" indent="0" algn="l">
              <a:buNone/>
            </a:pPr>
            <a:r>
              <a:rPr lang="en-US" sz="780" b="0" dirty="0">
                <a:solidFill>
                  <a:srgbClr val="CBD5E1"/>
                </a:solidFill>
              </a:rPr>
              <a:t>Approve / Review / Reject with reasons</a:t>
            </a:r>
          </a:p>
        </p:txBody>
      </p:sp>
      <p:sp>
        <p:nvSpPr>
          <p:cNvPr id="109" name="Text"/>
          <p:cNvSpPr/>
          <p:nvPr/>
        </p:nvSpPr>
        <p:spPr>
          <a:xfrm>
            <a:off x="457200" y="3265000"/>
            <a:ext cx="30000" cy="190000"/>
          </a:xfrm>
          <a:prstGeom prst="rect">
            <a:avLst/>
          </a:prstGeom>
          <a:noFill/>
          <a:ln/>
        </p:spPr>
        <p:txBody>
          <a:bodyPr wrap="square" lIns="0" tIns="0" rIns="0" bIns="0" rtlCol="0" anchor="t"/>
          <a:lstStyle/>
          <a:p>
            <a:pPr marL="0" indent="0" algn="l">
              <a:buNone/>
            </a:pPr>
            <a:r>
              <a:rPr lang="en-US" sz="900" b="1" dirty="0">
                <a:solidFill>
                  <a:srgbClr val="0891B2"/>
                </a:solidFill>
              </a:rPr>
              <a:t>•</a:t>
            </a:r>
          </a:p>
        </p:txBody>
      </p:sp>
      <p:sp>
        <p:nvSpPr>
          <p:cNvPr id="110" name="Text"/>
          <p:cNvSpPr/>
          <p:nvPr/>
        </p:nvSpPr>
        <p:spPr>
          <a:xfrm>
            <a:off x="647200" y="3265000"/>
            <a:ext cx="2453200" cy="190000"/>
          </a:xfrm>
          <a:prstGeom prst="rect">
            <a:avLst/>
          </a:prstGeom>
          <a:noFill/>
          <a:ln/>
        </p:spPr>
        <p:txBody>
          <a:bodyPr wrap="square" lIns="0" tIns="0" rIns="0" bIns="0" rtlCol="0" anchor="t"/>
          <a:lstStyle/>
          <a:p>
            <a:pPr marL="0" indent="0" algn="l">
              <a:buNone/>
            </a:pPr>
            <a:r>
              <a:rPr lang="en-US" sz="780" b="0" dirty="0">
                <a:solidFill>
                  <a:srgbClr val="CBD5E1"/>
                </a:solidFill>
              </a:rPr>
              <a:t>Alternative financing suggestions</a:t>
            </a:r>
          </a:p>
        </p:txBody>
      </p:sp>
      <p:sp>
        <p:nvSpPr>
          <p:cNvPr id="111" name="Text"/>
          <p:cNvSpPr/>
          <p:nvPr/>
        </p:nvSpPr>
        <p:spPr>
          <a:xfrm>
            <a:off x="457200" y="3500000"/>
            <a:ext cx="30000" cy="190000"/>
          </a:xfrm>
          <a:prstGeom prst="rect">
            <a:avLst/>
          </a:prstGeom>
          <a:noFill/>
          <a:ln/>
        </p:spPr>
        <p:txBody>
          <a:bodyPr wrap="square" lIns="0" tIns="0" rIns="0" bIns="0" rtlCol="0" anchor="t"/>
          <a:lstStyle/>
          <a:p>
            <a:pPr marL="0" indent="0" algn="l">
              <a:buNone/>
            </a:pPr>
            <a:r>
              <a:rPr lang="en-US" sz="900" b="1" dirty="0">
                <a:solidFill>
                  <a:srgbClr val="0891B2"/>
                </a:solidFill>
              </a:rPr>
              <a:t>•</a:t>
            </a:r>
          </a:p>
        </p:txBody>
      </p:sp>
      <p:sp>
        <p:nvSpPr>
          <p:cNvPr id="112" name="Text"/>
          <p:cNvSpPr/>
          <p:nvPr/>
        </p:nvSpPr>
        <p:spPr>
          <a:xfrm>
            <a:off x="647200" y="3500000"/>
            <a:ext cx="2453200" cy="190000"/>
          </a:xfrm>
          <a:prstGeom prst="rect">
            <a:avLst/>
          </a:prstGeom>
          <a:noFill/>
          <a:ln/>
        </p:spPr>
        <p:txBody>
          <a:bodyPr wrap="square" lIns="0" tIns="0" rIns="0" bIns="0" rtlCol="0" anchor="t"/>
          <a:lstStyle/>
          <a:p>
            <a:pPr marL="0" indent="0" algn="l">
              <a:buNone/>
            </a:pPr>
            <a:r>
              <a:rPr lang="en-US" sz="780" b="0" dirty="0">
                <a:solidFill>
                  <a:srgbClr val="CBD5E1"/>
                </a:solidFill>
              </a:rPr>
              <a:t>Steps to improve approval odds</a:t>
            </a:r>
          </a:p>
        </p:txBody>
      </p:sp>
      <p:sp>
        <p:nvSpPr>
          <p:cNvPr id="113" name="Text"/>
          <p:cNvSpPr/>
          <p:nvPr/>
        </p:nvSpPr>
        <p:spPr>
          <a:xfrm>
            <a:off x="3250400" y="1150000"/>
            <a:ext cx="2643200" cy="220000"/>
          </a:xfrm>
          <a:prstGeom prst="rect">
            <a:avLst/>
          </a:prstGeom>
          <a:noFill/>
          <a:ln/>
        </p:spPr>
        <p:txBody>
          <a:bodyPr wrap="square" lIns="0" tIns="0" rIns="0" bIns="0" rtlCol="0" anchor="t"/>
          <a:lstStyle/>
          <a:p>
            <a:pPr marL="0" indent="0" algn="l">
              <a:buNone/>
            </a:pPr>
            <a:r>
              <a:rPr lang="en-US" sz="1000" b="1" dirty="0">
                <a:solidFill>
                  <a:srgbClr val="FFFFFF"/>
                </a:solidFill>
              </a:rPr>
              <a:t>🏙️ Retirement Planner</a:t>
            </a:r>
          </a:p>
        </p:txBody>
      </p:sp>
      <p:sp>
        <p:nvSpPr>
          <p:cNvPr id="114" name="Text"/>
          <p:cNvSpPr/>
          <p:nvPr/>
        </p:nvSpPr>
        <p:spPr>
          <a:xfrm>
            <a:off x="3250400" y="1380000"/>
            <a:ext cx="2643200" cy="340000"/>
          </a:xfrm>
          <a:prstGeom prst="rect">
            <a:avLst/>
          </a:prstGeom>
          <a:noFill/>
          <a:ln/>
        </p:spPr>
        <p:txBody>
          <a:bodyPr wrap="square" lIns="0" tIns="0" rIns="0" bIns="0" rtlCol="0" anchor="t"/>
          <a:lstStyle/>
          <a:p>
            <a:pPr marL="0" indent="0" algn="l">
              <a:lnSpc>
                <a:spcPct val="115000"/>
              </a:lnSpc>
              <a:buNone/>
            </a:pPr>
            <a:r>
              <a:rPr lang="en-US" sz="800" b="0" dirty="0">
                <a:solidFill>
                  <a:srgbClr val="94A3B8"/>
                </a:solidFill>
              </a:rPr>
              <a:t>City-aware corpus calculator, 40 Indian cities.</a:t>
            </a:r>
          </a:p>
        </p:txBody>
      </p:sp>
      <p:pic>
        <p:nvPicPr>
          <p:cNvPr id="115" name="Shot_rIdImg2"/>
          <p:cNvPicPr>
            <a:picLocks noChangeAspect="1"/>
          </p:cNvPicPr>
          <p:nvPr/>
        </p:nvPicPr>
        <p:blipFill>
          <a:blip r:embed="rId3"/>
          <a:stretch>
            <a:fillRect/>
          </a:stretch>
        </p:blipFill>
        <p:spPr>
          <a:xfrm>
            <a:off x="3566114" y="1750000"/>
            <a:ext cx="2011772" cy="1150000"/>
          </a:xfrm>
          <a:prstGeom prst="roundRect">
            <a:avLst>
              <a:gd name="adj" fmla="val 3000"/>
            </a:avLst>
          </a:prstGeom>
          <a:ln w="12700">
            <a:solidFill>
              <a:srgbClr val="2A3B52"/>
            </a:solidFill>
          </a:ln>
        </p:spPr>
      </p:pic>
      <p:sp>
        <p:nvSpPr>
          <p:cNvPr id="116" name="Text"/>
          <p:cNvSpPr/>
          <p:nvPr/>
        </p:nvSpPr>
        <p:spPr>
          <a:xfrm>
            <a:off x="3250400" y="3030000"/>
            <a:ext cx="30000" cy="190000"/>
          </a:xfrm>
          <a:prstGeom prst="rect">
            <a:avLst/>
          </a:prstGeom>
          <a:noFill/>
          <a:ln/>
        </p:spPr>
        <p:txBody>
          <a:bodyPr wrap="square" lIns="0" tIns="0" rIns="0" bIns="0" rtlCol="0" anchor="t"/>
          <a:lstStyle/>
          <a:p>
            <a:pPr marL="0" indent="0" algn="l">
              <a:buNone/>
            </a:pPr>
            <a:r>
              <a:rPr lang="en-US" sz="900" b="1" dirty="0">
                <a:solidFill>
                  <a:srgbClr val="0891B2"/>
                </a:solidFill>
              </a:rPr>
              <a:t>•</a:t>
            </a:r>
          </a:p>
        </p:txBody>
      </p:sp>
      <p:sp>
        <p:nvSpPr>
          <p:cNvPr id="117" name="Text"/>
          <p:cNvSpPr/>
          <p:nvPr/>
        </p:nvSpPr>
        <p:spPr>
          <a:xfrm>
            <a:off x="3440400" y="3030000"/>
            <a:ext cx="2453200" cy="190000"/>
          </a:xfrm>
          <a:prstGeom prst="rect">
            <a:avLst/>
          </a:prstGeom>
          <a:noFill/>
          <a:ln/>
        </p:spPr>
        <p:txBody>
          <a:bodyPr wrap="square" lIns="0" tIns="0" rIns="0" bIns="0" rtlCol="0" anchor="t"/>
          <a:lstStyle/>
          <a:p>
            <a:pPr marL="0" indent="0" algn="l">
              <a:buNone/>
            </a:pPr>
            <a:r>
              <a:rPr lang="en-US" sz="780" b="0" dirty="0">
                <a:solidFill>
                  <a:srgbClr val="CBD5E1"/>
                </a:solidFill>
              </a:rPr>
              <a:t>Retirement corpus required</a:t>
            </a:r>
          </a:p>
        </p:txBody>
      </p:sp>
      <p:sp>
        <p:nvSpPr>
          <p:cNvPr id="118" name="Text"/>
          <p:cNvSpPr/>
          <p:nvPr/>
        </p:nvSpPr>
        <p:spPr>
          <a:xfrm>
            <a:off x="3250400" y="3265000"/>
            <a:ext cx="30000" cy="190000"/>
          </a:xfrm>
          <a:prstGeom prst="rect">
            <a:avLst/>
          </a:prstGeom>
          <a:noFill/>
          <a:ln/>
        </p:spPr>
        <p:txBody>
          <a:bodyPr wrap="square" lIns="0" tIns="0" rIns="0" bIns="0" rtlCol="0" anchor="t"/>
          <a:lstStyle/>
          <a:p>
            <a:pPr marL="0" indent="0" algn="l">
              <a:buNone/>
            </a:pPr>
            <a:r>
              <a:rPr lang="en-US" sz="900" b="1" dirty="0">
                <a:solidFill>
                  <a:srgbClr val="0891B2"/>
                </a:solidFill>
              </a:rPr>
              <a:t>•</a:t>
            </a:r>
          </a:p>
        </p:txBody>
      </p:sp>
      <p:sp>
        <p:nvSpPr>
          <p:cNvPr id="119" name="Text"/>
          <p:cNvSpPr/>
          <p:nvPr/>
        </p:nvSpPr>
        <p:spPr>
          <a:xfrm>
            <a:off x="3440400" y="3265000"/>
            <a:ext cx="2453200" cy="190000"/>
          </a:xfrm>
          <a:prstGeom prst="rect">
            <a:avLst/>
          </a:prstGeom>
          <a:noFill/>
          <a:ln/>
        </p:spPr>
        <p:txBody>
          <a:bodyPr wrap="square" lIns="0" tIns="0" rIns="0" bIns="0" rtlCol="0" anchor="t"/>
          <a:lstStyle/>
          <a:p>
            <a:pPr marL="0" indent="0" algn="l">
              <a:buNone/>
            </a:pPr>
            <a:r>
              <a:rPr lang="en-US" sz="780" b="0" dirty="0">
                <a:solidFill>
                  <a:srgbClr val="CBD5E1"/>
                </a:solidFill>
              </a:rPr>
              <a:t>Monthly SIP needed to close the gap</a:t>
            </a:r>
          </a:p>
        </p:txBody>
      </p:sp>
      <p:sp>
        <p:nvSpPr>
          <p:cNvPr id="120" name="Text"/>
          <p:cNvSpPr/>
          <p:nvPr/>
        </p:nvSpPr>
        <p:spPr>
          <a:xfrm>
            <a:off x="3250400" y="3500000"/>
            <a:ext cx="30000" cy="190000"/>
          </a:xfrm>
          <a:prstGeom prst="rect">
            <a:avLst/>
          </a:prstGeom>
          <a:noFill/>
          <a:ln/>
        </p:spPr>
        <p:txBody>
          <a:bodyPr wrap="square" lIns="0" tIns="0" rIns="0" bIns="0" rtlCol="0" anchor="t"/>
          <a:lstStyle/>
          <a:p>
            <a:pPr marL="0" indent="0" algn="l">
              <a:buNone/>
            </a:pPr>
            <a:r>
              <a:rPr lang="en-US" sz="900" b="1" dirty="0">
                <a:solidFill>
                  <a:srgbClr val="0891B2"/>
                </a:solidFill>
              </a:rPr>
              <a:t>•</a:t>
            </a:r>
          </a:p>
        </p:txBody>
      </p:sp>
      <p:sp>
        <p:nvSpPr>
          <p:cNvPr id="121" name="Text"/>
          <p:cNvSpPr/>
          <p:nvPr/>
        </p:nvSpPr>
        <p:spPr>
          <a:xfrm>
            <a:off x="3440400" y="3500000"/>
            <a:ext cx="2453200" cy="190000"/>
          </a:xfrm>
          <a:prstGeom prst="rect">
            <a:avLst/>
          </a:prstGeom>
          <a:noFill/>
          <a:ln/>
        </p:spPr>
        <p:txBody>
          <a:bodyPr wrap="square" lIns="0" tIns="0" rIns="0" bIns="0" rtlCol="0" anchor="t"/>
          <a:lstStyle/>
          <a:p>
            <a:pPr marL="0" indent="0" algn="l">
              <a:buNone/>
            </a:pPr>
            <a:r>
              <a:rPr lang="en-US" sz="780" b="0" dirty="0">
                <a:solidFill>
                  <a:srgbClr val="CBD5E1"/>
                </a:solidFill>
              </a:rPr>
              <a:t>Feasibility check vs income</a:t>
            </a:r>
          </a:p>
        </p:txBody>
      </p:sp>
      <p:sp>
        <p:nvSpPr>
          <p:cNvPr id="122" name="Text"/>
          <p:cNvSpPr/>
          <p:nvPr/>
        </p:nvSpPr>
        <p:spPr>
          <a:xfrm>
            <a:off x="6043600" y="1150000"/>
            <a:ext cx="2643200" cy="220000"/>
          </a:xfrm>
          <a:prstGeom prst="rect">
            <a:avLst/>
          </a:prstGeom>
          <a:noFill/>
          <a:ln/>
        </p:spPr>
        <p:txBody>
          <a:bodyPr wrap="square" lIns="0" tIns="0" rIns="0" bIns="0" rtlCol="0" anchor="t"/>
          <a:lstStyle/>
          <a:p>
            <a:pPr marL="0" indent="0" algn="l">
              <a:buNone/>
            </a:pPr>
            <a:r>
              <a:rPr lang="en-US" sz="1000" b="1" dirty="0">
                <a:solidFill>
                  <a:srgbClr val="FFFFFF"/>
                </a:solidFill>
              </a:rPr>
              <a:t>💬 AI Chat</a:t>
            </a:r>
          </a:p>
        </p:txBody>
      </p:sp>
      <p:sp>
        <p:nvSpPr>
          <p:cNvPr id="123" name="Text"/>
          <p:cNvSpPr/>
          <p:nvPr/>
        </p:nvSpPr>
        <p:spPr>
          <a:xfrm>
            <a:off x="6043600" y="1380000"/>
            <a:ext cx="2643200" cy="340000"/>
          </a:xfrm>
          <a:prstGeom prst="rect">
            <a:avLst/>
          </a:prstGeom>
          <a:noFill/>
          <a:ln/>
        </p:spPr>
        <p:txBody>
          <a:bodyPr wrap="square" lIns="0" tIns="0" rIns="0" bIns="0" rtlCol="0" anchor="t"/>
          <a:lstStyle/>
          <a:p>
            <a:pPr marL="0" indent="0" algn="l">
              <a:lnSpc>
                <a:spcPct val="115000"/>
              </a:lnSpc>
              <a:buNone/>
            </a:pPr>
            <a:r>
              <a:rPr lang="en-US" sz="800" b="0" dirty="0">
                <a:solidFill>
                  <a:srgbClr val="94A3B8"/>
                </a:solidFill>
              </a:rPr>
              <a:t>Ask questions about your own documents.</a:t>
            </a:r>
          </a:p>
        </p:txBody>
      </p:sp>
      <p:pic>
        <p:nvPicPr>
          <p:cNvPr id="124" name="Shot_rIdImg3"/>
          <p:cNvPicPr>
            <a:picLocks noChangeAspect="1"/>
          </p:cNvPicPr>
          <p:nvPr/>
        </p:nvPicPr>
        <p:blipFill>
          <a:blip r:embed="rId4"/>
          <a:stretch>
            <a:fillRect/>
          </a:stretch>
        </p:blipFill>
        <p:spPr>
          <a:xfrm>
            <a:off x="6164625" y="1750000"/>
            <a:ext cx="2401150" cy="1150000"/>
          </a:xfrm>
          <a:prstGeom prst="roundRect">
            <a:avLst>
              <a:gd name="adj" fmla="val 3000"/>
            </a:avLst>
          </a:prstGeom>
          <a:ln w="12700">
            <a:solidFill>
              <a:srgbClr val="2A3B52"/>
            </a:solidFill>
          </a:ln>
        </p:spPr>
      </p:pic>
      <p:sp>
        <p:nvSpPr>
          <p:cNvPr id="125" name="Text"/>
          <p:cNvSpPr/>
          <p:nvPr/>
        </p:nvSpPr>
        <p:spPr>
          <a:xfrm>
            <a:off x="6043600" y="3030000"/>
            <a:ext cx="30000" cy="190000"/>
          </a:xfrm>
          <a:prstGeom prst="rect">
            <a:avLst/>
          </a:prstGeom>
          <a:noFill/>
          <a:ln/>
        </p:spPr>
        <p:txBody>
          <a:bodyPr wrap="square" lIns="0" tIns="0" rIns="0" bIns="0" rtlCol="0" anchor="t"/>
          <a:lstStyle/>
          <a:p>
            <a:pPr marL="0" indent="0" algn="l">
              <a:buNone/>
            </a:pPr>
            <a:r>
              <a:rPr lang="en-US" sz="900" b="1" dirty="0">
                <a:solidFill>
                  <a:srgbClr val="0891B2"/>
                </a:solidFill>
              </a:rPr>
              <a:t>•</a:t>
            </a:r>
          </a:p>
        </p:txBody>
      </p:sp>
      <p:sp>
        <p:nvSpPr>
          <p:cNvPr id="126" name="Text"/>
          <p:cNvSpPr/>
          <p:nvPr/>
        </p:nvSpPr>
        <p:spPr>
          <a:xfrm>
            <a:off x="6233600" y="3030000"/>
            <a:ext cx="2453200" cy="190000"/>
          </a:xfrm>
          <a:prstGeom prst="rect">
            <a:avLst/>
          </a:prstGeom>
          <a:noFill/>
          <a:ln/>
        </p:spPr>
        <p:txBody>
          <a:bodyPr wrap="square" lIns="0" tIns="0" rIns="0" bIns="0" rtlCol="0" anchor="t"/>
          <a:lstStyle/>
          <a:p>
            <a:pPr marL="0" indent="0" algn="l">
              <a:buNone/>
            </a:pPr>
            <a:r>
              <a:rPr lang="en-US" sz="780" b="0" dirty="0">
                <a:solidFill>
                  <a:srgbClr val="CBD5E1"/>
                </a:solidFill>
              </a:rPr>
              <a:t>Answers grounded only in your documents</a:t>
            </a:r>
          </a:p>
        </p:txBody>
      </p:sp>
      <p:sp>
        <p:nvSpPr>
          <p:cNvPr id="127" name="Text"/>
          <p:cNvSpPr/>
          <p:nvPr/>
        </p:nvSpPr>
        <p:spPr>
          <a:xfrm>
            <a:off x="6043600" y="3265000"/>
            <a:ext cx="30000" cy="190000"/>
          </a:xfrm>
          <a:prstGeom prst="rect">
            <a:avLst/>
          </a:prstGeom>
          <a:noFill/>
          <a:ln/>
        </p:spPr>
        <p:txBody>
          <a:bodyPr wrap="square" lIns="0" tIns="0" rIns="0" bIns="0" rtlCol="0" anchor="t"/>
          <a:lstStyle/>
          <a:p>
            <a:pPr marL="0" indent="0" algn="l">
              <a:buNone/>
            </a:pPr>
            <a:r>
              <a:rPr lang="en-US" sz="900" b="1" dirty="0">
                <a:solidFill>
                  <a:srgbClr val="0891B2"/>
                </a:solidFill>
              </a:rPr>
              <a:t>•</a:t>
            </a:r>
          </a:p>
        </p:txBody>
      </p:sp>
      <p:sp>
        <p:nvSpPr>
          <p:cNvPr id="128" name="Text"/>
          <p:cNvSpPr/>
          <p:nvPr/>
        </p:nvSpPr>
        <p:spPr>
          <a:xfrm>
            <a:off x="6233600" y="3265000"/>
            <a:ext cx="2453200" cy="190000"/>
          </a:xfrm>
          <a:prstGeom prst="rect">
            <a:avLst/>
          </a:prstGeom>
          <a:noFill/>
          <a:ln/>
        </p:spPr>
        <p:txBody>
          <a:bodyPr wrap="square" lIns="0" tIns="0" rIns="0" bIns="0" rtlCol="0" anchor="t"/>
          <a:lstStyle/>
          <a:p>
            <a:pPr marL="0" indent="0" algn="l">
              <a:buNone/>
            </a:pPr>
            <a:r>
              <a:rPr lang="en-US" sz="780" b="0" dirty="0">
                <a:solidFill>
                  <a:srgbClr val="CBD5E1"/>
                </a:solidFill>
              </a:rPr>
              <a:t>Hybrid BM25 + vector retrieval</a:t>
            </a:r>
          </a:p>
        </p:txBody>
      </p:sp>
      <p:sp>
        <p:nvSpPr>
          <p:cNvPr id="129" name="Text"/>
          <p:cNvSpPr/>
          <p:nvPr/>
        </p:nvSpPr>
        <p:spPr>
          <a:xfrm>
            <a:off x="6043600" y="3500000"/>
            <a:ext cx="30000" cy="190000"/>
          </a:xfrm>
          <a:prstGeom prst="rect">
            <a:avLst/>
          </a:prstGeom>
          <a:noFill/>
          <a:ln/>
        </p:spPr>
        <p:txBody>
          <a:bodyPr wrap="square" lIns="0" tIns="0" rIns="0" bIns="0" rtlCol="0" anchor="t"/>
          <a:lstStyle/>
          <a:p>
            <a:pPr marL="0" indent="0" algn="l">
              <a:buNone/>
            </a:pPr>
            <a:r>
              <a:rPr lang="en-US" sz="900" b="1" dirty="0">
                <a:solidFill>
                  <a:srgbClr val="0891B2"/>
                </a:solidFill>
              </a:rPr>
              <a:t>•</a:t>
            </a:r>
          </a:p>
        </p:txBody>
      </p:sp>
      <p:sp>
        <p:nvSpPr>
          <p:cNvPr id="130" name="Text"/>
          <p:cNvSpPr/>
          <p:nvPr/>
        </p:nvSpPr>
        <p:spPr>
          <a:xfrm>
            <a:off x="6233600" y="3500000"/>
            <a:ext cx="2453200" cy="190000"/>
          </a:xfrm>
          <a:prstGeom prst="rect">
            <a:avLst/>
          </a:prstGeom>
          <a:noFill/>
          <a:ln/>
        </p:spPr>
        <p:txBody>
          <a:bodyPr wrap="square" lIns="0" tIns="0" rIns="0" bIns="0" rtlCol="0" anchor="t"/>
          <a:lstStyle/>
          <a:p>
            <a:pPr marL="0" indent="0" algn="l">
              <a:buNone/>
            </a:pPr>
            <a:r>
              <a:rPr lang="en-US" sz="780" b="0" dirty="0">
                <a:solidFill>
                  <a:srgbClr val="CBD5E1"/>
                </a:solidFill>
              </a:rPr>
              <a:t>Year-aware re-ranking prevents mixups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8">
    <p:bg>
      <p:bgPr>
        <a:solidFill>
          <a:srgbClr val="0F1B2D"/>
        </a:solidFill>
        <a:effectLst/>
      </p:bgPr>
    </p:bg>
    <p:spTree>
      <p:nvGrpSpPr>
        <p:cNvPr id="1" name=""/>
        <p:cNvGrpSpPr/>
        <p:nvPr/>
      </p:nvGrpSpPr>
      <p:grpSpPr>
        <a:xfrm>
          <a:off x="0" y="0"/>
          <a:ext cx="0" cy="0"/>
          <a:chOff x="0" y="0"/>
          <a:chExt cx="0" cy="0"/>
        </a:xfrm>
      </p:grpSpPr>
      <p:sp>
        <p:nvSpPr>
          <p:cNvPr id="2" name="Shape 0"/>
          <p:cNvSpPr/>
          <p:nvPr/>
        </p:nvSpPr>
        <p:spPr>
          <a:xfrm>
            <a:off x="457200" y="274320"/>
            <a:ext cx="1280160" cy="256032"/>
          </a:xfrm>
          <a:prstGeom prst="roundRect">
            <a:avLst>
              <a:gd name="adj" fmla="val 50000"/>
            </a:avLst>
          </a:prstGeom>
          <a:solidFill>
            <a:srgbClr val="0891B2">
              <a:alpha val="25000"/>
            </a:srgbClr>
          </a:solidFill>
          <a:ln/>
        </p:spPr>
      </p:sp>
      <p:sp>
        <p:nvSpPr>
          <p:cNvPr id="3" name="Text 1"/>
          <p:cNvSpPr/>
          <p:nvPr/>
        </p:nvSpPr>
        <p:spPr>
          <a:xfrm>
            <a:off x="457200" y="274320"/>
            <a:ext cx="1280160" cy="256032"/>
          </a:xfrm>
          <a:prstGeom prst="rect">
            <a:avLst/>
          </a:prstGeom>
          <a:noFill/>
          <a:ln/>
        </p:spPr>
        <p:txBody>
          <a:bodyPr wrap="square" lIns="0" tIns="0" rIns="0" bIns="0" rtlCol="0" anchor="ctr"/>
          <a:lstStyle/>
          <a:p>
            <a:pPr marL="0" indent="0" algn="ctr">
              <a:buNone/>
            </a:pPr>
            <a:r>
              <a:rPr lang="en-US" sz="900" b="1" kern="0" spc="150" dirty="0">
                <a:solidFill>
                  <a:srgbClr val="0891B2"/>
                </a:solidFill>
              </a:rPr>
              <a:t>HOW IT WORKS</a:t>
            </a:r>
            <a:endParaRPr lang="en-US" sz="900" dirty="0"/>
          </a:p>
        </p:txBody>
      </p:sp>
      <p:sp>
        <p:nvSpPr>
          <p:cNvPr id="4" name="Text 2"/>
          <p:cNvSpPr/>
          <p:nvPr/>
        </p:nvSpPr>
        <p:spPr>
          <a:xfrm>
            <a:off x="457200" y="621792"/>
            <a:ext cx="8229600" cy="502920"/>
          </a:xfrm>
          <a:prstGeom prst="rect">
            <a:avLst/>
          </a:prstGeom>
          <a:noFill/>
          <a:ln/>
        </p:spPr>
        <p:txBody>
          <a:bodyPr wrap="square" lIns="0" tIns="0" rIns="0" bIns="0" rtlCol="0" anchor="ctr"/>
          <a:lstStyle/>
          <a:p>
            <a:pPr marL="0" indent="0">
              <a:buNone/>
            </a:pPr>
            <a:r>
              <a:rPr lang="en-US" sz="2800" b="1" dirty="0">
                <a:solidFill>
                  <a:srgbClr val="FFFFFF"/>
                </a:solidFill>
                <a:latin typeface="Cambria" pitchFamily="34" charset="0"/>
                <a:ea typeface="Cambria" pitchFamily="34" charset="-122"/>
                <a:cs typeface="Cambria" pitchFamily="34" charset="-120"/>
              </a:rPr>
              <a:t>The RAG Pipeline</a:t>
            </a:r>
            <a:endParaRPr lang="en-US" sz="2800" dirty="0"/>
          </a:p>
        </p:txBody>
      </p:sp>
      <p:sp>
        <p:nvSpPr>
          <p:cNvPr id="5" name="Shape 3"/>
          <p:cNvSpPr/>
          <p:nvPr/>
        </p:nvSpPr>
        <p:spPr>
          <a:xfrm>
            <a:off x="365760" y="1298448"/>
            <a:ext cx="1600200" cy="1234440"/>
          </a:xfrm>
          <a:prstGeom prst="roundRect">
            <a:avLst>
              <a:gd name="adj" fmla="val 7407"/>
            </a:avLst>
          </a:prstGeom>
          <a:solidFill>
            <a:srgbClr val="162032"/>
          </a:solidFill>
          <a:ln/>
          <a:effectLst>
            <a:outerShdw blurRad="101600" dist="38100" dir="2700000" algn="bl" rotWithShape="0">
              <a:srgbClr val="000000">
                <a:alpha val="18000"/>
              </a:srgbClr>
            </a:outerShdw>
          </a:effectLst>
        </p:spPr>
      </p:sp>
      <p:sp>
        <p:nvSpPr>
          <p:cNvPr id="6" name="Shape 4"/>
          <p:cNvSpPr/>
          <p:nvPr/>
        </p:nvSpPr>
        <p:spPr>
          <a:xfrm>
            <a:off x="960120" y="1408176"/>
            <a:ext cx="384048" cy="384048"/>
          </a:xfrm>
          <a:prstGeom prst="ellipse">
            <a:avLst/>
          </a:prstGeom>
          <a:solidFill>
            <a:srgbClr val="2563EB"/>
          </a:solidFill>
          <a:ln/>
        </p:spPr>
      </p:sp>
      <p:sp>
        <p:nvSpPr>
          <p:cNvPr id="7" name="Text 5"/>
          <p:cNvSpPr/>
          <p:nvPr/>
        </p:nvSpPr>
        <p:spPr>
          <a:xfrm>
            <a:off x="960120" y="1408176"/>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rPr>
              <a:t>1</a:t>
            </a:r>
            <a:endParaRPr lang="en-US" sz="1400" dirty="0"/>
          </a:p>
        </p:txBody>
      </p:sp>
      <p:sp>
        <p:nvSpPr>
          <p:cNvPr id="8" name="Text 6"/>
          <p:cNvSpPr/>
          <p:nvPr/>
        </p:nvSpPr>
        <p:spPr>
          <a:xfrm>
            <a:off x="457200" y="1847088"/>
            <a:ext cx="1417320" cy="256032"/>
          </a:xfrm>
          <a:prstGeom prst="rect">
            <a:avLst/>
          </a:prstGeom>
          <a:noFill/>
          <a:ln/>
        </p:spPr>
        <p:txBody>
          <a:bodyPr wrap="square" lIns="0" tIns="0" rIns="0" bIns="0" rtlCol="0" anchor="ctr"/>
          <a:lstStyle/>
          <a:p>
            <a:pPr marL="0" indent="0" algn="ctr">
              <a:buNone/>
            </a:pPr>
            <a:r>
              <a:rPr lang="en-US" sz="1000" b="1" dirty="0">
                <a:solidFill>
                  <a:srgbClr val="FFFFFF"/>
                </a:solidFill>
              </a:rPr>
              <a:t>Upload PDF</a:t>
            </a:r>
            <a:endParaRPr lang="en-US" sz="1000" dirty="0"/>
          </a:p>
        </p:txBody>
      </p:sp>
      <p:sp>
        <p:nvSpPr>
          <p:cNvPr id="9" name="Text 7"/>
          <p:cNvSpPr/>
          <p:nvPr/>
        </p:nvSpPr>
        <p:spPr>
          <a:xfrm>
            <a:off x="457200" y="2121408"/>
            <a:ext cx="1417320" cy="347472"/>
          </a:xfrm>
          <a:prstGeom prst="rect">
            <a:avLst/>
          </a:prstGeom>
          <a:noFill/>
          <a:ln/>
        </p:spPr>
        <p:txBody>
          <a:bodyPr wrap="square" lIns="0" tIns="0" rIns="0" bIns="0" rtlCol="0" anchor="ctr"/>
          <a:lstStyle/>
          <a:p>
            <a:pPr marL="0" indent="0" algn="ctr">
              <a:lnSpc>
                <a:spcPct val="120000"/>
              </a:lnSpc>
              <a:buNone/>
            </a:pPr>
            <a:r>
              <a:rPr lang="en-US" sz="850" dirty="0">
                <a:solidFill>
                  <a:srgbClr val="94A3B8"/>
                </a:solidFill>
              </a:rPr>
              <a:t>User uploads financial documents</a:t>
            </a:r>
            <a:endParaRPr lang="en-US" sz="850" dirty="0"/>
          </a:p>
        </p:txBody>
      </p:sp>
      <p:sp>
        <p:nvSpPr>
          <p:cNvPr id="10" name="Shape 8"/>
          <p:cNvSpPr/>
          <p:nvPr/>
        </p:nvSpPr>
        <p:spPr>
          <a:xfrm>
            <a:off x="1965960" y="1920240"/>
            <a:ext cx="164592" cy="0"/>
          </a:xfrm>
          <a:prstGeom prst="line">
            <a:avLst/>
          </a:prstGeom>
          <a:noFill/>
          <a:ln w="19050">
            <a:solidFill>
              <a:srgbClr val="94A3B8"/>
            </a:solidFill>
            <a:prstDash val="solid"/>
          </a:ln>
        </p:spPr>
      </p:sp>
      <p:sp>
        <p:nvSpPr>
          <p:cNvPr id="11" name="Shape 9"/>
          <p:cNvSpPr/>
          <p:nvPr/>
        </p:nvSpPr>
        <p:spPr>
          <a:xfrm>
            <a:off x="2130552" y="1298448"/>
            <a:ext cx="1600200" cy="1234440"/>
          </a:xfrm>
          <a:prstGeom prst="roundRect">
            <a:avLst>
              <a:gd name="adj" fmla="val 7407"/>
            </a:avLst>
          </a:prstGeom>
          <a:solidFill>
            <a:srgbClr val="162032"/>
          </a:solidFill>
          <a:ln/>
          <a:effectLst>
            <a:outerShdw blurRad="101600" dist="38100" dir="2700000" algn="bl" rotWithShape="0">
              <a:srgbClr val="000000">
                <a:alpha val="18000"/>
              </a:srgbClr>
            </a:outerShdw>
          </a:effectLst>
        </p:spPr>
      </p:sp>
      <p:sp>
        <p:nvSpPr>
          <p:cNvPr id="12" name="Shape 10"/>
          <p:cNvSpPr/>
          <p:nvPr/>
        </p:nvSpPr>
        <p:spPr>
          <a:xfrm>
            <a:off x="2724912" y="1408176"/>
            <a:ext cx="384048" cy="384048"/>
          </a:xfrm>
          <a:prstGeom prst="ellipse">
            <a:avLst/>
          </a:prstGeom>
          <a:solidFill>
            <a:srgbClr val="0891B2"/>
          </a:solidFill>
          <a:ln/>
        </p:spPr>
      </p:sp>
      <p:sp>
        <p:nvSpPr>
          <p:cNvPr id="13" name="Text 11"/>
          <p:cNvSpPr/>
          <p:nvPr/>
        </p:nvSpPr>
        <p:spPr>
          <a:xfrm>
            <a:off x="2724912" y="1408176"/>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rPr>
              <a:t>2</a:t>
            </a:r>
            <a:endParaRPr lang="en-US" sz="1400" dirty="0"/>
          </a:p>
        </p:txBody>
      </p:sp>
      <p:sp>
        <p:nvSpPr>
          <p:cNvPr id="14" name="Text 12"/>
          <p:cNvSpPr/>
          <p:nvPr/>
        </p:nvSpPr>
        <p:spPr>
          <a:xfrm>
            <a:off x="2221992" y="1847088"/>
            <a:ext cx="1417320" cy="256032"/>
          </a:xfrm>
          <a:prstGeom prst="rect">
            <a:avLst/>
          </a:prstGeom>
          <a:noFill/>
          <a:ln/>
        </p:spPr>
        <p:txBody>
          <a:bodyPr wrap="square" lIns="0" tIns="0" rIns="0" bIns="0" rtlCol="0" anchor="ctr"/>
          <a:lstStyle/>
          <a:p>
            <a:pPr marL="0" indent="0" algn="ctr">
              <a:buNone/>
            </a:pPr>
            <a:r>
              <a:rPr lang="en-US" sz="1000" b="1" dirty="0">
                <a:solidFill>
                  <a:srgbClr val="FFFFFF"/>
                </a:solidFill>
              </a:rPr>
              <a:t>Extract Text</a:t>
            </a:r>
            <a:endParaRPr lang="en-US" sz="1000" dirty="0"/>
          </a:p>
        </p:txBody>
      </p:sp>
      <p:sp>
        <p:nvSpPr>
          <p:cNvPr id="15" name="Text 13"/>
          <p:cNvSpPr/>
          <p:nvPr/>
        </p:nvSpPr>
        <p:spPr>
          <a:xfrm>
            <a:off x="2221992" y="2121408"/>
            <a:ext cx="1417320" cy="347472"/>
          </a:xfrm>
          <a:prstGeom prst="rect">
            <a:avLst/>
          </a:prstGeom>
          <a:noFill/>
          <a:ln/>
        </p:spPr>
        <p:txBody>
          <a:bodyPr wrap="square" lIns="0" tIns="0" rIns="0" bIns="0" rtlCol="0" anchor="ctr"/>
          <a:lstStyle/>
          <a:p>
            <a:pPr marL="0" indent="0" algn="ctr">
              <a:lnSpc>
                <a:spcPct val="120000"/>
              </a:lnSpc>
              <a:buNone/>
            </a:pPr>
            <a:r>
              <a:rPr lang="en-US" sz="850" dirty="0">
                <a:solidFill>
                  <a:srgbClr val="94A3B8"/>
                </a:solidFill>
              </a:rPr>
              <a:t>PyMuPDF extracts content by page</a:t>
            </a:r>
            <a:endParaRPr lang="en-US" sz="850" dirty="0"/>
          </a:p>
        </p:txBody>
      </p:sp>
      <p:sp>
        <p:nvSpPr>
          <p:cNvPr id="16" name="Shape 14"/>
          <p:cNvSpPr/>
          <p:nvPr/>
        </p:nvSpPr>
        <p:spPr>
          <a:xfrm>
            <a:off x="3730752" y="1920240"/>
            <a:ext cx="164592" cy="0"/>
          </a:xfrm>
          <a:prstGeom prst="line">
            <a:avLst/>
          </a:prstGeom>
          <a:noFill/>
          <a:ln w="19050">
            <a:solidFill>
              <a:srgbClr val="94A3B8"/>
            </a:solidFill>
            <a:prstDash val="solid"/>
          </a:ln>
        </p:spPr>
      </p:sp>
      <p:sp>
        <p:nvSpPr>
          <p:cNvPr id="17" name="Shape 15"/>
          <p:cNvSpPr/>
          <p:nvPr/>
        </p:nvSpPr>
        <p:spPr>
          <a:xfrm>
            <a:off x="3895344" y="1298448"/>
            <a:ext cx="1600200" cy="1234440"/>
          </a:xfrm>
          <a:prstGeom prst="roundRect">
            <a:avLst>
              <a:gd name="adj" fmla="val 7407"/>
            </a:avLst>
          </a:prstGeom>
          <a:solidFill>
            <a:srgbClr val="162032"/>
          </a:solidFill>
          <a:ln/>
          <a:effectLst>
            <a:outerShdw blurRad="101600" dist="38100" dir="2700000" algn="bl" rotWithShape="0">
              <a:srgbClr val="000000">
                <a:alpha val="18000"/>
              </a:srgbClr>
            </a:outerShdw>
          </a:effectLst>
        </p:spPr>
      </p:sp>
      <p:sp>
        <p:nvSpPr>
          <p:cNvPr id="18" name="Shape 16"/>
          <p:cNvSpPr/>
          <p:nvPr/>
        </p:nvSpPr>
        <p:spPr>
          <a:xfrm>
            <a:off x="4489704" y="1408176"/>
            <a:ext cx="384048" cy="384048"/>
          </a:xfrm>
          <a:prstGeom prst="ellipse">
            <a:avLst/>
          </a:prstGeom>
          <a:solidFill>
            <a:srgbClr val="059669"/>
          </a:solidFill>
          <a:ln/>
        </p:spPr>
      </p:sp>
      <p:sp>
        <p:nvSpPr>
          <p:cNvPr id="19" name="Text 17"/>
          <p:cNvSpPr/>
          <p:nvPr/>
        </p:nvSpPr>
        <p:spPr>
          <a:xfrm>
            <a:off x="4489704" y="1408176"/>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rPr>
              <a:t>3</a:t>
            </a:r>
            <a:endParaRPr lang="en-US" sz="1400" dirty="0"/>
          </a:p>
        </p:txBody>
      </p:sp>
      <p:sp>
        <p:nvSpPr>
          <p:cNvPr id="20" name="Text 18"/>
          <p:cNvSpPr/>
          <p:nvPr/>
        </p:nvSpPr>
        <p:spPr>
          <a:xfrm>
            <a:off x="3986784" y="1847088"/>
            <a:ext cx="1417320" cy="256032"/>
          </a:xfrm>
          <a:prstGeom prst="rect">
            <a:avLst/>
          </a:prstGeom>
          <a:noFill/>
          <a:ln/>
        </p:spPr>
        <p:txBody>
          <a:bodyPr wrap="square" lIns="0" tIns="0" rIns="0" bIns="0" rtlCol="0" anchor="ctr"/>
          <a:lstStyle/>
          <a:p>
            <a:pPr marL="0" indent="0" algn="ctr">
              <a:buNone/>
            </a:pPr>
            <a:r>
              <a:rPr lang="en-US" sz="1000" b="1" dirty="0">
                <a:solidFill>
                  <a:srgbClr val="FFFFFF"/>
                </a:solidFill>
              </a:rPr>
              <a:t>Chunk + Embed</a:t>
            </a:r>
            <a:endParaRPr lang="en-US" sz="1000" dirty="0"/>
          </a:p>
        </p:txBody>
      </p:sp>
      <p:sp>
        <p:nvSpPr>
          <p:cNvPr id="21" name="Text 19"/>
          <p:cNvSpPr/>
          <p:nvPr/>
        </p:nvSpPr>
        <p:spPr>
          <a:xfrm>
            <a:off x="3986784" y="2121408"/>
            <a:ext cx="1417320" cy="347472"/>
          </a:xfrm>
          <a:prstGeom prst="rect">
            <a:avLst/>
          </a:prstGeom>
          <a:noFill/>
          <a:ln/>
        </p:spPr>
        <p:txBody>
          <a:bodyPr wrap="square" lIns="0" tIns="0" rIns="0" bIns="0" rtlCol="0" anchor="ctr"/>
          <a:lstStyle/>
          <a:p>
            <a:pPr marL="0" indent="0" algn="ctr">
              <a:lnSpc>
                <a:spcPct val="120000"/>
              </a:lnSpc>
              <a:buNone/>
            </a:pPr>
            <a:r>
              <a:rPr lang="en-US" sz="850" dirty="0">
                <a:solidFill>
                  <a:srgbClr val="94A3B8"/>
                </a:solidFill>
              </a:rPr>
              <a:t>Split into chunks, create vectors</a:t>
            </a:r>
            <a:endParaRPr lang="en-US" sz="850" dirty="0"/>
          </a:p>
        </p:txBody>
      </p:sp>
      <p:sp>
        <p:nvSpPr>
          <p:cNvPr id="22" name="Shape 20"/>
          <p:cNvSpPr/>
          <p:nvPr/>
        </p:nvSpPr>
        <p:spPr>
          <a:xfrm>
            <a:off x="5495544" y="1920240"/>
            <a:ext cx="164592" cy="0"/>
          </a:xfrm>
          <a:prstGeom prst="line">
            <a:avLst/>
          </a:prstGeom>
          <a:noFill/>
          <a:ln w="19050">
            <a:solidFill>
              <a:srgbClr val="94A3B8"/>
            </a:solidFill>
            <a:prstDash val="solid"/>
          </a:ln>
        </p:spPr>
      </p:sp>
      <p:sp>
        <p:nvSpPr>
          <p:cNvPr id="23" name="Shape 21"/>
          <p:cNvSpPr/>
          <p:nvPr/>
        </p:nvSpPr>
        <p:spPr>
          <a:xfrm>
            <a:off x="5660136" y="1298448"/>
            <a:ext cx="1600200" cy="1234440"/>
          </a:xfrm>
          <a:prstGeom prst="roundRect">
            <a:avLst>
              <a:gd name="adj" fmla="val 7407"/>
            </a:avLst>
          </a:prstGeom>
          <a:solidFill>
            <a:srgbClr val="162032"/>
          </a:solidFill>
          <a:ln/>
          <a:effectLst>
            <a:outerShdw blurRad="101600" dist="38100" dir="2700000" algn="bl" rotWithShape="0">
              <a:srgbClr val="000000">
                <a:alpha val="18000"/>
              </a:srgbClr>
            </a:outerShdw>
          </a:effectLst>
        </p:spPr>
      </p:sp>
      <p:sp>
        <p:nvSpPr>
          <p:cNvPr id="24" name="Shape 22"/>
          <p:cNvSpPr/>
          <p:nvPr/>
        </p:nvSpPr>
        <p:spPr>
          <a:xfrm>
            <a:off x="6254496" y="1408176"/>
            <a:ext cx="384048" cy="384048"/>
          </a:xfrm>
          <a:prstGeom prst="ellipse">
            <a:avLst/>
          </a:prstGeom>
          <a:solidFill>
            <a:srgbClr val="D97706"/>
          </a:solidFill>
          <a:ln/>
        </p:spPr>
      </p:sp>
      <p:sp>
        <p:nvSpPr>
          <p:cNvPr id="25" name="Text 23"/>
          <p:cNvSpPr/>
          <p:nvPr/>
        </p:nvSpPr>
        <p:spPr>
          <a:xfrm>
            <a:off x="6254496" y="1408176"/>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rPr>
              <a:t>4</a:t>
            </a:r>
            <a:endParaRPr lang="en-US" sz="1400" dirty="0"/>
          </a:p>
        </p:txBody>
      </p:sp>
      <p:sp>
        <p:nvSpPr>
          <p:cNvPr id="26" name="Text 24"/>
          <p:cNvSpPr/>
          <p:nvPr/>
        </p:nvSpPr>
        <p:spPr>
          <a:xfrm>
            <a:off x="5751576" y="1847088"/>
            <a:ext cx="1417320" cy="256032"/>
          </a:xfrm>
          <a:prstGeom prst="rect">
            <a:avLst/>
          </a:prstGeom>
          <a:noFill/>
          <a:ln/>
        </p:spPr>
        <p:txBody>
          <a:bodyPr wrap="square" lIns="0" tIns="0" rIns="0" bIns="0" rtlCol="0" anchor="ctr"/>
          <a:lstStyle/>
          <a:p>
            <a:pPr marL="0" indent="0" algn="ctr">
              <a:buNone/>
            </a:pPr>
            <a:r>
              <a:rPr lang="en-US" sz="1000" b="1" dirty="0">
                <a:solidFill>
                  <a:srgbClr val="FFFFFF"/>
                </a:solidFill>
              </a:rPr>
              <a:t>Store Vectors</a:t>
            </a:r>
            <a:endParaRPr lang="en-US" sz="1000" dirty="0"/>
          </a:p>
        </p:txBody>
      </p:sp>
      <p:sp>
        <p:nvSpPr>
          <p:cNvPr id="27" name="Text 25"/>
          <p:cNvSpPr/>
          <p:nvPr/>
        </p:nvSpPr>
        <p:spPr>
          <a:xfrm>
            <a:off x="5751576" y="2121408"/>
            <a:ext cx="1417320" cy="347472"/>
          </a:xfrm>
          <a:prstGeom prst="rect">
            <a:avLst/>
          </a:prstGeom>
          <a:noFill/>
          <a:ln/>
        </p:spPr>
        <p:txBody>
          <a:bodyPr wrap="square" lIns="0" tIns="0" rIns="0" bIns="0" rtlCol="0" anchor="ctr"/>
          <a:lstStyle/>
          <a:p>
            <a:pPr marL="0" indent="0" algn="ctr">
              <a:lnSpc>
                <a:spcPct val="120000"/>
              </a:lnSpc>
              <a:buNone/>
            </a:pPr>
            <a:r>
              <a:rPr lang="en-US" sz="850" dirty="0">
                <a:solidFill>
                  <a:srgbClr val="94A3B8"/>
                </a:solidFill>
              </a:rPr>
              <a:t>Indexed in Pinecone cloud DB</a:t>
            </a:r>
            <a:endParaRPr lang="en-US" sz="850" dirty="0"/>
          </a:p>
        </p:txBody>
      </p:sp>
      <p:sp>
        <p:nvSpPr>
          <p:cNvPr id="28" name="Shape 26"/>
          <p:cNvSpPr/>
          <p:nvPr/>
        </p:nvSpPr>
        <p:spPr>
          <a:xfrm>
            <a:off x="7260336" y="1920240"/>
            <a:ext cx="164592" cy="0"/>
          </a:xfrm>
          <a:prstGeom prst="line">
            <a:avLst/>
          </a:prstGeom>
          <a:noFill/>
          <a:ln w="19050">
            <a:solidFill>
              <a:srgbClr val="94A3B8"/>
            </a:solidFill>
            <a:prstDash val="solid"/>
          </a:ln>
        </p:spPr>
      </p:sp>
      <p:sp>
        <p:nvSpPr>
          <p:cNvPr id="29" name="Shape 27"/>
          <p:cNvSpPr/>
          <p:nvPr/>
        </p:nvSpPr>
        <p:spPr>
          <a:xfrm>
            <a:off x="7424928" y="1298448"/>
            <a:ext cx="1600200" cy="1234440"/>
          </a:xfrm>
          <a:prstGeom prst="roundRect">
            <a:avLst>
              <a:gd name="adj" fmla="val 7407"/>
            </a:avLst>
          </a:prstGeom>
          <a:solidFill>
            <a:srgbClr val="162032"/>
          </a:solidFill>
          <a:ln/>
          <a:effectLst>
            <a:outerShdw blurRad="101600" dist="38100" dir="2700000" algn="bl" rotWithShape="0">
              <a:srgbClr val="000000">
                <a:alpha val="18000"/>
              </a:srgbClr>
            </a:outerShdw>
          </a:effectLst>
        </p:spPr>
      </p:sp>
      <p:sp>
        <p:nvSpPr>
          <p:cNvPr id="30" name="Shape 28"/>
          <p:cNvSpPr/>
          <p:nvPr/>
        </p:nvSpPr>
        <p:spPr>
          <a:xfrm>
            <a:off x="8019288" y="1408176"/>
            <a:ext cx="384048" cy="384048"/>
          </a:xfrm>
          <a:prstGeom prst="ellipse">
            <a:avLst/>
          </a:prstGeom>
          <a:solidFill>
            <a:srgbClr val="2563EB"/>
          </a:solidFill>
          <a:ln/>
        </p:spPr>
      </p:sp>
      <p:sp>
        <p:nvSpPr>
          <p:cNvPr id="31" name="Text 29"/>
          <p:cNvSpPr/>
          <p:nvPr/>
        </p:nvSpPr>
        <p:spPr>
          <a:xfrm>
            <a:off x="8019288" y="1408176"/>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rPr>
              <a:t>5</a:t>
            </a:r>
            <a:endParaRPr lang="en-US" sz="1400" dirty="0"/>
          </a:p>
        </p:txBody>
      </p:sp>
      <p:sp>
        <p:nvSpPr>
          <p:cNvPr id="32" name="Text 30"/>
          <p:cNvSpPr/>
          <p:nvPr/>
        </p:nvSpPr>
        <p:spPr>
          <a:xfrm>
            <a:off x="7516368" y="1847088"/>
            <a:ext cx="1417320" cy="256032"/>
          </a:xfrm>
          <a:prstGeom prst="rect">
            <a:avLst/>
          </a:prstGeom>
          <a:noFill/>
          <a:ln/>
        </p:spPr>
        <p:txBody>
          <a:bodyPr wrap="square" lIns="0" tIns="0" rIns="0" bIns="0" rtlCol="0" anchor="ctr"/>
          <a:lstStyle/>
          <a:p>
            <a:pPr marL="0" indent="0" algn="ctr">
              <a:buNone/>
            </a:pPr>
            <a:r>
              <a:rPr lang="en-US" sz="1000" b="1" dirty="0">
                <a:solidFill>
                  <a:srgbClr val="FFFFFF"/>
                </a:solidFill>
              </a:rPr>
              <a:t>Retrieve</a:t>
            </a:r>
            <a:endParaRPr lang="en-US" sz="1000" dirty="0"/>
          </a:p>
        </p:txBody>
      </p:sp>
      <p:sp>
        <p:nvSpPr>
          <p:cNvPr id="33" name="Text 31"/>
          <p:cNvSpPr/>
          <p:nvPr/>
        </p:nvSpPr>
        <p:spPr>
          <a:xfrm>
            <a:off x="7516368" y="2121408"/>
            <a:ext cx="1417320" cy="347472"/>
          </a:xfrm>
          <a:prstGeom prst="rect">
            <a:avLst/>
          </a:prstGeom>
          <a:noFill/>
          <a:ln/>
        </p:spPr>
        <p:txBody>
          <a:bodyPr wrap="square" lIns="0" tIns="0" rIns="0" bIns="0" rtlCol="0" anchor="ctr"/>
          <a:lstStyle/>
          <a:p>
            <a:pPr marL="0" indent="0" algn="ctr">
              <a:lnSpc>
                <a:spcPct val="120000"/>
              </a:lnSpc>
              <a:buNone/>
            </a:pPr>
            <a:r>
              <a:rPr lang="en-US" sz="850" dirty="0">
                <a:solidFill>
                  <a:srgbClr val="94A3B8"/>
                </a:solidFill>
              </a:rPr>
              <a:t>BM25 + vector hybrid search</a:t>
            </a:r>
            <a:endParaRPr lang="en-US" sz="850" dirty="0"/>
          </a:p>
        </p:txBody>
      </p:sp>
      <p:sp>
        <p:nvSpPr>
          <p:cNvPr id="34" name="Shape 32"/>
          <p:cNvSpPr/>
          <p:nvPr/>
        </p:nvSpPr>
        <p:spPr>
          <a:xfrm>
            <a:off x="365760" y="2743200"/>
            <a:ext cx="1600200" cy="1234440"/>
          </a:xfrm>
          <a:prstGeom prst="roundRect">
            <a:avLst>
              <a:gd name="adj" fmla="val 7407"/>
            </a:avLst>
          </a:prstGeom>
          <a:solidFill>
            <a:srgbClr val="162032"/>
          </a:solidFill>
          <a:ln/>
          <a:effectLst>
            <a:outerShdw blurRad="101600" dist="38100" dir="2700000" algn="bl" rotWithShape="0">
              <a:srgbClr val="000000">
                <a:alpha val="18000"/>
              </a:srgbClr>
            </a:outerShdw>
          </a:effectLst>
        </p:spPr>
      </p:sp>
      <p:sp>
        <p:nvSpPr>
          <p:cNvPr id="35" name="Shape 33"/>
          <p:cNvSpPr/>
          <p:nvPr/>
        </p:nvSpPr>
        <p:spPr>
          <a:xfrm>
            <a:off x="960120" y="2852928"/>
            <a:ext cx="384048" cy="384048"/>
          </a:xfrm>
          <a:prstGeom prst="ellipse">
            <a:avLst/>
          </a:prstGeom>
          <a:solidFill>
            <a:srgbClr val="0891B2"/>
          </a:solidFill>
          <a:ln/>
        </p:spPr>
      </p:sp>
      <p:sp>
        <p:nvSpPr>
          <p:cNvPr id="36" name="Text 34"/>
          <p:cNvSpPr/>
          <p:nvPr/>
        </p:nvSpPr>
        <p:spPr>
          <a:xfrm>
            <a:off x="960120" y="2852928"/>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rPr>
              <a:t>6</a:t>
            </a:r>
            <a:endParaRPr lang="en-US" sz="1400" dirty="0"/>
          </a:p>
        </p:txBody>
      </p:sp>
      <p:sp>
        <p:nvSpPr>
          <p:cNvPr id="37" name="Text 35"/>
          <p:cNvSpPr/>
          <p:nvPr/>
        </p:nvSpPr>
        <p:spPr>
          <a:xfrm>
            <a:off x="457200" y="3291840"/>
            <a:ext cx="1417320" cy="256032"/>
          </a:xfrm>
          <a:prstGeom prst="rect">
            <a:avLst/>
          </a:prstGeom>
          <a:noFill/>
          <a:ln/>
        </p:spPr>
        <p:txBody>
          <a:bodyPr wrap="square" lIns="0" tIns="0" rIns="0" bIns="0" rtlCol="0" anchor="ctr"/>
          <a:lstStyle/>
          <a:p>
            <a:pPr marL="0" indent="0" algn="ctr">
              <a:buNone/>
            </a:pPr>
            <a:r>
              <a:rPr lang="en-US" sz="1000" b="1" dirty="0">
                <a:solidFill>
                  <a:srgbClr val="FFFFFF"/>
                </a:solidFill>
              </a:rPr>
              <a:t>Re-rank</a:t>
            </a:r>
            <a:endParaRPr lang="en-US" sz="1000" dirty="0"/>
          </a:p>
        </p:txBody>
      </p:sp>
      <p:sp>
        <p:nvSpPr>
          <p:cNvPr id="38" name="Text 36"/>
          <p:cNvSpPr/>
          <p:nvPr/>
        </p:nvSpPr>
        <p:spPr>
          <a:xfrm>
            <a:off x="457200" y="3566160"/>
            <a:ext cx="1417320" cy="347472"/>
          </a:xfrm>
          <a:prstGeom prst="rect">
            <a:avLst/>
          </a:prstGeom>
          <a:noFill/>
          <a:ln/>
        </p:spPr>
        <p:txBody>
          <a:bodyPr wrap="square" lIns="0" tIns="0" rIns="0" bIns="0" rtlCol="0" anchor="ctr"/>
          <a:lstStyle/>
          <a:p>
            <a:pPr marL="0" indent="0" algn="ctr">
              <a:lnSpc>
                <a:spcPct val="120000"/>
              </a:lnSpc>
              <a:buNone/>
            </a:pPr>
            <a:r>
              <a:rPr lang="en-US" sz="850" dirty="0">
                <a:solidFill>
                  <a:srgbClr val="94A3B8"/>
                </a:solidFill>
              </a:rPr>
              <a:t>Year-aware re-ranking removes stale data</a:t>
            </a:r>
            <a:endParaRPr lang="en-US" sz="850" dirty="0"/>
          </a:p>
        </p:txBody>
      </p:sp>
      <p:sp>
        <p:nvSpPr>
          <p:cNvPr id="39" name="Shape 37"/>
          <p:cNvSpPr/>
          <p:nvPr/>
        </p:nvSpPr>
        <p:spPr>
          <a:xfrm>
            <a:off x="1965960" y="3364992"/>
            <a:ext cx="576072" cy="0"/>
          </a:xfrm>
          <a:prstGeom prst="line">
            <a:avLst/>
          </a:prstGeom>
          <a:noFill/>
          <a:ln w="19050">
            <a:solidFill>
              <a:srgbClr val="94A3B8"/>
            </a:solidFill>
            <a:prstDash val="solid"/>
          </a:ln>
        </p:spPr>
      </p:sp>
      <p:sp>
        <p:nvSpPr>
          <p:cNvPr id="40" name="Shape 38"/>
          <p:cNvSpPr/>
          <p:nvPr/>
        </p:nvSpPr>
        <p:spPr>
          <a:xfrm>
            <a:off x="2542032" y="2743200"/>
            <a:ext cx="1600200" cy="1234440"/>
          </a:xfrm>
          <a:prstGeom prst="roundRect">
            <a:avLst>
              <a:gd name="adj" fmla="val 7407"/>
            </a:avLst>
          </a:prstGeom>
          <a:solidFill>
            <a:srgbClr val="162032"/>
          </a:solidFill>
          <a:ln/>
          <a:effectLst>
            <a:outerShdw blurRad="101600" dist="38100" dir="2700000" algn="bl" rotWithShape="0">
              <a:srgbClr val="000000">
                <a:alpha val="18000"/>
              </a:srgbClr>
            </a:outerShdw>
          </a:effectLst>
        </p:spPr>
      </p:sp>
      <p:sp>
        <p:nvSpPr>
          <p:cNvPr id="41" name="Shape 39"/>
          <p:cNvSpPr/>
          <p:nvPr/>
        </p:nvSpPr>
        <p:spPr>
          <a:xfrm>
            <a:off x="3136392" y="2852928"/>
            <a:ext cx="384048" cy="384048"/>
          </a:xfrm>
          <a:prstGeom prst="ellipse">
            <a:avLst/>
          </a:prstGeom>
          <a:solidFill>
            <a:srgbClr val="059669"/>
          </a:solidFill>
          <a:ln/>
        </p:spPr>
      </p:sp>
      <p:sp>
        <p:nvSpPr>
          <p:cNvPr id="42" name="Text 40"/>
          <p:cNvSpPr/>
          <p:nvPr/>
        </p:nvSpPr>
        <p:spPr>
          <a:xfrm>
            <a:off x="3136392" y="2852928"/>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rPr>
              <a:t>7</a:t>
            </a:r>
            <a:endParaRPr lang="en-US" sz="1400" dirty="0"/>
          </a:p>
        </p:txBody>
      </p:sp>
      <p:sp>
        <p:nvSpPr>
          <p:cNvPr id="43" name="Text 41"/>
          <p:cNvSpPr/>
          <p:nvPr/>
        </p:nvSpPr>
        <p:spPr>
          <a:xfrm>
            <a:off x="2633472" y="3291840"/>
            <a:ext cx="1417320" cy="256032"/>
          </a:xfrm>
          <a:prstGeom prst="rect">
            <a:avLst/>
          </a:prstGeom>
          <a:noFill/>
          <a:ln/>
        </p:spPr>
        <p:txBody>
          <a:bodyPr wrap="square" lIns="0" tIns="0" rIns="0" bIns="0" rtlCol="0" anchor="ctr"/>
          <a:lstStyle/>
          <a:p>
            <a:pPr marL="0" indent="0" algn="ctr">
              <a:buNone/>
            </a:pPr>
            <a:r>
              <a:rPr lang="en-US" sz="1000" b="1" dirty="0">
                <a:solidFill>
                  <a:srgbClr val="FFFFFF"/>
                </a:solidFill>
              </a:rPr>
              <a:t>LLM Call</a:t>
            </a:r>
            <a:endParaRPr lang="en-US" sz="1000" dirty="0"/>
          </a:p>
        </p:txBody>
      </p:sp>
      <p:sp>
        <p:nvSpPr>
          <p:cNvPr id="44" name="Text 42"/>
          <p:cNvSpPr/>
          <p:nvPr/>
        </p:nvSpPr>
        <p:spPr>
          <a:xfrm>
            <a:off x="2633472" y="3566160"/>
            <a:ext cx="1417320" cy="347472"/>
          </a:xfrm>
          <a:prstGeom prst="rect">
            <a:avLst/>
          </a:prstGeom>
          <a:noFill/>
          <a:ln/>
        </p:spPr>
        <p:txBody>
          <a:bodyPr wrap="square" lIns="0" tIns="0" rIns="0" bIns="0" rtlCol="0" anchor="ctr"/>
          <a:lstStyle/>
          <a:p>
            <a:pPr marL="0" indent="0" algn="ctr">
              <a:lnSpc>
                <a:spcPct val="120000"/>
              </a:lnSpc>
              <a:buNone/>
            </a:pPr>
            <a:r>
              <a:rPr lang="en-US" sz="850" dirty="0">
                <a:solidFill>
                  <a:srgbClr val="94A3B8"/>
                </a:solidFill>
              </a:rPr>
              <a:t>OpenAI → Groq → Gemini fallback chain</a:t>
            </a:r>
            <a:endParaRPr lang="en-US" sz="850" dirty="0"/>
          </a:p>
        </p:txBody>
      </p:sp>
      <p:sp>
        <p:nvSpPr>
          <p:cNvPr id="45" name="Shape 43"/>
          <p:cNvSpPr/>
          <p:nvPr/>
        </p:nvSpPr>
        <p:spPr>
          <a:xfrm>
            <a:off x="4142232" y="3364992"/>
            <a:ext cx="576072" cy="0"/>
          </a:xfrm>
          <a:prstGeom prst="line">
            <a:avLst/>
          </a:prstGeom>
          <a:noFill/>
          <a:ln w="19050">
            <a:solidFill>
              <a:srgbClr val="94A3B8"/>
            </a:solidFill>
            <a:prstDash val="solid"/>
          </a:ln>
        </p:spPr>
      </p:sp>
      <p:sp>
        <p:nvSpPr>
          <p:cNvPr id="46" name="Shape 44"/>
          <p:cNvSpPr/>
          <p:nvPr/>
        </p:nvSpPr>
        <p:spPr>
          <a:xfrm>
            <a:off x="4718304" y="2743200"/>
            <a:ext cx="1600200" cy="1234440"/>
          </a:xfrm>
          <a:prstGeom prst="roundRect">
            <a:avLst>
              <a:gd name="adj" fmla="val 7407"/>
            </a:avLst>
          </a:prstGeom>
          <a:solidFill>
            <a:srgbClr val="162032"/>
          </a:solidFill>
          <a:ln/>
          <a:effectLst>
            <a:outerShdw blurRad="101600" dist="38100" dir="2700000" algn="bl" rotWithShape="0">
              <a:srgbClr val="000000">
                <a:alpha val="18000"/>
              </a:srgbClr>
            </a:outerShdw>
          </a:effectLst>
        </p:spPr>
      </p:sp>
      <p:sp>
        <p:nvSpPr>
          <p:cNvPr id="47" name="Shape 45"/>
          <p:cNvSpPr/>
          <p:nvPr/>
        </p:nvSpPr>
        <p:spPr>
          <a:xfrm>
            <a:off x="5312664" y="2852928"/>
            <a:ext cx="384048" cy="384048"/>
          </a:xfrm>
          <a:prstGeom prst="ellipse">
            <a:avLst/>
          </a:prstGeom>
          <a:solidFill>
            <a:srgbClr val="D97706"/>
          </a:solidFill>
          <a:ln/>
        </p:spPr>
      </p:sp>
      <p:sp>
        <p:nvSpPr>
          <p:cNvPr id="48" name="Text 46"/>
          <p:cNvSpPr/>
          <p:nvPr/>
        </p:nvSpPr>
        <p:spPr>
          <a:xfrm>
            <a:off x="5312664" y="2852928"/>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rPr>
              <a:t>8</a:t>
            </a:r>
            <a:endParaRPr lang="en-US" sz="1400" dirty="0"/>
          </a:p>
        </p:txBody>
      </p:sp>
      <p:sp>
        <p:nvSpPr>
          <p:cNvPr id="49" name="Text 47"/>
          <p:cNvSpPr/>
          <p:nvPr/>
        </p:nvSpPr>
        <p:spPr>
          <a:xfrm>
            <a:off x="4809744" y="3291840"/>
            <a:ext cx="1417320" cy="256032"/>
          </a:xfrm>
          <a:prstGeom prst="rect">
            <a:avLst/>
          </a:prstGeom>
          <a:noFill/>
          <a:ln/>
        </p:spPr>
        <p:txBody>
          <a:bodyPr wrap="square" lIns="0" tIns="0" rIns="0" bIns="0" rtlCol="0" anchor="ctr"/>
          <a:lstStyle/>
          <a:p>
            <a:pPr marL="0" indent="0" algn="ctr">
              <a:buNone/>
            </a:pPr>
            <a:r>
              <a:rPr lang="en-US" sz="1000" b="1" dirty="0">
                <a:solidFill>
                  <a:srgbClr val="FFFFFF"/>
                </a:solidFill>
              </a:rPr>
              <a:t>Validate</a:t>
            </a:r>
            <a:endParaRPr lang="en-US" sz="1000" dirty="0"/>
          </a:p>
        </p:txBody>
      </p:sp>
      <p:sp>
        <p:nvSpPr>
          <p:cNvPr id="50" name="Text 48"/>
          <p:cNvSpPr/>
          <p:nvPr/>
        </p:nvSpPr>
        <p:spPr>
          <a:xfrm>
            <a:off x="4809744" y="3566160"/>
            <a:ext cx="1417320" cy="347472"/>
          </a:xfrm>
          <a:prstGeom prst="rect">
            <a:avLst/>
          </a:prstGeom>
          <a:noFill/>
          <a:ln/>
        </p:spPr>
        <p:txBody>
          <a:bodyPr wrap="square" lIns="0" tIns="0" rIns="0" bIns="0" rtlCol="0" anchor="ctr"/>
          <a:lstStyle/>
          <a:p>
            <a:pPr marL="0" indent="0" algn="ctr">
              <a:lnSpc>
                <a:spcPct val="120000"/>
              </a:lnSpc>
              <a:buNone/>
            </a:pPr>
            <a:r>
              <a:rPr lang="en-US" sz="850" dirty="0">
                <a:solidFill>
                  <a:srgbClr val="94A3B8"/>
                </a:solidFill>
              </a:rPr>
              <a:t>DeepEval + RAGAS hallucination check</a:t>
            </a:r>
            <a:endParaRPr lang="en-US" sz="850" dirty="0"/>
          </a:p>
        </p:txBody>
      </p:sp>
      <p:sp>
        <p:nvSpPr>
          <p:cNvPr id="51" name="Shape 49"/>
          <p:cNvSpPr/>
          <p:nvPr/>
        </p:nvSpPr>
        <p:spPr>
          <a:xfrm>
            <a:off x="6318504" y="3364992"/>
            <a:ext cx="576072" cy="0"/>
          </a:xfrm>
          <a:prstGeom prst="line">
            <a:avLst/>
          </a:prstGeom>
          <a:noFill/>
          <a:ln w="19050">
            <a:solidFill>
              <a:srgbClr val="94A3B8"/>
            </a:solidFill>
            <a:prstDash val="solid"/>
          </a:ln>
        </p:spPr>
      </p:sp>
      <p:sp>
        <p:nvSpPr>
          <p:cNvPr id="52" name="Shape 50"/>
          <p:cNvSpPr/>
          <p:nvPr/>
        </p:nvSpPr>
        <p:spPr>
          <a:xfrm>
            <a:off x="6894576" y="2743200"/>
            <a:ext cx="1600200" cy="1234440"/>
          </a:xfrm>
          <a:prstGeom prst="roundRect">
            <a:avLst>
              <a:gd name="adj" fmla="val 7407"/>
            </a:avLst>
          </a:prstGeom>
          <a:solidFill>
            <a:srgbClr val="162032"/>
          </a:solidFill>
          <a:ln/>
          <a:effectLst>
            <a:outerShdw blurRad="101600" dist="38100" dir="2700000" algn="bl" rotWithShape="0">
              <a:srgbClr val="000000">
                <a:alpha val="18000"/>
              </a:srgbClr>
            </a:outerShdw>
          </a:effectLst>
        </p:spPr>
      </p:sp>
      <p:sp>
        <p:nvSpPr>
          <p:cNvPr id="53" name="Shape 51"/>
          <p:cNvSpPr/>
          <p:nvPr/>
        </p:nvSpPr>
        <p:spPr>
          <a:xfrm>
            <a:off x="7488936" y="2852928"/>
            <a:ext cx="384048" cy="384048"/>
          </a:xfrm>
          <a:prstGeom prst="ellipse">
            <a:avLst/>
          </a:prstGeom>
          <a:solidFill>
            <a:srgbClr val="2563EB"/>
          </a:solidFill>
          <a:ln/>
        </p:spPr>
      </p:sp>
      <p:sp>
        <p:nvSpPr>
          <p:cNvPr id="54" name="Text 52"/>
          <p:cNvSpPr/>
          <p:nvPr/>
        </p:nvSpPr>
        <p:spPr>
          <a:xfrm>
            <a:off x="7488936" y="2852928"/>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rPr>
              <a:t>9</a:t>
            </a:r>
            <a:endParaRPr lang="en-US" sz="1400" dirty="0"/>
          </a:p>
        </p:txBody>
      </p:sp>
      <p:sp>
        <p:nvSpPr>
          <p:cNvPr id="55" name="Text 53"/>
          <p:cNvSpPr/>
          <p:nvPr/>
        </p:nvSpPr>
        <p:spPr>
          <a:xfrm>
            <a:off x="6986016" y="3291840"/>
            <a:ext cx="1417320" cy="256032"/>
          </a:xfrm>
          <a:prstGeom prst="rect">
            <a:avLst/>
          </a:prstGeom>
          <a:noFill/>
          <a:ln/>
        </p:spPr>
        <p:txBody>
          <a:bodyPr wrap="square" lIns="0" tIns="0" rIns="0" bIns="0" rtlCol="0" anchor="ctr"/>
          <a:lstStyle/>
          <a:p>
            <a:pPr marL="0" indent="0" algn="ctr">
              <a:buNone/>
            </a:pPr>
            <a:r>
              <a:rPr lang="en-US" sz="1000" b="1" dirty="0">
                <a:solidFill>
                  <a:srgbClr val="FFFFFF"/>
                </a:solidFill>
              </a:rPr>
              <a:t>Display</a:t>
            </a:r>
            <a:endParaRPr lang="en-US" sz="1000" dirty="0"/>
          </a:p>
        </p:txBody>
      </p:sp>
      <p:sp>
        <p:nvSpPr>
          <p:cNvPr id="56" name="Text 54"/>
          <p:cNvSpPr/>
          <p:nvPr/>
        </p:nvSpPr>
        <p:spPr>
          <a:xfrm>
            <a:off x="6986016" y="3566160"/>
            <a:ext cx="1417320" cy="347472"/>
          </a:xfrm>
          <a:prstGeom prst="rect">
            <a:avLst/>
          </a:prstGeom>
          <a:noFill/>
          <a:ln/>
        </p:spPr>
        <p:txBody>
          <a:bodyPr wrap="square" lIns="0" tIns="0" rIns="0" bIns="0" rtlCol="0" anchor="ctr"/>
          <a:lstStyle/>
          <a:p>
            <a:pPr marL="0" indent="0" algn="ctr">
              <a:lnSpc>
                <a:spcPct val="120000"/>
              </a:lnSpc>
              <a:buNone/>
            </a:pPr>
            <a:r>
              <a:rPr lang="en-US" sz="850" dirty="0">
                <a:solidFill>
                  <a:srgbClr val="94A3B8"/>
                </a:solidFill>
              </a:rPr>
              <a:t>Risk score, recommendations, chat answer</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F1B2D"/>
        </a:solidFill>
        <a:effectLst/>
      </p:bgPr>
    </p:bg>
    <p:spTree>
      <p:nvGrpSpPr>
        <p:cNvPr id="1" name=""/>
        <p:cNvGrpSpPr/>
        <p:nvPr/>
      </p:nvGrpSpPr>
      <p:grpSpPr>
        <a:xfrm>
          <a:off x="0" y="0"/>
          <a:ext cx="0" cy="0"/>
          <a:chOff x="0" y="0"/>
          <a:chExt cx="0" cy="0"/>
        </a:xfrm>
      </p:grpSpPr>
      <p:sp>
        <p:nvSpPr>
          <p:cNvPr id="101" name="Badge"/>
          <p:cNvSpPr/>
          <p:nvPr/>
        </p:nvSpPr>
        <p:spPr>
          <a:xfrm>
            <a:off x="457200" y="274320"/>
            <a:ext cx="1350000" cy="256032"/>
          </a:xfrm>
          <a:prstGeom prst="roundRect">
            <a:avLst>
              <a:gd name="adj" fmla="val 50000"/>
            </a:avLst>
          </a:prstGeom>
          <a:solidFill>
            <a:srgbClr val="059669">
              <a:alpha val="25000"/>
            </a:srgbClr>
          </a:solidFill>
          <a:ln/>
        </p:spPr>
      </p:sp>
      <p:sp>
        <p:nvSpPr>
          <p:cNvPr id="102" name="BadgeText"/>
          <p:cNvSpPr/>
          <p:nvPr/>
        </p:nvSpPr>
        <p:spPr>
          <a:xfrm>
            <a:off x="457200" y="274320"/>
            <a:ext cx="1350000" cy="25603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0" cap="none" spc="150" normalizeH="0" baseline="0" noProof="0" dirty="0">
                <a:ln>
                  <a:noFill/>
                </a:ln>
                <a:solidFill>
                  <a:srgbClr val="059669"/>
                </a:solidFill>
                <a:effectLst/>
                <a:uLnTx/>
                <a:uFillTx/>
                <a:latin typeface="Calibri" panose="020F0502020204030204"/>
                <a:ea typeface="+mn-ea"/>
                <a:cs typeface="+mn-cs"/>
              </a:rPr>
              <a:t>AI QUALITY</a:t>
            </a:r>
          </a:p>
        </p:txBody>
      </p:sp>
      <p:sp>
        <p:nvSpPr>
          <p:cNvPr id="103" name="Title"/>
          <p:cNvSpPr/>
          <p:nvPr/>
        </p:nvSpPr>
        <p:spPr>
          <a:xfrm>
            <a:off x="457200" y="590000"/>
            <a:ext cx="8229600" cy="4600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FFFF"/>
                </a:solidFill>
                <a:effectLst/>
                <a:uLnTx/>
                <a:uFillTx/>
                <a:latin typeface="Cambria" pitchFamily="34" charset="0"/>
                <a:ea typeface="+mn-ea"/>
                <a:cs typeface="+mn-cs"/>
              </a:rPr>
              <a:t>Evaluation &amp; Testing Coverage</a:t>
            </a:r>
          </a:p>
        </p:txBody>
      </p:sp>
      <p:sp>
        <p:nvSpPr>
          <p:cNvPr id="104" name="Card"/>
          <p:cNvSpPr/>
          <p:nvPr/>
        </p:nvSpPr>
        <p:spPr>
          <a:xfrm>
            <a:off x="457200" y="1180000"/>
            <a:ext cx="3986800" cy="900000"/>
          </a:xfrm>
          <a:prstGeom prst="roundRect">
            <a:avLst>
              <a:gd name="adj" fmla="val 6000"/>
            </a:avLst>
          </a:prstGeom>
          <a:solidFill>
            <a:srgbClr val="162032"/>
          </a:solidFill>
          <a:ln/>
          <a:effectLst>
            <a:outerShdw blurRad="101600" dist="38100" dir="2700000" algn="bl" rotWithShape="0">
              <a:srgbClr val="000000">
                <a:alpha val="18000"/>
              </a:srgbClr>
            </a:outerShdw>
          </a:effectLst>
        </p:spPr>
      </p:sp>
      <p:sp>
        <p:nvSpPr>
          <p:cNvPr id="105" name="Text"/>
          <p:cNvSpPr/>
          <p:nvPr/>
        </p:nvSpPr>
        <p:spPr>
          <a:xfrm>
            <a:off x="717200" y="1290000"/>
            <a:ext cx="3486800" cy="2400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FFFFFF"/>
                </a:solidFill>
                <a:effectLst/>
                <a:uLnTx/>
                <a:uFillTx/>
                <a:latin typeface="Calibri" panose="020F0502020204030204"/>
                <a:ea typeface="+mn-ea"/>
                <a:cs typeface="+mn-cs"/>
              </a:rPr>
              <a:t>DeepEval — Hallucination Detection</a:t>
            </a:r>
          </a:p>
        </p:txBody>
      </p:sp>
      <p:sp>
        <p:nvSpPr>
          <p:cNvPr id="106" name="Text"/>
          <p:cNvSpPr/>
          <p:nvPr/>
        </p:nvSpPr>
        <p:spPr>
          <a:xfrm>
            <a:off x="717200" y="1540000"/>
            <a:ext cx="900000" cy="4600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059669"/>
                </a:solidFill>
                <a:effectLst/>
                <a:uLnTx/>
                <a:uFillTx/>
                <a:latin typeface="Calibri" panose="020F0502020204030204"/>
                <a:ea typeface="+mn-ea"/>
                <a:cs typeface="+mn-cs"/>
              </a:rPr>
              <a:t>0.22</a:t>
            </a:r>
          </a:p>
        </p:txBody>
      </p:sp>
      <p:sp>
        <p:nvSpPr>
          <p:cNvPr id="107" name="Text"/>
          <p:cNvSpPr/>
          <p:nvPr/>
        </p:nvSpPr>
        <p:spPr>
          <a:xfrm>
            <a:off x="1357200" y="1650000"/>
            <a:ext cx="2836800" cy="3000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94A3B8"/>
                </a:solidFill>
                <a:effectLst/>
                <a:uLnTx/>
                <a:uFillTx/>
                <a:latin typeface="Calibri" panose="020F0502020204030204"/>
                <a:ea typeface="+mn-ea"/>
                <a:cs typeface="+mn-cs"/>
              </a:rPr>
              <a:t>avg. score, bad profile (under 0.5 = pass)</a:t>
            </a:r>
          </a:p>
        </p:txBody>
      </p:sp>
      <p:sp>
        <p:nvSpPr>
          <p:cNvPr id="108" name="Card"/>
          <p:cNvSpPr/>
          <p:nvPr/>
        </p:nvSpPr>
        <p:spPr>
          <a:xfrm>
            <a:off x="4686300" y="1180000"/>
            <a:ext cx="3986800" cy="900000"/>
          </a:xfrm>
          <a:prstGeom prst="roundRect">
            <a:avLst>
              <a:gd name="adj" fmla="val 6000"/>
            </a:avLst>
          </a:prstGeom>
          <a:solidFill>
            <a:srgbClr val="162032"/>
          </a:solidFill>
          <a:ln/>
          <a:effectLst>
            <a:outerShdw blurRad="101600" dist="38100" dir="2700000" algn="bl" rotWithShape="0">
              <a:srgbClr val="000000">
                <a:alpha val="18000"/>
              </a:srgbClr>
            </a:outerShdw>
          </a:effectLst>
        </p:spPr>
      </p:sp>
      <p:sp>
        <p:nvSpPr>
          <p:cNvPr id="109" name="Text"/>
          <p:cNvSpPr/>
          <p:nvPr/>
        </p:nvSpPr>
        <p:spPr>
          <a:xfrm>
            <a:off x="4946300" y="1290000"/>
            <a:ext cx="3486800" cy="2400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rgbClr val="FFFFFF"/>
                </a:solidFill>
                <a:effectLst/>
                <a:uLnTx/>
                <a:uFillTx/>
                <a:latin typeface="Calibri" panose="020F0502020204030204"/>
                <a:ea typeface="+mn-ea"/>
                <a:cs typeface="+mn-cs"/>
              </a:rPr>
              <a:t>RAGAS — Faithfulness &amp; Relevancy</a:t>
            </a:r>
          </a:p>
        </p:txBody>
      </p:sp>
      <p:sp>
        <p:nvSpPr>
          <p:cNvPr id="110" name="Text"/>
          <p:cNvSpPr/>
          <p:nvPr/>
        </p:nvSpPr>
        <p:spPr>
          <a:xfrm>
            <a:off x="4946300" y="1540000"/>
            <a:ext cx="900000" cy="4600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0891B2"/>
                </a:solidFill>
                <a:effectLst/>
                <a:uLnTx/>
                <a:uFillTx/>
                <a:latin typeface="Calibri" panose="020F0502020204030204"/>
                <a:ea typeface="+mn-ea"/>
                <a:cs typeface="+mn-cs"/>
              </a:rPr>
              <a:t>0.88</a:t>
            </a:r>
          </a:p>
        </p:txBody>
      </p:sp>
      <p:sp>
        <p:nvSpPr>
          <p:cNvPr id="111" name="Text"/>
          <p:cNvSpPr/>
          <p:nvPr/>
        </p:nvSpPr>
        <p:spPr>
          <a:xfrm>
            <a:off x="5586300" y="1650000"/>
            <a:ext cx="2836800" cy="3000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94A3B8"/>
                </a:solidFill>
                <a:effectLst/>
                <a:uLnTx/>
                <a:uFillTx/>
                <a:latin typeface="Calibri" panose="020F0502020204030204"/>
                <a:ea typeface="+mn-ea"/>
                <a:cs typeface="+mn-cs"/>
              </a:rPr>
              <a:t>avg. faithfulness score</a:t>
            </a:r>
          </a:p>
        </p:txBody>
      </p:sp>
      <p:sp>
        <p:nvSpPr>
          <p:cNvPr id="112" name="Text"/>
          <p:cNvSpPr/>
          <p:nvPr/>
        </p:nvSpPr>
        <p:spPr>
          <a:xfrm>
            <a:off x="457200" y="2210000"/>
            <a:ext cx="8229600" cy="2200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dirty="0">
                <a:ln>
                  <a:noFill/>
                </a:ln>
                <a:solidFill>
                  <a:srgbClr val="FFFFFF"/>
                </a:solidFill>
                <a:effectLst/>
                <a:uLnTx/>
                <a:uFillTx/>
                <a:latin typeface="Calibri" panose="020F0502020204030204"/>
                <a:ea typeface="+mn-ea"/>
                <a:cs typeface="+mn-cs"/>
              </a:rPr>
              <a:t>96 Unit Tests — Every Module Covered</a:t>
            </a:r>
          </a:p>
        </p:txBody>
      </p:sp>
      <p:sp>
        <p:nvSpPr>
          <p:cNvPr id="113" name="Card"/>
          <p:cNvSpPr/>
          <p:nvPr/>
        </p:nvSpPr>
        <p:spPr>
          <a:xfrm>
            <a:off x="457200" y="2490000"/>
            <a:ext cx="1976700" cy="480000"/>
          </a:xfrm>
          <a:prstGeom prst="roundRect">
            <a:avLst>
              <a:gd name="adj" fmla="val 9000"/>
            </a:avLst>
          </a:prstGeom>
          <a:solidFill>
            <a:srgbClr val="162032"/>
          </a:solidFill>
          <a:ln/>
          <a:effectLst>
            <a:outerShdw blurRad="101600" dist="38100" dir="2700000" algn="bl" rotWithShape="0">
              <a:srgbClr val="000000">
                <a:alpha val="18000"/>
              </a:srgbClr>
            </a:outerShdw>
          </a:effectLst>
        </p:spPr>
      </p:sp>
      <p:sp>
        <p:nvSpPr>
          <p:cNvPr id="114" name="Text"/>
          <p:cNvSpPr/>
          <p:nvPr/>
        </p:nvSpPr>
        <p:spPr>
          <a:xfrm>
            <a:off x="567200" y="2550000"/>
            <a:ext cx="420000" cy="3600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059669"/>
                </a:solidFill>
                <a:effectLst/>
                <a:uLnTx/>
                <a:uFillTx/>
                <a:latin typeface="Calibri" panose="020F0502020204030204"/>
                <a:ea typeface="+mn-ea"/>
                <a:cs typeface="+mn-cs"/>
              </a:rPr>
              <a:t>13</a:t>
            </a:r>
          </a:p>
        </p:txBody>
      </p:sp>
      <p:sp>
        <p:nvSpPr>
          <p:cNvPr id="115" name="Text"/>
          <p:cNvSpPr/>
          <p:nvPr/>
        </p:nvSpPr>
        <p:spPr>
          <a:xfrm>
            <a:off x="1017200" y="2490000"/>
            <a:ext cx="1376700" cy="4800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E2E8F0"/>
                </a:solidFill>
                <a:effectLst/>
                <a:uLnTx/>
                <a:uFillTx/>
                <a:latin typeface="Calibri" panose="020F0502020204030204"/>
                <a:ea typeface="+mn-ea"/>
                <a:cs typeface="+mn-cs"/>
              </a:rPr>
              <a:t>test_auth.py</a:t>
            </a:r>
          </a:p>
        </p:txBody>
      </p:sp>
      <p:sp>
        <p:nvSpPr>
          <p:cNvPr id="116" name="Card"/>
          <p:cNvSpPr/>
          <p:nvPr/>
        </p:nvSpPr>
        <p:spPr>
          <a:xfrm>
            <a:off x="2454100" y="2490000"/>
            <a:ext cx="1976700" cy="480000"/>
          </a:xfrm>
          <a:prstGeom prst="roundRect">
            <a:avLst>
              <a:gd name="adj" fmla="val 9000"/>
            </a:avLst>
          </a:prstGeom>
          <a:solidFill>
            <a:srgbClr val="162032"/>
          </a:solidFill>
          <a:ln/>
          <a:effectLst>
            <a:outerShdw blurRad="101600" dist="38100" dir="2700000" algn="bl" rotWithShape="0">
              <a:srgbClr val="000000">
                <a:alpha val="18000"/>
              </a:srgbClr>
            </a:outerShdw>
          </a:effectLst>
        </p:spPr>
      </p:sp>
      <p:sp>
        <p:nvSpPr>
          <p:cNvPr id="117" name="Text"/>
          <p:cNvSpPr/>
          <p:nvPr/>
        </p:nvSpPr>
        <p:spPr>
          <a:xfrm>
            <a:off x="2564100" y="2550000"/>
            <a:ext cx="420000" cy="3600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059669"/>
                </a:solidFill>
                <a:effectLst/>
                <a:uLnTx/>
                <a:uFillTx/>
                <a:latin typeface="Calibri" panose="020F0502020204030204"/>
                <a:ea typeface="+mn-ea"/>
                <a:cs typeface="+mn-cs"/>
              </a:rPr>
              <a:t>16</a:t>
            </a:r>
          </a:p>
        </p:txBody>
      </p:sp>
      <p:sp>
        <p:nvSpPr>
          <p:cNvPr id="118" name="Text"/>
          <p:cNvSpPr/>
          <p:nvPr/>
        </p:nvSpPr>
        <p:spPr>
          <a:xfrm>
            <a:off x="3014100" y="2490000"/>
            <a:ext cx="1376700" cy="4800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E2E8F0"/>
                </a:solidFill>
                <a:effectLst/>
                <a:uLnTx/>
                <a:uFillTx/>
                <a:latin typeface="Calibri" panose="020F0502020204030204"/>
                <a:ea typeface="+mn-ea"/>
                <a:cs typeface="+mn-cs"/>
              </a:rPr>
              <a:t>test_loan_workflow.py</a:t>
            </a:r>
          </a:p>
        </p:txBody>
      </p:sp>
      <p:sp>
        <p:nvSpPr>
          <p:cNvPr id="119" name="Card"/>
          <p:cNvSpPr/>
          <p:nvPr/>
        </p:nvSpPr>
        <p:spPr>
          <a:xfrm>
            <a:off x="4451000" y="2490000"/>
            <a:ext cx="1976700" cy="480000"/>
          </a:xfrm>
          <a:prstGeom prst="roundRect">
            <a:avLst>
              <a:gd name="adj" fmla="val 9000"/>
            </a:avLst>
          </a:prstGeom>
          <a:solidFill>
            <a:srgbClr val="162032"/>
          </a:solidFill>
          <a:ln/>
          <a:effectLst>
            <a:outerShdw blurRad="101600" dist="38100" dir="2700000" algn="bl" rotWithShape="0">
              <a:srgbClr val="000000">
                <a:alpha val="18000"/>
              </a:srgbClr>
            </a:outerShdw>
          </a:effectLst>
        </p:spPr>
      </p:sp>
      <p:sp>
        <p:nvSpPr>
          <p:cNvPr id="120" name="Text"/>
          <p:cNvSpPr/>
          <p:nvPr/>
        </p:nvSpPr>
        <p:spPr>
          <a:xfrm>
            <a:off x="4561000" y="2550000"/>
            <a:ext cx="420000" cy="3600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059669"/>
                </a:solidFill>
                <a:effectLst/>
                <a:uLnTx/>
                <a:uFillTx/>
                <a:latin typeface="Calibri" panose="020F0502020204030204"/>
                <a:ea typeface="+mn-ea"/>
                <a:cs typeface="+mn-cs"/>
              </a:rPr>
              <a:t>19</a:t>
            </a:r>
          </a:p>
        </p:txBody>
      </p:sp>
      <p:sp>
        <p:nvSpPr>
          <p:cNvPr id="121" name="Text"/>
          <p:cNvSpPr/>
          <p:nvPr/>
        </p:nvSpPr>
        <p:spPr>
          <a:xfrm>
            <a:off x="5011000" y="2490000"/>
            <a:ext cx="1376700" cy="4800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E2E8F0"/>
                </a:solidFill>
                <a:effectLst/>
                <a:uLnTx/>
                <a:uFillTx/>
                <a:latin typeface="Calibri" panose="020F0502020204030204"/>
                <a:ea typeface="+mn-ea"/>
                <a:cs typeface="+mn-cs"/>
              </a:rPr>
              <a:t>test_entity_aware_fixes.py</a:t>
            </a:r>
          </a:p>
        </p:txBody>
      </p:sp>
      <p:sp>
        <p:nvSpPr>
          <p:cNvPr id="122" name="Card"/>
          <p:cNvSpPr/>
          <p:nvPr/>
        </p:nvSpPr>
        <p:spPr>
          <a:xfrm>
            <a:off x="6447900" y="2490000"/>
            <a:ext cx="1976700" cy="480000"/>
          </a:xfrm>
          <a:prstGeom prst="roundRect">
            <a:avLst>
              <a:gd name="adj" fmla="val 9000"/>
            </a:avLst>
          </a:prstGeom>
          <a:solidFill>
            <a:srgbClr val="162032"/>
          </a:solidFill>
          <a:ln/>
          <a:effectLst>
            <a:outerShdw blurRad="101600" dist="38100" dir="2700000" algn="bl" rotWithShape="0">
              <a:srgbClr val="000000">
                <a:alpha val="18000"/>
              </a:srgbClr>
            </a:outerShdw>
          </a:effectLst>
        </p:spPr>
      </p:sp>
      <p:sp>
        <p:nvSpPr>
          <p:cNvPr id="123" name="Text"/>
          <p:cNvSpPr/>
          <p:nvPr/>
        </p:nvSpPr>
        <p:spPr>
          <a:xfrm>
            <a:off x="6557900" y="2550000"/>
            <a:ext cx="420000" cy="3600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059669"/>
                </a:solidFill>
                <a:effectLst/>
                <a:uLnTx/>
                <a:uFillTx/>
                <a:latin typeface="Calibri" panose="020F0502020204030204"/>
                <a:ea typeface="+mn-ea"/>
                <a:cs typeface="+mn-cs"/>
              </a:rPr>
              <a:t>14</a:t>
            </a:r>
          </a:p>
        </p:txBody>
      </p:sp>
      <p:sp>
        <p:nvSpPr>
          <p:cNvPr id="124" name="Text"/>
          <p:cNvSpPr/>
          <p:nvPr/>
        </p:nvSpPr>
        <p:spPr>
          <a:xfrm>
            <a:off x="7007900" y="2490000"/>
            <a:ext cx="1376700" cy="4800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E2E8F0"/>
                </a:solidFill>
                <a:effectLst/>
                <a:uLnTx/>
                <a:uFillTx/>
                <a:latin typeface="Calibri" panose="020F0502020204030204"/>
                <a:ea typeface="+mn-ea"/>
                <a:cs typeface="+mn-cs"/>
              </a:rPr>
              <a:t>test_reranker.py</a:t>
            </a:r>
          </a:p>
        </p:txBody>
      </p:sp>
      <p:sp>
        <p:nvSpPr>
          <p:cNvPr id="125" name="Card"/>
          <p:cNvSpPr/>
          <p:nvPr/>
        </p:nvSpPr>
        <p:spPr>
          <a:xfrm>
            <a:off x="457200" y="3010200"/>
            <a:ext cx="1976700" cy="480000"/>
          </a:xfrm>
          <a:prstGeom prst="roundRect">
            <a:avLst>
              <a:gd name="adj" fmla="val 9000"/>
            </a:avLst>
          </a:prstGeom>
          <a:solidFill>
            <a:srgbClr val="162032"/>
          </a:solidFill>
          <a:ln/>
          <a:effectLst>
            <a:outerShdw blurRad="101600" dist="38100" dir="2700000" algn="bl" rotWithShape="0">
              <a:srgbClr val="000000">
                <a:alpha val="18000"/>
              </a:srgbClr>
            </a:outerShdw>
          </a:effectLst>
        </p:spPr>
      </p:sp>
      <p:sp>
        <p:nvSpPr>
          <p:cNvPr id="126" name="Text"/>
          <p:cNvSpPr/>
          <p:nvPr/>
        </p:nvSpPr>
        <p:spPr>
          <a:xfrm>
            <a:off x="567200" y="3070200"/>
            <a:ext cx="420000" cy="3600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059669"/>
                </a:solidFill>
                <a:effectLst/>
                <a:uLnTx/>
                <a:uFillTx/>
                <a:latin typeface="Calibri" panose="020F0502020204030204"/>
                <a:ea typeface="+mn-ea"/>
                <a:cs typeface="+mn-cs"/>
              </a:rPr>
              <a:t>13</a:t>
            </a:r>
          </a:p>
        </p:txBody>
      </p:sp>
      <p:sp>
        <p:nvSpPr>
          <p:cNvPr id="127" name="Text"/>
          <p:cNvSpPr/>
          <p:nvPr/>
        </p:nvSpPr>
        <p:spPr>
          <a:xfrm>
            <a:off x="1017200" y="3010200"/>
            <a:ext cx="1376700" cy="4800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E2E8F0"/>
                </a:solidFill>
                <a:effectLst/>
                <a:uLnTx/>
                <a:uFillTx/>
                <a:latin typeface="Calibri" panose="020F0502020204030204"/>
                <a:ea typeface="+mn-ea"/>
                <a:cs typeface="+mn-cs"/>
              </a:rPr>
              <a:t>test_city_and_validator.py</a:t>
            </a:r>
          </a:p>
        </p:txBody>
      </p:sp>
      <p:sp>
        <p:nvSpPr>
          <p:cNvPr id="128" name="Card"/>
          <p:cNvSpPr/>
          <p:nvPr/>
        </p:nvSpPr>
        <p:spPr>
          <a:xfrm>
            <a:off x="2454100" y="3010200"/>
            <a:ext cx="1976700" cy="480000"/>
          </a:xfrm>
          <a:prstGeom prst="roundRect">
            <a:avLst>
              <a:gd name="adj" fmla="val 9000"/>
            </a:avLst>
          </a:prstGeom>
          <a:solidFill>
            <a:srgbClr val="162032"/>
          </a:solidFill>
          <a:ln/>
          <a:effectLst>
            <a:outerShdw blurRad="101600" dist="38100" dir="2700000" algn="bl" rotWithShape="0">
              <a:srgbClr val="000000">
                <a:alpha val="18000"/>
              </a:srgbClr>
            </a:outerShdw>
          </a:effectLst>
        </p:spPr>
      </p:sp>
      <p:sp>
        <p:nvSpPr>
          <p:cNvPr id="129" name="Text"/>
          <p:cNvSpPr/>
          <p:nvPr/>
        </p:nvSpPr>
        <p:spPr>
          <a:xfrm>
            <a:off x="2564100" y="3070200"/>
            <a:ext cx="420000" cy="3600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059669"/>
                </a:solidFill>
                <a:effectLst/>
                <a:uLnTx/>
                <a:uFillTx/>
                <a:latin typeface="Calibri" panose="020F0502020204030204"/>
                <a:ea typeface="+mn-ea"/>
                <a:cs typeface="+mn-cs"/>
              </a:rPr>
              <a:t>4</a:t>
            </a:r>
          </a:p>
        </p:txBody>
      </p:sp>
      <p:sp>
        <p:nvSpPr>
          <p:cNvPr id="130" name="Text"/>
          <p:cNvSpPr/>
          <p:nvPr/>
        </p:nvSpPr>
        <p:spPr>
          <a:xfrm>
            <a:off x="3014100" y="3010200"/>
            <a:ext cx="1376700" cy="4800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E2E8F0"/>
                </a:solidFill>
                <a:effectLst/>
                <a:uLnTx/>
                <a:uFillTx/>
                <a:latin typeface="Calibri" panose="020F0502020204030204"/>
                <a:ea typeface="+mn-ea"/>
                <a:cs typeface="+mn-cs"/>
              </a:rPr>
              <a:t>test_retirement_calc.py</a:t>
            </a:r>
          </a:p>
        </p:txBody>
      </p:sp>
      <p:sp>
        <p:nvSpPr>
          <p:cNvPr id="131" name="Card"/>
          <p:cNvSpPr/>
          <p:nvPr/>
        </p:nvSpPr>
        <p:spPr>
          <a:xfrm>
            <a:off x="4451000" y="3010200"/>
            <a:ext cx="1976700" cy="480000"/>
          </a:xfrm>
          <a:prstGeom prst="roundRect">
            <a:avLst>
              <a:gd name="adj" fmla="val 9000"/>
            </a:avLst>
          </a:prstGeom>
          <a:solidFill>
            <a:srgbClr val="162032"/>
          </a:solidFill>
          <a:ln/>
          <a:effectLst>
            <a:outerShdw blurRad="101600" dist="38100" dir="2700000" algn="bl" rotWithShape="0">
              <a:srgbClr val="000000">
                <a:alpha val="18000"/>
              </a:srgbClr>
            </a:outerShdw>
          </a:effectLst>
        </p:spPr>
      </p:sp>
      <p:sp>
        <p:nvSpPr>
          <p:cNvPr id="132" name="Text"/>
          <p:cNvSpPr/>
          <p:nvPr/>
        </p:nvSpPr>
        <p:spPr>
          <a:xfrm>
            <a:off x="4561000" y="3070200"/>
            <a:ext cx="420000" cy="3600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059669"/>
                </a:solidFill>
                <a:effectLst/>
                <a:uLnTx/>
                <a:uFillTx/>
                <a:latin typeface="Calibri" panose="020F0502020204030204"/>
                <a:ea typeface="+mn-ea"/>
                <a:cs typeface="+mn-cs"/>
              </a:rPr>
              <a:t>5</a:t>
            </a:r>
          </a:p>
        </p:txBody>
      </p:sp>
      <p:sp>
        <p:nvSpPr>
          <p:cNvPr id="133" name="Text"/>
          <p:cNvSpPr/>
          <p:nvPr/>
        </p:nvSpPr>
        <p:spPr>
          <a:xfrm>
            <a:off x="5011000" y="3010200"/>
            <a:ext cx="1376700" cy="4800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E2E8F0"/>
                </a:solidFill>
                <a:effectLst/>
                <a:uLnTx/>
                <a:uFillTx/>
                <a:latin typeface="Calibri" panose="020F0502020204030204"/>
                <a:ea typeface="+mn-ea"/>
                <a:cs typeface="+mn-cs"/>
              </a:rPr>
              <a:t>test_sampling.py</a:t>
            </a:r>
          </a:p>
        </p:txBody>
      </p:sp>
      <p:sp>
        <p:nvSpPr>
          <p:cNvPr id="134" name="Card"/>
          <p:cNvSpPr/>
          <p:nvPr/>
        </p:nvSpPr>
        <p:spPr>
          <a:xfrm>
            <a:off x="6447900" y="3010200"/>
            <a:ext cx="1976700" cy="480000"/>
          </a:xfrm>
          <a:prstGeom prst="roundRect">
            <a:avLst>
              <a:gd name="adj" fmla="val 9000"/>
            </a:avLst>
          </a:prstGeom>
          <a:solidFill>
            <a:srgbClr val="162032"/>
          </a:solidFill>
          <a:ln/>
          <a:effectLst>
            <a:outerShdw blurRad="101600" dist="38100" dir="2700000" algn="bl" rotWithShape="0">
              <a:srgbClr val="000000">
                <a:alpha val="18000"/>
              </a:srgbClr>
            </a:outerShdw>
          </a:effectLst>
        </p:spPr>
      </p:sp>
      <p:sp>
        <p:nvSpPr>
          <p:cNvPr id="135" name="Text"/>
          <p:cNvSpPr/>
          <p:nvPr/>
        </p:nvSpPr>
        <p:spPr>
          <a:xfrm>
            <a:off x="6557900" y="3070200"/>
            <a:ext cx="420000" cy="3600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059669"/>
                </a:solidFill>
                <a:effectLst/>
                <a:uLnTx/>
                <a:uFillTx/>
                <a:latin typeface="Calibri" panose="020F0502020204030204"/>
                <a:ea typeface="+mn-ea"/>
                <a:cs typeface="+mn-cs"/>
              </a:rPr>
              <a:t>6</a:t>
            </a:r>
          </a:p>
        </p:txBody>
      </p:sp>
      <p:sp>
        <p:nvSpPr>
          <p:cNvPr id="136" name="Text"/>
          <p:cNvSpPr/>
          <p:nvPr/>
        </p:nvSpPr>
        <p:spPr>
          <a:xfrm>
            <a:off x="7007900" y="3010200"/>
            <a:ext cx="1376700" cy="4800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E2E8F0"/>
                </a:solidFill>
                <a:effectLst/>
                <a:uLnTx/>
                <a:uFillTx/>
                <a:latin typeface="Calibri" panose="020F0502020204030204"/>
                <a:ea typeface="+mn-ea"/>
                <a:cs typeface="+mn-cs"/>
              </a:rPr>
              <a:t>test_schemas.py</a:t>
            </a:r>
          </a:p>
        </p:txBody>
      </p:sp>
      <p:sp>
        <p:nvSpPr>
          <p:cNvPr id="137" name="Text"/>
          <p:cNvSpPr/>
          <p:nvPr/>
        </p:nvSpPr>
        <p:spPr>
          <a:xfrm>
            <a:off x="457200" y="3620400"/>
            <a:ext cx="8229600" cy="2200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50" b="0" i="1" u="none" strike="noStrike" kern="1200" cap="none" spc="0" normalizeH="0" baseline="0" noProof="0" dirty="0">
                <a:ln>
                  <a:noFill/>
                </a:ln>
                <a:solidFill>
                  <a:srgbClr val="94A3B8"/>
                </a:solidFill>
                <a:effectLst/>
                <a:uLnTx/>
                <a:uFillTx/>
                <a:latin typeface="Calibri" panose="020F0502020204030204"/>
                <a:ea typeface="+mn-ea"/>
                <a:cs typeface="+mn-cs"/>
              </a:rPr>
              <a:t>All 96 tests run automatically in GitHub Actions on every push — in 6 seconds, no API keys required.</a:t>
            </a:r>
          </a:p>
        </p:txBody>
      </p:sp>
      <p:sp>
        <p:nvSpPr>
          <p:cNvPr id="138" name="TextBox 137"/>
          <p:cNvSpPr txBox="1"/>
          <p:nvPr/>
        </p:nvSpPr>
        <p:spPr>
          <a:xfrm>
            <a:off x="457200" y="3900000"/>
            <a:ext cx="8229600" cy="220000"/>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450" b="1" i="0" u="none" strike="noStrike" kern="1200" cap="none" spc="0" normalizeH="0" baseline="0" noProof="0">
                <a:ln>
                  <a:noFill/>
                </a:ln>
                <a:solidFill>
                  <a:srgbClr val="FFFFFF"/>
                </a:solidFill>
                <a:effectLst/>
                <a:uLnTx/>
                <a:uFillTx/>
                <a:latin typeface="Calibri" panose="020F0502020204030204"/>
                <a:ea typeface="+mn-ea"/>
                <a:cs typeface="+mn-cs"/>
              </a:rPr>
              <a:t>Load Testing — 20 Concurrent Users × 3 Questions Each</a:t>
            </a:r>
          </a:p>
        </p:txBody>
      </p:sp>
      <p:sp>
        <p:nvSpPr>
          <p:cNvPr id="139" name="Rounded Rectangle 138"/>
          <p:cNvSpPr/>
          <p:nvPr/>
        </p:nvSpPr>
        <p:spPr>
          <a:xfrm>
            <a:off x="457200" y="4150000"/>
            <a:ext cx="1976700" cy="480000"/>
          </a:xfrm>
          <a:prstGeom prst="roundRect">
            <a:avLst>
              <a:gd name="adj" fmla="val 9000"/>
            </a:avLst>
          </a:prstGeom>
          <a:solidFill>
            <a:srgbClr val="1620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0" name="TextBox 139"/>
          <p:cNvSpPr txBox="1"/>
          <p:nvPr/>
        </p:nvSpPr>
        <p:spPr>
          <a:xfrm>
            <a:off x="567200" y="4210000"/>
            <a:ext cx="700000" cy="360000"/>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500" b="1" i="0" u="none" strike="noStrike" kern="1200" cap="none" spc="0" normalizeH="0" baseline="0" noProof="0">
                <a:ln>
                  <a:noFill/>
                </a:ln>
                <a:solidFill>
                  <a:srgbClr val="059669"/>
                </a:solidFill>
                <a:effectLst/>
                <a:uLnTx/>
                <a:uFillTx/>
                <a:latin typeface="Calibri" panose="020F0502020204030204"/>
                <a:ea typeface="+mn-ea"/>
                <a:cs typeface="+mn-cs"/>
              </a:rPr>
              <a:t>60</a:t>
            </a:r>
          </a:p>
        </p:txBody>
      </p:sp>
      <p:sp>
        <p:nvSpPr>
          <p:cNvPr id="141" name="TextBox 140"/>
          <p:cNvSpPr txBox="1"/>
          <p:nvPr/>
        </p:nvSpPr>
        <p:spPr>
          <a:xfrm>
            <a:off x="1207200" y="4150000"/>
            <a:ext cx="1196700" cy="480000"/>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0" i="0" u="none" strike="noStrike" kern="1200" cap="none" spc="0" normalizeH="0" baseline="0" noProof="0">
                <a:ln>
                  <a:noFill/>
                </a:ln>
                <a:solidFill>
                  <a:srgbClr val="E2E8F0"/>
                </a:solidFill>
                <a:effectLst/>
                <a:uLnTx/>
                <a:uFillTx/>
                <a:latin typeface="Calibri" panose="020F0502020204030204"/>
                <a:ea typeface="+mn-ea"/>
                <a:cs typeface="+mn-cs"/>
              </a:rPr>
              <a:t>Total Requests</a:t>
            </a:r>
          </a:p>
        </p:txBody>
      </p:sp>
      <p:sp>
        <p:nvSpPr>
          <p:cNvPr id="142" name="Rounded Rectangle 141"/>
          <p:cNvSpPr/>
          <p:nvPr/>
        </p:nvSpPr>
        <p:spPr>
          <a:xfrm>
            <a:off x="2454100" y="4150000"/>
            <a:ext cx="1976700" cy="480000"/>
          </a:xfrm>
          <a:prstGeom prst="roundRect">
            <a:avLst>
              <a:gd name="adj" fmla="val 9000"/>
            </a:avLst>
          </a:prstGeom>
          <a:solidFill>
            <a:srgbClr val="1620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3" name="TextBox 142"/>
          <p:cNvSpPr txBox="1"/>
          <p:nvPr/>
        </p:nvSpPr>
        <p:spPr>
          <a:xfrm>
            <a:off x="2564100" y="4210000"/>
            <a:ext cx="700000" cy="360000"/>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500" b="1" i="0" u="none" strike="noStrike" kern="1200" cap="none" spc="0" normalizeH="0" baseline="0" noProof="0">
                <a:ln>
                  <a:noFill/>
                </a:ln>
                <a:solidFill>
                  <a:srgbClr val="059669"/>
                </a:solidFill>
                <a:effectLst/>
                <a:uLnTx/>
                <a:uFillTx/>
                <a:latin typeface="Calibri" panose="020F0502020204030204"/>
                <a:ea typeface="+mn-ea"/>
                <a:cs typeface="+mn-cs"/>
              </a:rPr>
              <a:t>0%</a:t>
            </a:r>
          </a:p>
        </p:txBody>
      </p:sp>
      <p:sp>
        <p:nvSpPr>
          <p:cNvPr id="144" name="TextBox 143"/>
          <p:cNvSpPr txBox="1"/>
          <p:nvPr/>
        </p:nvSpPr>
        <p:spPr>
          <a:xfrm>
            <a:off x="3204100" y="4150000"/>
            <a:ext cx="1196700" cy="480000"/>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0" i="0" u="none" strike="noStrike" kern="1200" cap="none" spc="0" normalizeH="0" baseline="0" noProof="0">
                <a:ln>
                  <a:noFill/>
                </a:ln>
                <a:solidFill>
                  <a:srgbClr val="E2E8F0"/>
                </a:solidFill>
                <a:effectLst/>
                <a:uLnTx/>
                <a:uFillTx/>
                <a:latin typeface="Calibri" panose="020F0502020204030204"/>
                <a:ea typeface="+mn-ea"/>
                <a:cs typeface="+mn-cs"/>
              </a:rPr>
              <a:t>Failure Rate</a:t>
            </a:r>
          </a:p>
        </p:txBody>
      </p:sp>
      <p:sp>
        <p:nvSpPr>
          <p:cNvPr id="145" name="Rounded Rectangle 144"/>
          <p:cNvSpPr/>
          <p:nvPr/>
        </p:nvSpPr>
        <p:spPr>
          <a:xfrm>
            <a:off x="4451000" y="4150000"/>
            <a:ext cx="1976700" cy="480000"/>
          </a:xfrm>
          <a:prstGeom prst="roundRect">
            <a:avLst>
              <a:gd name="adj" fmla="val 9000"/>
            </a:avLst>
          </a:prstGeom>
          <a:solidFill>
            <a:srgbClr val="1620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6" name="TextBox 145"/>
          <p:cNvSpPr txBox="1"/>
          <p:nvPr/>
        </p:nvSpPr>
        <p:spPr>
          <a:xfrm>
            <a:off x="4561000" y="4210000"/>
            <a:ext cx="700000" cy="360000"/>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500" b="1" i="0" u="none" strike="noStrike" kern="1200" cap="none" spc="0" normalizeH="0" baseline="0" noProof="0">
                <a:ln>
                  <a:noFill/>
                </a:ln>
                <a:solidFill>
                  <a:srgbClr val="059669"/>
                </a:solidFill>
                <a:effectLst/>
                <a:uLnTx/>
                <a:uFillTx/>
                <a:latin typeface="Calibri" panose="020F0502020204030204"/>
                <a:ea typeface="+mn-ea"/>
                <a:cs typeface="+mn-cs"/>
              </a:rPr>
              <a:t>5.78s</a:t>
            </a:r>
          </a:p>
        </p:txBody>
      </p:sp>
      <p:sp>
        <p:nvSpPr>
          <p:cNvPr id="147" name="TextBox 146"/>
          <p:cNvSpPr txBox="1"/>
          <p:nvPr/>
        </p:nvSpPr>
        <p:spPr>
          <a:xfrm>
            <a:off x="5201000" y="4150000"/>
            <a:ext cx="1196700" cy="480000"/>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0" i="0" u="none" strike="noStrike" kern="1200" cap="none" spc="0" normalizeH="0" baseline="0" noProof="0">
                <a:ln>
                  <a:noFill/>
                </a:ln>
                <a:solidFill>
                  <a:srgbClr val="E2E8F0"/>
                </a:solidFill>
                <a:effectLst/>
                <a:uLnTx/>
                <a:uFillTx/>
                <a:latin typeface="Calibri" panose="020F0502020204030204"/>
                <a:ea typeface="+mn-ea"/>
                <a:cs typeface="+mn-cs"/>
              </a:rPr>
              <a:t>Avg Response</a:t>
            </a:r>
          </a:p>
        </p:txBody>
      </p:sp>
      <p:sp>
        <p:nvSpPr>
          <p:cNvPr id="148" name="Rounded Rectangle 147"/>
          <p:cNvSpPr/>
          <p:nvPr/>
        </p:nvSpPr>
        <p:spPr>
          <a:xfrm>
            <a:off x="6447900" y="4150000"/>
            <a:ext cx="1976700" cy="480000"/>
          </a:xfrm>
          <a:prstGeom prst="roundRect">
            <a:avLst>
              <a:gd name="adj" fmla="val 9000"/>
            </a:avLst>
          </a:prstGeom>
          <a:solidFill>
            <a:srgbClr val="1620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9" name="TextBox 148"/>
          <p:cNvSpPr txBox="1"/>
          <p:nvPr/>
        </p:nvSpPr>
        <p:spPr>
          <a:xfrm>
            <a:off x="6557900" y="4210000"/>
            <a:ext cx="700000" cy="360000"/>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500" b="1" i="0" u="none" strike="noStrike" kern="1200" cap="none" spc="0" normalizeH="0" baseline="0" noProof="0">
                <a:ln>
                  <a:noFill/>
                </a:ln>
                <a:solidFill>
                  <a:srgbClr val="059669"/>
                </a:solidFill>
                <a:effectLst/>
                <a:uLnTx/>
                <a:uFillTx/>
                <a:latin typeface="Calibri" panose="020F0502020204030204"/>
                <a:ea typeface="+mn-ea"/>
                <a:cs typeface="+mn-cs"/>
              </a:rPr>
              <a:t>1.79/s</a:t>
            </a:r>
          </a:p>
        </p:txBody>
      </p:sp>
      <p:sp>
        <p:nvSpPr>
          <p:cNvPr id="150" name="TextBox 149"/>
          <p:cNvSpPr txBox="1"/>
          <p:nvPr/>
        </p:nvSpPr>
        <p:spPr>
          <a:xfrm>
            <a:off x="7197900" y="4150000"/>
            <a:ext cx="1196700" cy="480000"/>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800" b="0" i="0" u="none" strike="noStrike" kern="1200" cap="none" spc="0" normalizeH="0" baseline="0" noProof="0">
                <a:ln>
                  <a:noFill/>
                </a:ln>
                <a:solidFill>
                  <a:srgbClr val="E2E8F0"/>
                </a:solidFill>
                <a:effectLst/>
                <a:uLnTx/>
                <a:uFillTx/>
                <a:latin typeface="Calibri" panose="020F0502020204030204"/>
                <a:ea typeface="+mn-ea"/>
                <a:cs typeface="+mn-cs"/>
              </a:rPr>
              <a:t>Throughput</a:t>
            </a:r>
          </a:p>
        </p:txBody>
      </p:sp>
      <p:sp>
        <p:nvSpPr>
          <p:cNvPr id="151" name="TextBox 150"/>
          <p:cNvSpPr txBox="1"/>
          <p:nvPr/>
        </p:nvSpPr>
        <p:spPr>
          <a:xfrm>
            <a:off x="457200" y="4690000"/>
            <a:ext cx="8229600" cy="300000"/>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E2E8F0"/>
                </a:solidFill>
                <a:effectLst/>
                <a:uLnTx/>
                <a:uFillTx/>
                <a:latin typeface="Calibri" panose="020F0502020204030204"/>
                <a:ea typeface="+mn-ea"/>
                <a:cs typeface="+mn-cs"/>
              </a:rPr>
              <a:t>60/60 requests succeeded (0% failure) — p95: 11.05s, max: 21.12s — tests/Load/load_test_orchestrator.py</a:t>
            </a:r>
          </a:p>
        </p:txBody>
      </p:sp>
    </p:spTree>
    <p:extLst>
      <p:ext uri="{BB962C8B-B14F-4D97-AF65-F5344CB8AC3E}">
        <p14:creationId xmlns:p14="http://schemas.microsoft.com/office/powerpoint/2010/main" val="85354466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F1B2D"/>
        </a:solidFill>
        <a:effectLst/>
      </p:bgPr>
    </p:bg>
    <p:spTree>
      <p:nvGrpSpPr>
        <p:cNvPr id="1" name=""/>
        <p:cNvGrpSpPr/>
        <p:nvPr/>
      </p:nvGrpSpPr>
      <p:grpSpPr>
        <a:xfrm>
          <a:off x="0" y="0"/>
          <a:ext cx="0" cy="0"/>
          <a:chOff x="0" y="0"/>
          <a:chExt cx="0" cy="0"/>
        </a:xfrm>
      </p:grpSpPr>
      <p:sp>
        <p:nvSpPr>
          <p:cNvPr id="101" name="Badge"/>
          <p:cNvSpPr/>
          <p:nvPr/>
        </p:nvSpPr>
        <p:spPr>
          <a:xfrm>
            <a:off x="457200" y="274320"/>
            <a:ext cx="1350000" cy="256032"/>
          </a:xfrm>
          <a:prstGeom prst="roundRect">
            <a:avLst>
              <a:gd name="adj" fmla="val 50000"/>
            </a:avLst>
          </a:prstGeom>
          <a:solidFill>
            <a:srgbClr val="059669">
              <a:alpha val="25000"/>
            </a:srgbClr>
          </a:solidFill>
          <a:ln/>
        </p:spPr>
      </p:sp>
      <p:sp>
        <p:nvSpPr>
          <p:cNvPr id="102" name="BadgeText"/>
          <p:cNvSpPr/>
          <p:nvPr/>
        </p:nvSpPr>
        <p:spPr>
          <a:xfrm>
            <a:off x="457200" y="274320"/>
            <a:ext cx="1350000" cy="25603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0" cap="none" spc="150" normalizeH="0" baseline="0" noProof="0" dirty="0">
                <a:ln>
                  <a:noFill/>
                </a:ln>
                <a:solidFill>
                  <a:srgbClr val="059669"/>
                </a:solidFill>
                <a:effectLst/>
                <a:uLnTx/>
                <a:uFillTx/>
                <a:latin typeface="Calibri" panose="020F0502020204030204"/>
                <a:ea typeface="+mn-ea"/>
                <a:cs typeface="+mn-cs"/>
              </a:rPr>
              <a:t>AI TOOLING</a:t>
            </a:r>
          </a:p>
        </p:txBody>
      </p:sp>
      <p:sp>
        <p:nvSpPr>
          <p:cNvPr id="103" name="Title"/>
          <p:cNvSpPr/>
          <p:nvPr/>
        </p:nvSpPr>
        <p:spPr>
          <a:xfrm>
            <a:off x="457200" y="527327"/>
            <a:ext cx="8229600" cy="4600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FFFF"/>
                </a:solidFill>
                <a:effectLst/>
                <a:uLnTx/>
                <a:uFillTx/>
                <a:latin typeface="Cambria" pitchFamily="34" charset="0"/>
                <a:ea typeface="+mn-ea"/>
                <a:cs typeface="+mn-cs"/>
              </a:rPr>
              <a:t>Built With Kiro AI</a:t>
            </a:r>
          </a:p>
        </p:txBody>
      </p:sp>
      <p:sp>
        <p:nvSpPr>
          <p:cNvPr id="104" name="TextBox 103"/>
          <p:cNvSpPr txBox="1"/>
          <p:nvPr/>
        </p:nvSpPr>
        <p:spPr>
          <a:xfrm>
            <a:off x="457200" y="950000"/>
            <a:ext cx="8229600" cy="350000"/>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150" b="0" i="0" u="none" strike="noStrike" kern="1200" cap="none" spc="0" normalizeH="0" baseline="0" noProof="0">
                <a:ln>
                  <a:noFill/>
                </a:ln>
                <a:solidFill>
                  <a:srgbClr val="9CA9BC"/>
                </a:solidFill>
                <a:effectLst/>
                <a:uLnTx/>
                <a:uFillTx/>
                <a:latin typeface="Calibri"/>
                <a:ea typeface="+mn-ea"/>
                <a:cs typeface="+mn-cs"/>
              </a:rPr>
              <a:t>We used Kiro AI (agentic IDE) to design and build the Retirement Planner feature, following a strict spec-driven planning process before writing code.</a:t>
            </a:r>
          </a:p>
        </p:txBody>
      </p:sp>
      <p:sp>
        <p:nvSpPr>
          <p:cNvPr id="105" name="Rounded Rectangle 104"/>
          <p:cNvSpPr/>
          <p:nvPr/>
        </p:nvSpPr>
        <p:spPr>
          <a:xfrm>
            <a:off x="457200" y="1500000"/>
            <a:ext cx="4550000" cy="3150000"/>
          </a:xfrm>
          <a:prstGeom prst="roundRect">
            <a:avLst>
              <a:gd name="adj" fmla="val 4000"/>
            </a:avLst>
          </a:prstGeom>
          <a:noFill/>
          <a:ln w="15875">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6" name="Rounded Rectangle 105"/>
          <p:cNvSpPr/>
          <p:nvPr/>
        </p:nvSpPr>
        <p:spPr>
          <a:xfrm>
            <a:off x="677200" y="1680000"/>
            <a:ext cx="4110000" cy="420000"/>
          </a:xfrm>
          <a:prstGeom prst="roundRect">
            <a:avLst>
              <a:gd name="adj" fmla="val 8000"/>
            </a:avLst>
          </a:prstGeom>
          <a:solidFill>
            <a:srgbClr val="1B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7" name="TextBox 106"/>
          <p:cNvSpPr txBox="1"/>
          <p:nvPr/>
        </p:nvSpPr>
        <p:spPr>
          <a:xfrm>
            <a:off x="757200" y="1680000"/>
            <a:ext cx="3950000" cy="420000"/>
          </a:xfrm>
          <a:prstGeom prst="rect">
            <a:avLst/>
          </a:prstGeom>
          <a:noFill/>
        </p:spPr>
        <p:txBody>
          <a:bodyPr wrap="squar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050" b="1" i="0" u="none" strike="noStrike" kern="1200" cap="none" spc="0" normalizeH="0" baseline="0" noProof="0">
                <a:ln>
                  <a:noFill/>
                </a:ln>
                <a:solidFill>
                  <a:srgbClr val="FFFFFF"/>
                </a:solidFill>
                <a:effectLst/>
                <a:uLnTx/>
                <a:uFillTx/>
                <a:latin typeface="Calibri"/>
                <a:ea typeface="+mn-ea"/>
                <a:cs typeface="+mn-cs"/>
              </a:rPr>
              <a:t>User Prompt: "Build a retirement planner with
city-wise cost of living"</a:t>
            </a:r>
          </a:p>
        </p:txBody>
      </p:sp>
      <p:sp>
        <p:nvSpPr>
          <p:cNvPr id="108" name="Down Arrow 107"/>
          <p:cNvSpPr/>
          <p:nvPr/>
        </p:nvSpPr>
        <p:spPr>
          <a:xfrm>
            <a:off x="2642200" y="2130000"/>
            <a:ext cx="180000" cy="260000"/>
          </a:xfrm>
          <a:prstGeom prst="downArrow">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9" name="Rounded Rectangle 108"/>
          <p:cNvSpPr/>
          <p:nvPr/>
        </p:nvSpPr>
        <p:spPr>
          <a:xfrm>
            <a:off x="677200" y="2380000"/>
            <a:ext cx="4110000" cy="900000"/>
          </a:xfrm>
          <a:prstGeom prst="roundRect">
            <a:avLst>
              <a:gd name="adj" fmla="val 6000"/>
            </a:avLst>
          </a:prstGeom>
          <a:noFill/>
          <a:ln w="12700">
            <a:solidFill>
              <a:srgbClr val="D9B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0" name="TextBox 109"/>
          <p:cNvSpPr txBox="1"/>
          <p:nvPr/>
        </p:nvSpPr>
        <p:spPr>
          <a:xfrm>
            <a:off x="677200" y="2460000"/>
            <a:ext cx="4110000" cy="260000"/>
          </a:xfrm>
          <a:prstGeom prst="rect">
            <a:avLst/>
          </a:prstGeom>
          <a:noFill/>
        </p:spPr>
        <p:txBody>
          <a:bodyPr wrap="squar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D9B84A"/>
                </a:solidFill>
                <a:effectLst/>
                <a:uLnTx/>
                <a:uFillTx/>
                <a:latin typeface="Calibri"/>
                <a:ea typeface="+mn-ea"/>
                <a:cs typeface="+mn-cs"/>
              </a:rPr>
              <a:t>Kiro Spec-Driven Planning</a:t>
            </a:r>
          </a:p>
        </p:txBody>
      </p:sp>
      <p:sp>
        <p:nvSpPr>
          <p:cNvPr id="111" name="Rounded Rectangle 110"/>
          <p:cNvSpPr/>
          <p:nvPr/>
        </p:nvSpPr>
        <p:spPr>
          <a:xfrm>
            <a:off x="677200" y="2800000"/>
            <a:ext cx="1303333" cy="380000"/>
          </a:xfrm>
          <a:prstGeom prst="roundRect">
            <a:avLst>
              <a:gd name="adj" fmla="val 8000"/>
            </a:avLst>
          </a:prstGeom>
          <a:solidFill>
            <a:srgbClr val="1B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2" name="TextBox 111"/>
          <p:cNvSpPr txBox="1"/>
          <p:nvPr/>
        </p:nvSpPr>
        <p:spPr>
          <a:xfrm>
            <a:off x="677200" y="2870000"/>
            <a:ext cx="1303333" cy="240000"/>
          </a:xfrm>
          <a:prstGeom prst="rect">
            <a:avLst/>
          </a:prstGeom>
          <a:noFill/>
        </p:spPr>
        <p:txBody>
          <a:bodyPr wrap="squar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869" b="0" i="0" u="none" strike="noStrike" kern="1200" cap="none" spc="0" normalizeH="0" baseline="0" noProof="0">
                <a:ln>
                  <a:noFill/>
                </a:ln>
                <a:solidFill>
                  <a:srgbClr val="E2E8F0"/>
                </a:solidFill>
                <a:effectLst/>
                <a:uLnTx/>
                <a:uFillTx/>
                <a:latin typeface="Calibri"/>
                <a:ea typeface="+mn-ea"/>
                <a:cs typeface="+mn-cs"/>
              </a:rPr>
              <a:t>requirements.md</a:t>
            </a:r>
          </a:p>
        </p:txBody>
      </p:sp>
      <p:sp>
        <p:nvSpPr>
          <p:cNvPr id="113" name="Rounded Rectangle 112"/>
          <p:cNvSpPr/>
          <p:nvPr/>
        </p:nvSpPr>
        <p:spPr>
          <a:xfrm>
            <a:off x="2080533" y="2800000"/>
            <a:ext cx="1303333" cy="380000"/>
          </a:xfrm>
          <a:prstGeom prst="roundRect">
            <a:avLst>
              <a:gd name="adj" fmla="val 8000"/>
            </a:avLst>
          </a:prstGeom>
          <a:solidFill>
            <a:srgbClr val="1B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4" name="TextBox 113"/>
          <p:cNvSpPr txBox="1"/>
          <p:nvPr/>
        </p:nvSpPr>
        <p:spPr>
          <a:xfrm>
            <a:off x="2080533" y="2870000"/>
            <a:ext cx="1303333" cy="240000"/>
          </a:xfrm>
          <a:prstGeom prst="rect">
            <a:avLst/>
          </a:prstGeom>
          <a:noFill/>
        </p:spPr>
        <p:txBody>
          <a:bodyPr wrap="squar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869" b="0" i="0" u="none" strike="noStrike" kern="1200" cap="none" spc="0" normalizeH="0" baseline="0" noProof="0">
                <a:ln>
                  <a:noFill/>
                </a:ln>
                <a:solidFill>
                  <a:srgbClr val="E2E8F0"/>
                </a:solidFill>
                <a:effectLst/>
                <a:uLnTx/>
                <a:uFillTx/>
                <a:latin typeface="Calibri"/>
                <a:ea typeface="+mn-ea"/>
                <a:cs typeface="+mn-cs"/>
              </a:rPr>
              <a:t>design.md</a:t>
            </a:r>
          </a:p>
        </p:txBody>
      </p:sp>
      <p:sp>
        <p:nvSpPr>
          <p:cNvPr id="115" name="Rounded Rectangle 114"/>
          <p:cNvSpPr/>
          <p:nvPr/>
        </p:nvSpPr>
        <p:spPr>
          <a:xfrm>
            <a:off x="3483866" y="2800000"/>
            <a:ext cx="1303333" cy="380000"/>
          </a:xfrm>
          <a:prstGeom prst="roundRect">
            <a:avLst>
              <a:gd name="adj" fmla="val 8000"/>
            </a:avLst>
          </a:prstGeom>
          <a:solidFill>
            <a:srgbClr val="1B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6" name="TextBox 115"/>
          <p:cNvSpPr txBox="1"/>
          <p:nvPr/>
        </p:nvSpPr>
        <p:spPr>
          <a:xfrm>
            <a:off x="3483866" y="2870000"/>
            <a:ext cx="1303333" cy="240000"/>
          </a:xfrm>
          <a:prstGeom prst="rect">
            <a:avLst/>
          </a:prstGeom>
          <a:noFill/>
        </p:spPr>
        <p:txBody>
          <a:bodyPr wrap="squar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869" b="0" i="0" u="none" strike="noStrike" kern="1200" cap="none" spc="0" normalizeH="0" baseline="0" noProof="0">
                <a:ln>
                  <a:noFill/>
                </a:ln>
                <a:solidFill>
                  <a:srgbClr val="E2E8F0"/>
                </a:solidFill>
                <a:effectLst/>
                <a:uLnTx/>
                <a:uFillTx/>
                <a:latin typeface="Calibri"/>
                <a:ea typeface="+mn-ea"/>
                <a:cs typeface="+mn-cs"/>
              </a:rPr>
              <a:t>tasks.md</a:t>
            </a:r>
          </a:p>
        </p:txBody>
      </p:sp>
      <p:sp>
        <p:nvSpPr>
          <p:cNvPr id="117" name="Down Arrow 116"/>
          <p:cNvSpPr/>
          <p:nvPr/>
        </p:nvSpPr>
        <p:spPr>
          <a:xfrm>
            <a:off x="2642200" y="3310000"/>
            <a:ext cx="180000" cy="260000"/>
          </a:xfrm>
          <a:prstGeom prst="downArrow">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8" name="Rounded Rectangle 117"/>
          <p:cNvSpPr/>
          <p:nvPr/>
        </p:nvSpPr>
        <p:spPr>
          <a:xfrm>
            <a:off x="677200" y="3560000"/>
            <a:ext cx="2005000" cy="420000"/>
          </a:xfrm>
          <a:prstGeom prst="roundRect">
            <a:avLst>
              <a:gd name="adj" fmla="val 8000"/>
            </a:avLst>
          </a:prstGeom>
          <a:solidFill>
            <a:srgbClr val="142A22"/>
          </a:solidFill>
          <a:ln w="9525">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9" name="TextBox 118"/>
          <p:cNvSpPr txBox="1"/>
          <p:nvPr/>
        </p:nvSpPr>
        <p:spPr>
          <a:xfrm>
            <a:off x="677200" y="3630000"/>
            <a:ext cx="2005000" cy="280000"/>
          </a:xfrm>
          <a:prstGeom prst="rect">
            <a:avLst/>
          </a:prstGeom>
          <a:noFill/>
        </p:spPr>
        <p:txBody>
          <a:bodyPr wrap="squar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900" b="1" i="0" u="none" strike="noStrike" kern="1200" cap="none" spc="0" normalizeH="0" baseline="0" noProof="0">
                <a:ln>
                  <a:noFill/>
                </a:ln>
                <a:solidFill>
                  <a:srgbClr val="059669"/>
                </a:solidFill>
                <a:effectLst/>
                <a:uLnTx/>
                <a:uFillTx/>
                <a:latin typeface="Calibri"/>
                <a:ea typeface="+mn-ea"/>
                <a:cs typeface="+mn-cs"/>
              </a:rPr>
              <a:t>Implementation
city_data.py</a:t>
            </a:r>
          </a:p>
        </p:txBody>
      </p:sp>
      <p:sp>
        <p:nvSpPr>
          <p:cNvPr id="120" name="Rounded Rectangle 119"/>
          <p:cNvSpPr/>
          <p:nvPr/>
        </p:nvSpPr>
        <p:spPr>
          <a:xfrm>
            <a:off x="2782200" y="3560000"/>
            <a:ext cx="2005000" cy="420000"/>
          </a:xfrm>
          <a:prstGeom prst="roundRect">
            <a:avLst>
              <a:gd name="adj" fmla="val 8000"/>
            </a:avLst>
          </a:prstGeom>
          <a:solidFill>
            <a:srgbClr val="182238"/>
          </a:solidFill>
          <a:ln w="9525">
            <a:solidFill>
              <a:srgbClr val="5B8DE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1" name="TextBox 120"/>
          <p:cNvSpPr txBox="1"/>
          <p:nvPr/>
        </p:nvSpPr>
        <p:spPr>
          <a:xfrm>
            <a:off x="2782200" y="3630000"/>
            <a:ext cx="2005000" cy="280000"/>
          </a:xfrm>
          <a:prstGeom prst="rect">
            <a:avLst/>
          </a:prstGeom>
          <a:noFill/>
        </p:spPr>
        <p:txBody>
          <a:bodyPr wrap="squar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900" b="1" i="0" u="none" strike="noStrike" kern="1200" cap="none" spc="0" normalizeH="0" baseline="0" noProof="0">
                <a:ln>
                  <a:noFill/>
                </a:ln>
                <a:solidFill>
                  <a:srgbClr val="5B8DEF"/>
                </a:solidFill>
                <a:effectLst/>
                <a:uLnTx/>
                <a:uFillTx/>
                <a:latin typeface="Calibri"/>
                <a:ea typeface="+mn-ea"/>
                <a:cs typeface="+mn-cs"/>
              </a:rPr>
              <a:t>Validation
test_retirement_calc.py</a:t>
            </a:r>
          </a:p>
        </p:txBody>
      </p:sp>
      <p:sp>
        <p:nvSpPr>
          <p:cNvPr id="122" name="Rectangle 121"/>
          <p:cNvSpPr/>
          <p:nvPr/>
        </p:nvSpPr>
        <p:spPr>
          <a:xfrm>
            <a:off x="5357200" y="1560000"/>
            <a:ext cx="60000" cy="900000"/>
          </a:xfrm>
          <a:prstGeom prst="rect">
            <a:avLst/>
          </a:prstGeom>
          <a:solidFill>
            <a:srgbClr val="D9B8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3" name="TextBox 122"/>
          <p:cNvSpPr txBox="1"/>
          <p:nvPr/>
        </p:nvSpPr>
        <p:spPr>
          <a:xfrm>
            <a:off x="5577200" y="1560000"/>
            <a:ext cx="3109600" cy="350000"/>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500" b="1" i="0" u="none" strike="noStrike" kern="1200" cap="none" spc="0" normalizeH="0" baseline="0" noProof="0">
                <a:ln>
                  <a:noFill/>
                </a:ln>
                <a:solidFill>
                  <a:srgbClr val="D9B84A"/>
                </a:solidFill>
                <a:effectLst/>
                <a:uLnTx/>
                <a:uFillTx/>
                <a:latin typeface="Calibri"/>
                <a:ea typeface="+mn-ea"/>
                <a:cs typeface="+mn-cs"/>
              </a:rPr>
              <a:t>Spec-First, Not "Vibe Coded"</a:t>
            </a:r>
          </a:p>
        </p:txBody>
      </p:sp>
      <p:sp>
        <p:nvSpPr>
          <p:cNvPr id="124" name="TextBox 123"/>
          <p:cNvSpPr txBox="1"/>
          <p:nvPr/>
        </p:nvSpPr>
        <p:spPr>
          <a:xfrm>
            <a:off x="5577200" y="1960000"/>
            <a:ext cx="3109600" cy="480000"/>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0" i="0" u="none" strike="noStrike" kern="1200" cap="none" spc="0" normalizeH="0" baseline="0" noProof="0">
                <a:ln>
                  <a:noFill/>
                </a:ln>
                <a:solidFill>
                  <a:srgbClr val="E2E8F0"/>
                </a:solidFill>
                <a:effectLst/>
                <a:uLnTx/>
                <a:uFillTx/>
                <a:latin typeface="Calibri"/>
                <a:ea typeface="+mn-ea"/>
                <a:cs typeface="+mn-cs"/>
              </a:rPr>
              <a:t>Forcing a planning phase (requirements -&gt; design -&gt; tasks) before coding ensured the inflation-adjusted retirement-corpus formula matched the exact financial logic needed — not a rough approximation.</a:t>
            </a:r>
          </a:p>
        </p:txBody>
      </p:sp>
      <p:sp>
        <p:nvSpPr>
          <p:cNvPr id="125" name="Rectangle 124"/>
          <p:cNvSpPr/>
          <p:nvPr/>
        </p:nvSpPr>
        <p:spPr>
          <a:xfrm>
            <a:off x="5357200" y="2810000"/>
            <a:ext cx="60000" cy="90000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6" name="TextBox 125"/>
          <p:cNvSpPr txBox="1"/>
          <p:nvPr/>
        </p:nvSpPr>
        <p:spPr>
          <a:xfrm>
            <a:off x="5577200" y="2810000"/>
            <a:ext cx="3109600" cy="350000"/>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500" b="1" i="0" u="none" strike="noStrike" kern="1200" cap="none" spc="0" normalizeH="0" baseline="0" noProof="0">
                <a:ln>
                  <a:noFill/>
                </a:ln>
                <a:solidFill>
                  <a:srgbClr val="059669"/>
                </a:solidFill>
                <a:effectLst/>
                <a:uLnTx/>
                <a:uFillTx/>
                <a:latin typeface="Calibri"/>
                <a:ea typeface="+mn-ea"/>
                <a:cs typeface="+mn-cs"/>
              </a:rPr>
              <a:t>Validated Before Shipping</a:t>
            </a:r>
          </a:p>
        </p:txBody>
      </p:sp>
      <p:sp>
        <p:nvSpPr>
          <p:cNvPr id="127" name="TextBox 126"/>
          <p:cNvSpPr txBox="1"/>
          <p:nvPr/>
        </p:nvSpPr>
        <p:spPr>
          <a:xfrm>
            <a:off x="5577200" y="3210000"/>
            <a:ext cx="3109600" cy="480000"/>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0" i="0" u="none" strike="noStrike" kern="1200" cap="none" spc="0" normalizeH="0" baseline="0" noProof="0">
                <a:ln>
                  <a:noFill/>
                </a:ln>
                <a:solidFill>
                  <a:srgbClr val="E2E8F0"/>
                </a:solidFill>
                <a:effectLst/>
                <a:uLnTx/>
                <a:uFillTx/>
                <a:latin typeface="Calibri"/>
                <a:ea typeface="+mn-ea"/>
                <a:cs typeface="+mn-cs"/>
              </a:rPr>
              <a:t>4 dedicated unit tests (test_retirement_calc.py) verify the SIP and corpus math — including edge cases like zero current savings — before the feature ever reached the UI.</a:t>
            </a:r>
          </a:p>
        </p:txBody>
      </p:sp>
      <p:sp>
        <p:nvSpPr>
          <p:cNvPr id="128" name="TextBox 127"/>
          <p:cNvSpPr txBox="1"/>
          <p:nvPr/>
        </p:nvSpPr>
        <p:spPr>
          <a:xfrm>
            <a:off x="457200" y="4830000"/>
            <a:ext cx="5000000" cy="220000"/>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9CA9BC"/>
                </a:solidFill>
                <a:effectLst/>
                <a:uLnTx/>
                <a:uFillTx/>
                <a:latin typeface="Calibri"/>
                <a:ea typeface="+mn-ea"/>
                <a:cs typeface="+mn-cs"/>
              </a:rPr>
              <a:t>Credit Risk Intelligence Platform — Technical Deep-Dive</a:t>
            </a:r>
          </a:p>
        </p:txBody>
      </p:sp>
    </p:spTree>
    <p:extLst>
      <p:ext uri="{BB962C8B-B14F-4D97-AF65-F5344CB8AC3E}">
        <p14:creationId xmlns:p14="http://schemas.microsoft.com/office/powerpoint/2010/main" val="23331730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DevOps">
    <p:bg>
      <p:bgPr>
        <a:solidFill>
          <a:srgbClr val="0F1B2D"/>
        </a:solidFill>
        <a:effectLst/>
      </p:bgPr>
    </p:bg>
    <p:spTree>
      <p:nvGrpSpPr>
        <p:cNvPr id="1" name=""/>
        <p:cNvGrpSpPr/>
        <p:nvPr/>
      </p:nvGrpSpPr>
      <p:grpSpPr>
        <a:xfrm>
          <a:off x="0" y="0"/>
          <a:ext cx="0" cy="0"/>
          <a:chOff x="0" y="0"/>
          <a:chExt cx="0" cy="0"/>
        </a:xfrm>
      </p:grpSpPr>
      <p:sp>
        <p:nvSpPr>
          <p:cNvPr id="101" name="Badge"/>
          <p:cNvSpPr/>
          <p:nvPr/>
        </p:nvSpPr>
        <p:spPr>
          <a:xfrm>
            <a:off x="457200" y="274320"/>
            <a:ext cx="1250000" cy="256032"/>
          </a:xfrm>
          <a:prstGeom prst="roundRect">
            <a:avLst>
              <a:gd name="adj" fmla="val 50000"/>
            </a:avLst>
          </a:prstGeom>
          <a:solidFill>
            <a:srgbClr val="D97706">
              <a:alpha val="25000"/>
            </a:srgbClr>
          </a:solidFill>
          <a:ln/>
        </p:spPr>
      </p:sp>
      <p:sp>
        <p:nvSpPr>
          <p:cNvPr id="102" name="BadgeText"/>
          <p:cNvSpPr/>
          <p:nvPr/>
        </p:nvSpPr>
        <p:spPr>
          <a:xfrm>
            <a:off x="457200" y="274320"/>
            <a:ext cx="1250000" cy="256032"/>
          </a:xfrm>
          <a:prstGeom prst="rect">
            <a:avLst/>
          </a:prstGeom>
          <a:noFill/>
          <a:ln/>
        </p:spPr>
        <p:txBody>
          <a:bodyPr wrap="square" lIns="0" tIns="0" rIns="0" bIns="0" rtlCol="0" anchor="ctr"/>
          <a:lstStyle/>
          <a:p>
            <a:pPr marL="0" indent="0" algn="ctr">
              <a:buNone/>
            </a:pPr>
            <a:r>
              <a:rPr lang="en-US" sz="900" b="1" kern="0" spc="150" dirty="0">
                <a:solidFill>
                  <a:srgbClr val="D97706"/>
                </a:solidFill>
              </a:rPr>
              <a:t>DEVOPS</a:t>
            </a:r>
          </a:p>
        </p:txBody>
      </p:sp>
      <p:sp>
        <p:nvSpPr>
          <p:cNvPr id="103" name="Title"/>
          <p:cNvSpPr/>
          <p:nvPr/>
        </p:nvSpPr>
        <p:spPr>
          <a:xfrm>
            <a:off x="457200" y="590000"/>
            <a:ext cx="8229600" cy="460000"/>
          </a:xfrm>
          <a:prstGeom prst="rect">
            <a:avLst/>
          </a:prstGeom>
          <a:noFill/>
          <a:ln/>
        </p:spPr>
        <p:txBody>
          <a:bodyPr wrap="square" lIns="0" tIns="0" rIns="0" bIns="0" rtlCol="0" anchor="ctr"/>
          <a:lstStyle/>
          <a:p>
            <a:pPr marL="0" indent="0">
              <a:buNone/>
            </a:pPr>
            <a:r>
              <a:rPr lang="en-US" sz="2200" b="1" dirty="0">
                <a:solidFill>
                  <a:srgbClr val="FFFFFF"/>
                </a:solidFill>
                <a:latin typeface="Cambria" pitchFamily="34" charset="0"/>
              </a:rPr>
              <a:t>CI/CD, Observability &amp; Cloud Deployment</a:t>
            </a:r>
          </a:p>
        </p:txBody>
      </p:sp>
      <p:sp>
        <p:nvSpPr>
          <p:cNvPr id="104" name="Text"/>
          <p:cNvSpPr/>
          <p:nvPr/>
        </p:nvSpPr>
        <p:spPr>
          <a:xfrm>
            <a:off x="457200" y="1180000"/>
            <a:ext cx="4000000" cy="200000"/>
          </a:xfrm>
          <a:prstGeom prst="rect">
            <a:avLst/>
          </a:prstGeom>
          <a:noFill/>
          <a:ln/>
        </p:spPr>
        <p:txBody>
          <a:bodyPr wrap="square" lIns="0" tIns="0" rIns="0" bIns="0" rtlCol="0" anchor="t"/>
          <a:lstStyle/>
          <a:p>
            <a:pPr marL="0" indent="0" algn="l">
              <a:buNone/>
            </a:pPr>
            <a:r>
              <a:rPr lang="en-US" sz="1000" b="1" dirty="0">
                <a:solidFill>
                  <a:srgbClr val="FFFFFF"/>
                </a:solidFill>
              </a:rPr>
              <a:t>Automated CI/CD Pipeline</a:t>
            </a:r>
          </a:p>
        </p:txBody>
      </p:sp>
      <p:sp>
        <p:nvSpPr>
          <p:cNvPr id="105" name="Pill"/>
          <p:cNvSpPr/>
          <p:nvPr/>
        </p:nvSpPr>
        <p:spPr>
          <a:xfrm>
            <a:off x="457200" y="1440000"/>
            <a:ext cx="1281600" cy="300000"/>
          </a:xfrm>
          <a:prstGeom prst="roundRect">
            <a:avLst>
              <a:gd name="adj" fmla="val 50000"/>
            </a:avLst>
          </a:prstGeom>
          <a:solidFill>
            <a:srgbClr val="D97706">
              <a:alpha val="20000"/>
            </a:srgbClr>
          </a:solidFill>
          <a:ln/>
        </p:spPr>
        <p:txBody>
          <a:bodyPr wrap="square" lIns="0" tIns="0" rIns="0" bIns="0" rtlCol="0" anchor="ctr"/>
          <a:lstStyle/>
          <a:p>
            <a:pPr marL="0" indent="0" algn="ctr">
              <a:buNone/>
            </a:pPr>
            <a:r>
              <a:rPr lang="en-US" sz="750" b="1" dirty="0">
                <a:solidFill>
                  <a:srgbClr val="FFFFFF"/>
                </a:solidFill>
              </a:rPr>
              <a:t>git push</a:t>
            </a:r>
          </a:p>
        </p:txBody>
      </p:sp>
      <p:sp>
        <p:nvSpPr>
          <p:cNvPr id="106" name="Pill"/>
          <p:cNvSpPr/>
          <p:nvPr/>
        </p:nvSpPr>
        <p:spPr>
          <a:xfrm>
            <a:off x="1798800" y="1440000"/>
            <a:ext cx="1281600" cy="300000"/>
          </a:xfrm>
          <a:prstGeom prst="roundRect">
            <a:avLst>
              <a:gd name="adj" fmla="val 50000"/>
            </a:avLst>
          </a:prstGeom>
          <a:solidFill>
            <a:srgbClr val="D97706">
              <a:alpha val="20000"/>
            </a:srgbClr>
          </a:solidFill>
          <a:ln/>
        </p:spPr>
        <p:txBody>
          <a:bodyPr wrap="square" lIns="0" tIns="0" rIns="0" bIns="0" rtlCol="0" anchor="ctr"/>
          <a:lstStyle/>
          <a:p>
            <a:pPr marL="0" indent="0" algn="ctr">
              <a:buNone/>
            </a:pPr>
            <a:r>
              <a:rPr lang="en-US" sz="750" b="1" dirty="0">
                <a:solidFill>
                  <a:srgbClr val="FFFFFF"/>
                </a:solidFill>
              </a:rPr>
              <a:t>96 tests</a:t>
            </a:r>
          </a:p>
        </p:txBody>
      </p:sp>
      <p:sp>
        <p:nvSpPr>
          <p:cNvPr id="107" name="Pill"/>
          <p:cNvSpPr/>
          <p:nvPr/>
        </p:nvSpPr>
        <p:spPr>
          <a:xfrm>
            <a:off x="3140400" y="1440000"/>
            <a:ext cx="1281600" cy="300000"/>
          </a:xfrm>
          <a:prstGeom prst="roundRect">
            <a:avLst>
              <a:gd name="adj" fmla="val 50000"/>
            </a:avLst>
          </a:prstGeom>
          <a:solidFill>
            <a:srgbClr val="D97706">
              <a:alpha val="20000"/>
            </a:srgbClr>
          </a:solidFill>
          <a:ln/>
        </p:spPr>
        <p:txBody>
          <a:bodyPr wrap="square" lIns="0" tIns="0" rIns="0" bIns="0" rtlCol="0" anchor="ctr"/>
          <a:lstStyle/>
          <a:p>
            <a:pPr marL="0" indent="0" algn="ctr">
              <a:buNone/>
            </a:pPr>
            <a:r>
              <a:rPr lang="en-US" sz="750" b="1" dirty="0">
                <a:solidFill>
                  <a:srgbClr val="FFFFFF"/>
                </a:solidFill>
              </a:rPr>
              <a:t>Docker build</a:t>
            </a:r>
          </a:p>
        </p:txBody>
      </p:sp>
      <p:sp>
        <p:nvSpPr>
          <p:cNvPr id="108" name="Pill"/>
          <p:cNvSpPr/>
          <p:nvPr/>
        </p:nvSpPr>
        <p:spPr>
          <a:xfrm>
            <a:off x="4482000" y="1440000"/>
            <a:ext cx="1281600" cy="300000"/>
          </a:xfrm>
          <a:prstGeom prst="roundRect">
            <a:avLst>
              <a:gd name="adj" fmla="val 50000"/>
            </a:avLst>
          </a:prstGeom>
          <a:solidFill>
            <a:srgbClr val="D97706">
              <a:alpha val="20000"/>
            </a:srgbClr>
          </a:solidFill>
          <a:ln/>
        </p:spPr>
        <p:txBody>
          <a:bodyPr wrap="square" lIns="0" tIns="0" rIns="0" bIns="0" rtlCol="0" anchor="ctr"/>
          <a:lstStyle/>
          <a:p>
            <a:pPr marL="0" indent="0" algn="ctr">
              <a:buNone/>
            </a:pPr>
            <a:r>
              <a:rPr lang="en-US" sz="750" b="1" dirty="0">
                <a:solidFill>
                  <a:srgbClr val="FFFFFF"/>
                </a:solidFill>
              </a:rPr>
              <a:t>Push to ACR</a:t>
            </a:r>
          </a:p>
        </p:txBody>
      </p:sp>
      <p:sp>
        <p:nvSpPr>
          <p:cNvPr id="109" name="Pill"/>
          <p:cNvSpPr/>
          <p:nvPr/>
        </p:nvSpPr>
        <p:spPr>
          <a:xfrm>
            <a:off x="5823600" y="1440000"/>
            <a:ext cx="1281600" cy="300000"/>
          </a:xfrm>
          <a:prstGeom prst="roundRect">
            <a:avLst>
              <a:gd name="adj" fmla="val 50000"/>
            </a:avLst>
          </a:prstGeom>
          <a:solidFill>
            <a:srgbClr val="D97706">
              <a:alpha val="20000"/>
            </a:srgbClr>
          </a:solidFill>
          <a:ln/>
        </p:spPr>
        <p:txBody>
          <a:bodyPr wrap="square" lIns="0" tIns="0" rIns="0" bIns="0" rtlCol="0" anchor="ctr"/>
          <a:lstStyle/>
          <a:p>
            <a:pPr marL="0" indent="0" algn="ctr">
              <a:buNone/>
            </a:pPr>
            <a:r>
              <a:rPr lang="en-US" sz="750" b="1" dirty="0">
                <a:solidFill>
                  <a:srgbClr val="FFFFFF"/>
                </a:solidFill>
              </a:rPr>
              <a:t>Deploy</a:t>
            </a:r>
          </a:p>
        </p:txBody>
      </p:sp>
      <p:sp>
        <p:nvSpPr>
          <p:cNvPr id="110" name="Pill"/>
          <p:cNvSpPr/>
          <p:nvPr/>
        </p:nvSpPr>
        <p:spPr>
          <a:xfrm>
            <a:off x="7165200" y="1440000"/>
            <a:ext cx="1281600" cy="300000"/>
          </a:xfrm>
          <a:prstGeom prst="roundRect">
            <a:avLst>
              <a:gd name="adj" fmla="val 50000"/>
            </a:avLst>
          </a:prstGeom>
          <a:solidFill>
            <a:srgbClr val="D97706">
              <a:alpha val="20000"/>
            </a:srgbClr>
          </a:solidFill>
          <a:ln/>
        </p:spPr>
        <p:txBody>
          <a:bodyPr wrap="square" lIns="0" tIns="0" rIns="0" bIns="0" rtlCol="0" anchor="ctr"/>
          <a:lstStyle/>
          <a:p>
            <a:pPr marL="0" indent="0" algn="ctr">
              <a:buNone/>
            </a:pPr>
            <a:r>
              <a:rPr lang="en-US" sz="750" b="1" dirty="0">
                <a:solidFill>
                  <a:srgbClr val="FFFFFF"/>
                </a:solidFill>
              </a:rPr>
              <a:t>Live on Azure</a:t>
            </a:r>
          </a:p>
        </p:txBody>
      </p:sp>
      <p:sp>
        <p:nvSpPr>
          <p:cNvPr id="111" name="Text"/>
          <p:cNvSpPr/>
          <p:nvPr/>
        </p:nvSpPr>
        <p:spPr>
          <a:xfrm>
            <a:off x="457200" y="1880000"/>
            <a:ext cx="4000000" cy="200000"/>
          </a:xfrm>
          <a:prstGeom prst="rect">
            <a:avLst/>
          </a:prstGeom>
          <a:noFill/>
          <a:ln/>
        </p:spPr>
        <p:txBody>
          <a:bodyPr wrap="square" lIns="0" tIns="0" rIns="0" bIns="0" rtlCol="0" anchor="t"/>
          <a:lstStyle/>
          <a:p>
            <a:pPr marL="0" indent="0" algn="l">
              <a:buNone/>
            </a:pPr>
            <a:r>
              <a:rPr lang="en-US" sz="1000" b="1" dirty="0">
                <a:solidFill>
                  <a:srgbClr val="FFFFFF"/>
                </a:solidFill>
              </a:rPr>
              <a:t>LangSmith — Full Request Tracing</a:t>
            </a:r>
          </a:p>
        </p:txBody>
      </p:sp>
      <p:sp>
        <p:nvSpPr>
          <p:cNvPr id="112" name="Pill"/>
          <p:cNvSpPr/>
          <p:nvPr/>
        </p:nvSpPr>
        <p:spPr>
          <a:xfrm>
            <a:off x="457200" y="2140000"/>
            <a:ext cx="1376000" cy="260000"/>
          </a:xfrm>
          <a:prstGeom prst="roundRect">
            <a:avLst>
              <a:gd name="adj" fmla="val 50000"/>
            </a:avLst>
          </a:prstGeom>
          <a:solidFill>
            <a:srgbClr val="0891B2">
              <a:alpha val="20000"/>
            </a:srgbClr>
          </a:solidFill>
          <a:ln/>
        </p:spPr>
        <p:txBody>
          <a:bodyPr wrap="square" lIns="0" tIns="0" rIns="0" bIns="0" rtlCol="0" anchor="ctr"/>
          <a:lstStyle/>
          <a:p>
            <a:pPr marL="0" indent="0" algn="ctr">
              <a:buNone/>
            </a:pPr>
            <a:r>
              <a:rPr lang="en-US" sz="700" b="1" dirty="0">
                <a:solidFill>
                  <a:srgbClr val="FFFFFF"/>
                </a:solidFill>
              </a:rPr>
              <a:t>auth.login_attempt</a:t>
            </a:r>
          </a:p>
        </p:txBody>
      </p:sp>
      <p:sp>
        <p:nvSpPr>
          <p:cNvPr id="113" name="Pill"/>
          <p:cNvSpPr/>
          <p:nvPr/>
        </p:nvSpPr>
        <p:spPr>
          <a:xfrm>
            <a:off x="1893200" y="2140000"/>
            <a:ext cx="1438000" cy="260000"/>
          </a:xfrm>
          <a:prstGeom prst="roundRect">
            <a:avLst>
              <a:gd name="adj" fmla="val 50000"/>
            </a:avLst>
          </a:prstGeom>
          <a:solidFill>
            <a:srgbClr val="0891B2">
              <a:alpha val="20000"/>
            </a:srgbClr>
          </a:solidFill>
          <a:ln/>
        </p:spPr>
        <p:txBody>
          <a:bodyPr wrap="square" lIns="0" tIns="0" rIns="0" bIns="0" rtlCol="0" anchor="ctr"/>
          <a:lstStyle/>
          <a:p>
            <a:pPr marL="0" indent="0" algn="ctr">
              <a:buNone/>
            </a:pPr>
            <a:r>
              <a:rPr lang="en-US" sz="700" b="1" dirty="0">
                <a:solidFill>
                  <a:srgbClr val="FFFFFF"/>
                </a:solidFill>
              </a:rPr>
              <a:t>document_processing</a:t>
            </a:r>
          </a:p>
        </p:txBody>
      </p:sp>
      <p:sp>
        <p:nvSpPr>
          <p:cNvPr id="114" name="Pill"/>
          <p:cNvSpPr/>
          <p:nvPr/>
        </p:nvSpPr>
        <p:spPr>
          <a:xfrm>
            <a:off x="3391200" y="2140000"/>
            <a:ext cx="1314000" cy="260000"/>
          </a:xfrm>
          <a:prstGeom prst="roundRect">
            <a:avLst>
              <a:gd name="adj" fmla="val 50000"/>
            </a:avLst>
          </a:prstGeom>
          <a:solidFill>
            <a:srgbClr val="0891B2">
              <a:alpha val="20000"/>
            </a:srgbClr>
          </a:solidFill>
          <a:ln/>
        </p:spPr>
        <p:txBody>
          <a:bodyPr wrap="square" lIns="0" tIns="0" rIns="0" bIns="0" rtlCol="0" anchor="ctr"/>
          <a:lstStyle/>
          <a:p>
            <a:pPr marL="0" indent="0" algn="ctr">
              <a:buNone/>
            </a:pPr>
            <a:r>
              <a:rPr lang="en-US" sz="700" b="1" dirty="0">
                <a:solidFill>
                  <a:srgbClr val="FFFFFF"/>
                </a:solidFill>
              </a:rPr>
              <a:t>run_risk_analysis</a:t>
            </a:r>
          </a:p>
        </p:txBody>
      </p:sp>
      <p:sp>
        <p:nvSpPr>
          <p:cNvPr id="115" name="Pill"/>
          <p:cNvSpPr/>
          <p:nvPr/>
        </p:nvSpPr>
        <p:spPr>
          <a:xfrm>
            <a:off x="4765200" y="2140000"/>
            <a:ext cx="1748000" cy="260000"/>
          </a:xfrm>
          <a:prstGeom prst="roundRect">
            <a:avLst>
              <a:gd name="adj" fmla="val 50000"/>
            </a:avLst>
          </a:prstGeom>
          <a:solidFill>
            <a:srgbClr val="0891B2">
              <a:alpha val="20000"/>
            </a:srgbClr>
          </a:solidFill>
          <a:ln/>
        </p:spPr>
        <p:txBody>
          <a:bodyPr wrap="square" lIns="0" tIns="0" rIns="0" bIns="0" rtlCol="0" anchor="ctr"/>
          <a:lstStyle/>
          <a:p>
            <a:pPr marL="0" indent="0" algn="ctr">
              <a:buNone/>
            </a:pPr>
            <a:r>
              <a:rPr lang="en-US" sz="700" b="1" dirty="0">
                <a:solidFill>
                  <a:srgbClr val="FFFFFF"/>
                </a:solidFill>
              </a:rPr>
              <a:t>retrieval_agent.retrieve</a:t>
            </a:r>
          </a:p>
        </p:txBody>
      </p:sp>
      <p:sp>
        <p:nvSpPr>
          <p:cNvPr id="116" name="Pill"/>
          <p:cNvSpPr/>
          <p:nvPr/>
        </p:nvSpPr>
        <p:spPr>
          <a:xfrm>
            <a:off x="6573200" y="2140000"/>
            <a:ext cx="1872000" cy="260000"/>
          </a:xfrm>
          <a:prstGeom prst="roundRect">
            <a:avLst>
              <a:gd name="adj" fmla="val 50000"/>
            </a:avLst>
          </a:prstGeom>
          <a:solidFill>
            <a:srgbClr val="0891B2">
              <a:alpha val="20000"/>
            </a:srgbClr>
          </a:solidFill>
          <a:ln/>
        </p:spPr>
        <p:txBody>
          <a:bodyPr wrap="square" lIns="0" tIns="0" rIns="0" bIns="0" rtlCol="0" anchor="ctr"/>
          <a:lstStyle/>
          <a:p>
            <a:pPr marL="0" indent="0" algn="ctr">
              <a:buNone/>
            </a:pPr>
            <a:r>
              <a:rPr lang="en-US" sz="700" b="1" dirty="0">
                <a:solidFill>
                  <a:srgbClr val="FFFFFF"/>
                </a:solidFill>
              </a:rPr>
              <a:t>chat_agent.answer_question</a:t>
            </a:r>
          </a:p>
        </p:txBody>
      </p:sp>
      <p:sp>
        <p:nvSpPr>
          <p:cNvPr id="117" name="Text"/>
          <p:cNvSpPr/>
          <p:nvPr/>
        </p:nvSpPr>
        <p:spPr>
          <a:xfrm>
            <a:off x="457200" y="2780000"/>
            <a:ext cx="4000000" cy="200000"/>
          </a:xfrm>
          <a:prstGeom prst="rect">
            <a:avLst/>
          </a:prstGeom>
          <a:noFill/>
          <a:ln/>
        </p:spPr>
        <p:txBody>
          <a:bodyPr wrap="square" lIns="0" tIns="0" rIns="0" bIns="0" rtlCol="0" anchor="t"/>
          <a:lstStyle/>
          <a:p>
            <a:pPr marL="0" indent="0" algn="l">
              <a:buNone/>
            </a:pPr>
            <a:r>
              <a:rPr lang="en-US" sz="1000" b="1" dirty="0">
                <a:solidFill>
                  <a:srgbClr val="FFFFFF"/>
                </a:solidFill>
              </a:rPr>
              <a:t>Live on Azure App Service</a:t>
            </a:r>
          </a:p>
        </p:txBody>
      </p:sp>
      <p:sp>
        <p:nvSpPr>
          <p:cNvPr id="118" name="Card"/>
          <p:cNvSpPr/>
          <p:nvPr/>
        </p:nvSpPr>
        <p:spPr>
          <a:xfrm>
            <a:off x="457200" y="3040000"/>
            <a:ext cx="1976700" cy="760000"/>
          </a:xfrm>
          <a:prstGeom prst="roundRect">
            <a:avLst>
              <a:gd name="adj" fmla="val 8000"/>
            </a:avLst>
          </a:prstGeom>
          <a:solidFill>
            <a:srgbClr val="162032"/>
          </a:solidFill>
          <a:ln/>
          <a:effectLst>
            <a:outerShdw blurRad="101600" dist="38100" dir="2700000" algn="bl" rotWithShape="0">
              <a:srgbClr val="000000">
                <a:alpha val="18000"/>
              </a:srgbClr>
            </a:outerShdw>
          </a:effectLst>
        </p:spPr>
      </p:sp>
      <p:sp>
        <p:nvSpPr>
          <p:cNvPr id="119" name="Text"/>
          <p:cNvSpPr/>
          <p:nvPr/>
        </p:nvSpPr>
        <p:spPr>
          <a:xfrm>
            <a:off x="587200" y="3120000"/>
            <a:ext cx="400000" cy="300000"/>
          </a:xfrm>
          <a:prstGeom prst="rect">
            <a:avLst/>
          </a:prstGeom>
          <a:noFill/>
          <a:ln/>
        </p:spPr>
        <p:txBody>
          <a:bodyPr wrap="square" lIns="0" tIns="0" rIns="0" bIns="0" rtlCol="0" anchor="t"/>
          <a:lstStyle/>
          <a:p>
            <a:pPr marL="0" indent="0" algn="l">
              <a:buNone/>
            </a:pPr>
            <a:r>
              <a:rPr lang="en-US" sz="1400" b="0" dirty="0">
                <a:solidFill>
                  <a:srgbClr val="FFFFFF"/>
                </a:solidFill>
              </a:rPr>
              <a:t>📦</a:t>
            </a:r>
          </a:p>
        </p:txBody>
      </p:sp>
      <p:sp>
        <p:nvSpPr>
          <p:cNvPr id="120" name="Text"/>
          <p:cNvSpPr/>
          <p:nvPr/>
        </p:nvSpPr>
        <p:spPr>
          <a:xfrm>
            <a:off x="587200" y="3420000"/>
            <a:ext cx="1716700" cy="200000"/>
          </a:xfrm>
          <a:prstGeom prst="rect">
            <a:avLst/>
          </a:prstGeom>
          <a:noFill/>
          <a:ln/>
        </p:spPr>
        <p:txBody>
          <a:bodyPr wrap="square" lIns="0" tIns="0" rIns="0" bIns="0" rtlCol="0" anchor="t"/>
          <a:lstStyle/>
          <a:p>
            <a:pPr marL="0" indent="0" algn="l">
              <a:buNone/>
            </a:pPr>
            <a:r>
              <a:rPr lang="en-US" sz="850" b="1" dirty="0">
                <a:solidFill>
                  <a:srgbClr val="FFFFFF"/>
                </a:solidFill>
              </a:rPr>
              <a:t>Container Registry</a:t>
            </a:r>
          </a:p>
        </p:txBody>
      </p:sp>
      <p:sp>
        <p:nvSpPr>
          <p:cNvPr id="121" name="Text"/>
          <p:cNvSpPr/>
          <p:nvPr/>
        </p:nvSpPr>
        <p:spPr>
          <a:xfrm>
            <a:off x="587200" y="3610000"/>
            <a:ext cx="1716700" cy="300000"/>
          </a:xfrm>
          <a:prstGeom prst="rect">
            <a:avLst/>
          </a:prstGeom>
          <a:noFill/>
          <a:ln/>
        </p:spPr>
        <p:txBody>
          <a:bodyPr wrap="square" lIns="0" tIns="0" rIns="0" bIns="0" rtlCol="0" anchor="t"/>
          <a:lstStyle/>
          <a:p>
            <a:pPr marL="0" indent="0" algn="l">
              <a:lnSpc>
                <a:spcPct val="110000"/>
              </a:lnSpc>
              <a:buNone/>
            </a:pPr>
            <a:r>
              <a:rPr lang="en-US" sz="700" b="0" dirty="0">
                <a:solidFill>
                  <a:srgbClr val="94A3B8"/>
                </a:solidFill>
              </a:rPr>
              <a:t>creditriskakash7272.azurecr.io</a:t>
            </a:r>
          </a:p>
        </p:txBody>
      </p:sp>
      <p:sp>
        <p:nvSpPr>
          <p:cNvPr id="122" name="Card"/>
          <p:cNvSpPr/>
          <p:nvPr/>
        </p:nvSpPr>
        <p:spPr>
          <a:xfrm>
            <a:off x="2454100" y="3040000"/>
            <a:ext cx="1976700" cy="760000"/>
          </a:xfrm>
          <a:prstGeom prst="roundRect">
            <a:avLst>
              <a:gd name="adj" fmla="val 8000"/>
            </a:avLst>
          </a:prstGeom>
          <a:solidFill>
            <a:srgbClr val="162032"/>
          </a:solidFill>
          <a:ln/>
          <a:effectLst>
            <a:outerShdw blurRad="101600" dist="38100" dir="2700000" algn="bl" rotWithShape="0">
              <a:srgbClr val="000000">
                <a:alpha val="18000"/>
              </a:srgbClr>
            </a:outerShdw>
          </a:effectLst>
        </p:spPr>
      </p:sp>
      <p:sp>
        <p:nvSpPr>
          <p:cNvPr id="123" name="Text"/>
          <p:cNvSpPr/>
          <p:nvPr/>
        </p:nvSpPr>
        <p:spPr>
          <a:xfrm>
            <a:off x="2584100" y="3120000"/>
            <a:ext cx="400000" cy="300000"/>
          </a:xfrm>
          <a:prstGeom prst="rect">
            <a:avLst/>
          </a:prstGeom>
          <a:noFill/>
          <a:ln/>
        </p:spPr>
        <p:txBody>
          <a:bodyPr wrap="square" lIns="0" tIns="0" rIns="0" bIns="0" rtlCol="0" anchor="t"/>
          <a:lstStyle/>
          <a:p>
            <a:pPr marL="0" indent="0" algn="l">
              <a:buNone/>
            </a:pPr>
            <a:r>
              <a:rPr lang="en-US" sz="1400" b="0" dirty="0">
                <a:solidFill>
                  <a:srgbClr val="FFFFFF"/>
                </a:solidFill>
              </a:rPr>
              <a:t>⚙️</a:t>
            </a:r>
          </a:p>
        </p:txBody>
      </p:sp>
      <p:sp>
        <p:nvSpPr>
          <p:cNvPr id="124" name="Text"/>
          <p:cNvSpPr/>
          <p:nvPr/>
        </p:nvSpPr>
        <p:spPr>
          <a:xfrm>
            <a:off x="2584100" y="3420000"/>
            <a:ext cx="1716700" cy="200000"/>
          </a:xfrm>
          <a:prstGeom prst="rect">
            <a:avLst/>
          </a:prstGeom>
          <a:noFill/>
          <a:ln/>
        </p:spPr>
        <p:txBody>
          <a:bodyPr wrap="square" lIns="0" tIns="0" rIns="0" bIns="0" rtlCol="0" anchor="t"/>
          <a:lstStyle/>
          <a:p>
            <a:pPr marL="0" indent="0" algn="l">
              <a:buNone/>
            </a:pPr>
            <a:r>
              <a:rPr lang="en-US" sz="850" b="1" dirty="0">
                <a:solidFill>
                  <a:srgbClr val="FFFFFF"/>
                </a:solidFill>
              </a:rPr>
              <a:t>App Service Plan</a:t>
            </a:r>
          </a:p>
        </p:txBody>
      </p:sp>
      <p:sp>
        <p:nvSpPr>
          <p:cNvPr id="125" name="Text"/>
          <p:cNvSpPr/>
          <p:nvPr/>
        </p:nvSpPr>
        <p:spPr>
          <a:xfrm>
            <a:off x="2584100" y="3610000"/>
            <a:ext cx="1716700" cy="300000"/>
          </a:xfrm>
          <a:prstGeom prst="rect">
            <a:avLst/>
          </a:prstGeom>
          <a:noFill/>
          <a:ln/>
        </p:spPr>
        <p:txBody>
          <a:bodyPr wrap="square" lIns="0" tIns="0" rIns="0" bIns="0" rtlCol="0" anchor="t"/>
          <a:lstStyle/>
          <a:p>
            <a:pPr marL="0" indent="0" algn="l">
              <a:lnSpc>
                <a:spcPct val="110000"/>
              </a:lnSpc>
              <a:buNone/>
            </a:pPr>
            <a:r>
              <a:rPr lang="en-US" sz="700" b="0" dirty="0">
                <a:solidFill>
                  <a:srgbClr val="94A3B8"/>
                </a:solidFill>
              </a:rPr>
              <a:t>B2 — 2 CPU, 3.5GB RAM</a:t>
            </a:r>
          </a:p>
        </p:txBody>
      </p:sp>
      <p:sp>
        <p:nvSpPr>
          <p:cNvPr id="126" name="Card"/>
          <p:cNvSpPr/>
          <p:nvPr/>
        </p:nvSpPr>
        <p:spPr>
          <a:xfrm>
            <a:off x="4451000" y="3040000"/>
            <a:ext cx="1976700" cy="760000"/>
          </a:xfrm>
          <a:prstGeom prst="roundRect">
            <a:avLst>
              <a:gd name="adj" fmla="val 8000"/>
            </a:avLst>
          </a:prstGeom>
          <a:solidFill>
            <a:srgbClr val="162032"/>
          </a:solidFill>
          <a:ln/>
          <a:effectLst>
            <a:outerShdw blurRad="101600" dist="38100" dir="2700000" algn="bl" rotWithShape="0">
              <a:srgbClr val="000000">
                <a:alpha val="18000"/>
              </a:srgbClr>
            </a:outerShdw>
          </a:effectLst>
        </p:spPr>
      </p:sp>
      <p:sp>
        <p:nvSpPr>
          <p:cNvPr id="127" name="Text"/>
          <p:cNvSpPr/>
          <p:nvPr/>
        </p:nvSpPr>
        <p:spPr>
          <a:xfrm>
            <a:off x="4581000" y="3120000"/>
            <a:ext cx="400000" cy="300000"/>
          </a:xfrm>
          <a:prstGeom prst="rect">
            <a:avLst/>
          </a:prstGeom>
          <a:noFill/>
          <a:ln/>
        </p:spPr>
        <p:txBody>
          <a:bodyPr wrap="square" lIns="0" tIns="0" rIns="0" bIns="0" rtlCol="0" anchor="t"/>
          <a:lstStyle/>
          <a:p>
            <a:pPr marL="0" indent="0" algn="l">
              <a:buNone/>
            </a:pPr>
            <a:r>
              <a:rPr lang="en-US" sz="1400" b="0" dirty="0">
                <a:solidFill>
                  <a:srgbClr val="FFFFFF"/>
                </a:solidFill>
              </a:rPr>
              <a:t>🌐</a:t>
            </a:r>
          </a:p>
        </p:txBody>
      </p:sp>
      <p:sp>
        <p:nvSpPr>
          <p:cNvPr id="128" name="Text"/>
          <p:cNvSpPr/>
          <p:nvPr/>
        </p:nvSpPr>
        <p:spPr>
          <a:xfrm>
            <a:off x="4581000" y="3420000"/>
            <a:ext cx="1716700" cy="200000"/>
          </a:xfrm>
          <a:prstGeom prst="rect">
            <a:avLst/>
          </a:prstGeom>
          <a:noFill/>
          <a:ln/>
        </p:spPr>
        <p:txBody>
          <a:bodyPr wrap="square" lIns="0" tIns="0" rIns="0" bIns="0" rtlCol="0" anchor="t"/>
          <a:lstStyle/>
          <a:p>
            <a:pPr marL="0" indent="0" algn="l">
              <a:buNone/>
            </a:pPr>
            <a:r>
              <a:rPr lang="en-US" sz="850" b="1" dirty="0">
                <a:solidFill>
                  <a:srgbClr val="FFFFFF"/>
                </a:solidFill>
              </a:rPr>
              <a:t>Web App</a:t>
            </a:r>
          </a:p>
        </p:txBody>
      </p:sp>
      <p:sp>
        <p:nvSpPr>
          <p:cNvPr id="129" name="Text"/>
          <p:cNvSpPr/>
          <p:nvPr/>
        </p:nvSpPr>
        <p:spPr>
          <a:xfrm>
            <a:off x="4581000" y="3610000"/>
            <a:ext cx="1716700" cy="300000"/>
          </a:xfrm>
          <a:prstGeom prst="rect">
            <a:avLst/>
          </a:prstGeom>
          <a:noFill/>
          <a:ln/>
        </p:spPr>
        <p:txBody>
          <a:bodyPr wrap="square" lIns="0" tIns="0" rIns="0" bIns="0" rtlCol="0" anchor="t"/>
          <a:lstStyle/>
          <a:p>
            <a:pPr marL="0" indent="0" algn="l">
              <a:lnSpc>
                <a:spcPct val="110000"/>
              </a:lnSpc>
              <a:buNone/>
            </a:pPr>
            <a:r>
              <a:rPr lang="en-US" sz="700" b="0" dirty="0">
                <a:solidFill>
                  <a:srgbClr val="94A3B8"/>
                </a:solidFill>
              </a:rPr>
              <a:t>creditriskplatform.azurewebsites.net</a:t>
            </a:r>
          </a:p>
        </p:txBody>
      </p:sp>
      <p:sp>
        <p:nvSpPr>
          <p:cNvPr id="130" name="Card"/>
          <p:cNvSpPr/>
          <p:nvPr/>
        </p:nvSpPr>
        <p:spPr>
          <a:xfrm>
            <a:off x="6447900" y="3040000"/>
            <a:ext cx="1976700" cy="760000"/>
          </a:xfrm>
          <a:prstGeom prst="roundRect">
            <a:avLst>
              <a:gd name="adj" fmla="val 8000"/>
            </a:avLst>
          </a:prstGeom>
          <a:solidFill>
            <a:srgbClr val="162032"/>
          </a:solidFill>
          <a:ln/>
          <a:effectLst>
            <a:outerShdw blurRad="101600" dist="38100" dir="2700000" algn="bl" rotWithShape="0">
              <a:srgbClr val="000000">
                <a:alpha val="18000"/>
              </a:srgbClr>
            </a:outerShdw>
          </a:effectLst>
        </p:spPr>
      </p:sp>
      <p:sp>
        <p:nvSpPr>
          <p:cNvPr id="131" name="Text"/>
          <p:cNvSpPr/>
          <p:nvPr/>
        </p:nvSpPr>
        <p:spPr>
          <a:xfrm>
            <a:off x="6577900" y="3120000"/>
            <a:ext cx="400000" cy="300000"/>
          </a:xfrm>
          <a:prstGeom prst="rect">
            <a:avLst/>
          </a:prstGeom>
          <a:noFill/>
          <a:ln/>
        </p:spPr>
        <p:txBody>
          <a:bodyPr wrap="square" lIns="0" tIns="0" rIns="0" bIns="0" rtlCol="0" anchor="t"/>
          <a:lstStyle/>
          <a:p>
            <a:pPr marL="0" indent="0" algn="l">
              <a:buNone/>
            </a:pPr>
            <a:r>
              <a:rPr lang="en-US" sz="1400" b="0" dirty="0">
                <a:solidFill>
                  <a:srgbClr val="FFFFFF"/>
                </a:solidFill>
              </a:rPr>
              <a:t>🔑</a:t>
            </a:r>
          </a:p>
        </p:txBody>
      </p:sp>
      <p:sp>
        <p:nvSpPr>
          <p:cNvPr id="132" name="Text"/>
          <p:cNvSpPr/>
          <p:nvPr/>
        </p:nvSpPr>
        <p:spPr>
          <a:xfrm>
            <a:off x="6577900" y="3420000"/>
            <a:ext cx="1716700" cy="200000"/>
          </a:xfrm>
          <a:prstGeom prst="rect">
            <a:avLst/>
          </a:prstGeom>
          <a:noFill/>
          <a:ln/>
        </p:spPr>
        <p:txBody>
          <a:bodyPr wrap="square" lIns="0" tIns="0" rIns="0" bIns="0" rtlCol="0" anchor="t"/>
          <a:lstStyle/>
          <a:p>
            <a:pPr marL="0" indent="0" algn="l">
              <a:buNone/>
            </a:pPr>
            <a:r>
              <a:rPr lang="en-US" sz="850" b="1" dirty="0">
                <a:solidFill>
                  <a:srgbClr val="FFFFFF"/>
                </a:solidFill>
              </a:rPr>
              <a:t>Environment Vars</a:t>
            </a:r>
          </a:p>
        </p:txBody>
      </p:sp>
      <p:sp>
        <p:nvSpPr>
          <p:cNvPr id="133" name="Text"/>
          <p:cNvSpPr/>
          <p:nvPr/>
        </p:nvSpPr>
        <p:spPr>
          <a:xfrm>
            <a:off x="6577900" y="3610000"/>
            <a:ext cx="1716700" cy="300000"/>
          </a:xfrm>
          <a:prstGeom prst="rect">
            <a:avLst/>
          </a:prstGeom>
          <a:noFill/>
          <a:ln/>
        </p:spPr>
        <p:txBody>
          <a:bodyPr wrap="square" lIns="0" tIns="0" rIns="0" bIns="0" rtlCol="0" anchor="t"/>
          <a:lstStyle/>
          <a:p>
            <a:pPr marL="0" indent="0" algn="l">
              <a:lnSpc>
                <a:spcPct val="110000"/>
              </a:lnSpc>
              <a:buNone/>
            </a:pPr>
            <a:r>
              <a:rPr lang="en-US" sz="700" b="0" dirty="0">
                <a:solidFill>
                  <a:srgbClr val="94A3B8"/>
                </a:solidFill>
              </a:rPr>
              <a:t>13 secure settings, never baked into image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F1B2D"/>
        </a:solidFill>
        <a:effectLst/>
      </p:bgPr>
    </p:bg>
    <p:spTree>
      <p:nvGrpSpPr>
        <p:cNvPr id="1" name=""/>
        <p:cNvGrpSpPr/>
        <p:nvPr/>
      </p:nvGrpSpPr>
      <p:grpSpPr>
        <a:xfrm>
          <a:off x="0" y="0"/>
          <a:ext cx="0" cy="0"/>
          <a:chOff x="0" y="0"/>
          <a:chExt cx="0" cy="0"/>
        </a:xfrm>
      </p:grpSpPr>
      <p:sp>
        <p:nvSpPr>
          <p:cNvPr id="101" name="Badge"/>
          <p:cNvSpPr/>
          <p:nvPr/>
        </p:nvSpPr>
        <p:spPr>
          <a:xfrm>
            <a:off x="457200" y="274320"/>
            <a:ext cx="1350000" cy="256032"/>
          </a:xfrm>
          <a:prstGeom prst="roundRect">
            <a:avLst>
              <a:gd name="adj" fmla="val 50000"/>
            </a:avLst>
          </a:prstGeom>
          <a:solidFill>
            <a:srgbClr val="059669">
              <a:alpha val="25000"/>
            </a:srgbClr>
          </a:solidFill>
          <a:ln/>
        </p:spPr>
      </p:sp>
      <p:sp>
        <p:nvSpPr>
          <p:cNvPr id="102" name="BadgeText"/>
          <p:cNvSpPr/>
          <p:nvPr/>
        </p:nvSpPr>
        <p:spPr>
          <a:xfrm>
            <a:off x="457200" y="274320"/>
            <a:ext cx="1350000" cy="25603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0" cap="none" spc="150" normalizeH="0" baseline="0" noProof="0" dirty="0">
                <a:ln>
                  <a:noFill/>
                </a:ln>
                <a:solidFill>
                  <a:srgbClr val="059669"/>
                </a:solidFill>
                <a:effectLst/>
                <a:uLnTx/>
                <a:uFillTx/>
                <a:latin typeface="Calibri" panose="020F0502020204030204"/>
                <a:ea typeface="+mn-ea"/>
                <a:cs typeface="+mn-cs"/>
              </a:rPr>
              <a:t>WRAP-UP</a:t>
            </a:r>
          </a:p>
        </p:txBody>
      </p:sp>
      <p:sp>
        <p:nvSpPr>
          <p:cNvPr id="103" name="Title"/>
          <p:cNvSpPr/>
          <p:nvPr/>
        </p:nvSpPr>
        <p:spPr>
          <a:xfrm>
            <a:off x="417755" y="475218"/>
            <a:ext cx="8229600" cy="4600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FFFF"/>
                </a:solidFill>
                <a:effectLst/>
                <a:uLnTx/>
                <a:uFillTx/>
                <a:latin typeface="Cambria" pitchFamily="34" charset="0"/>
                <a:ea typeface="+mn-ea"/>
                <a:cs typeface="+mn-cs"/>
              </a:rPr>
              <a:t>The Codebase &amp; Credits</a:t>
            </a:r>
          </a:p>
        </p:txBody>
      </p:sp>
      <p:sp>
        <p:nvSpPr>
          <p:cNvPr id="104" name="Rounded Rectangle 103"/>
          <p:cNvSpPr/>
          <p:nvPr/>
        </p:nvSpPr>
        <p:spPr>
          <a:xfrm>
            <a:off x="457200" y="950000"/>
            <a:ext cx="8229600" cy="700000"/>
          </a:xfrm>
          <a:prstGeom prst="roundRect">
            <a:avLst>
              <a:gd name="adj" fmla="val 15000"/>
            </a:avLst>
          </a:prstGeom>
          <a:solidFill>
            <a:srgbClr val="162032"/>
          </a:solidFill>
          <a:ln w="9525">
            <a:solidFill>
              <a:srgbClr val="D9B8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5" name="Oval 104"/>
          <p:cNvSpPr/>
          <p:nvPr/>
        </p:nvSpPr>
        <p:spPr>
          <a:xfrm>
            <a:off x="620000" y="1130000"/>
            <a:ext cx="340000" cy="340000"/>
          </a:xfrm>
          <a:prstGeom prst="ellipse">
            <a:avLst/>
          </a:prstGeom>
          <a:solidFill>
            <a:srgbClr val="4A35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6" name="TextBox 105"/>
          <p:cNvSpPr txBox="1"/>
          <p:nvPr/>
        </p:nvSpPr>
        <p:spPr>
          <a:xfrm>
            <a:off x="620000" y="1180000"/>
            <a:ext cx="340000" cy="240000"/>
          </a:xfrm>
          <a:prstGeom prst="rect">
            <a:avLst/>
          </a:prstGeom>
          <a:noFill/>
        </p:spPr>
        <p:txBody>
          <a:bodyPr wrap="squar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300" b="1" i="0" u="none" strike="noStrike" kern="1200" cap="none" spc="0" normalizeH="0" baseline="0" noProof="0">
                <a:ln>
                  <a:noFill/>
                </a:ln>
                <a:solidFill>
                  <a:srgbClr val="D9B84A"/>
                </a:solidFill>
                <a:effectLst/>
                <a:uLnTx/>
                <a:uFillTx/>
                <a:latin typeface="Calibri"/>
                <a:ea typeface="+mn-ea"/>
                <a:cs typeface="+mn-cs"/>
              </a:rPr>
              <a:t>!</a:t>
            </a:r>
          </a:p>
        </p:txBody>
      </p:sp>
      <p:sp>
        <p:nvSpPr>
          <p:cNvPr id="107" name="TextBox 106"/>
          <p:cNvSpPr txBox="1"/>
          <p:nvPr/>
        </p:nvSpPr>
        <p:spPr>
          <a:xfrm>
            <a:off x="1130000" y="1040000"/>
            <a:ext cx="7350000" cy="323165"/>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0" i="0" u="none" strike="noStrike" kern="1200" cap="none" spc="0" normalizeH="0" baseline="0" noProof="0" dirty="0">
                <a:ln>
                  <a:noFill/>
                </a:ln>
                <a:solidFill>
                  <a:srgbClr val="E2E8F0"/>
                </a:solidFill>
                <a:effectLst/>
                <a:uLnTx/>
                <a:uFillTx/>
                <a:latin typeface="Calibri"/>
                <a:ea typeface="+mn-ea"/>
                <a:cs typeface="+mn-cs"/>
              </a:rPr>
              <a:t>With gratitude — built end-to-end by a 2-person team over 5 days for the EY Training 2026 Capstone, with guidance from o</a:t>
            </a:r>
            <a:r>
              <a:rPr kumimoji="0" lang="en-US" sz="1050" b="0" i="0" u="none" strike="noStrike" kern="1200" cap="none" spc="0" normalizeH="0" baseline="0" noProof="0" dirty="0">
                <a:ln>
                  <a:noFill/>
                </a:ln>
                <a:solidFill>
                  <a:srgbClr val="E2E8F0"/>
                </a:solidFill>
                <a:effectLst/>
                <a:uLnTx/>
                <a:uFillTx/>
                <a:latin typeface="Calibri"/>
                <a:ea typeface="+mn-ea"/>
                <a:cs typeface="+mn-cs"/>
              </a:rPr>
              <a:t>ur trainer Rajat Garg</a:t>
            </a:r>
            <a:r>
              <a:rPr kumimoji="0" sz="1050" b="0" i="0" u="none" strike="noStrike" kern="1200" cap="none" spc="0" normalizeH="0" baseline="0" noProof="0" dirty="0">
                <a:ln>
                  <a:noFill/>
                </a:ln>
                <a:solidFill>
                  <a:srgbClr val="E2E8F0"/>
                </a:solidFill>
                <a:effectLst/>
                <a:uLnTx/>
                <a:uFillTx/>
                <a:latin typeface="Calibri"/>
                <a:ea typeface="+mn-ea"/>
                <a:cs typeface="+mn-cs"/>
              </a:rPr>
              <a:t> throughout the training sessions.</a:t>
            </a:r>
          </a:p>
        </p:txBody>
      </p:sp>
      <p:sp>
        <p:nvSpPr>
          <p:cNvPr id="108" name="TextBox 107"/>
          <p:cNvSpPr txBox="1"/>
          <p:nvPr/>
        </p:nvSpPr>
        <p:spPr>
          <a:xfrm>
            <a:off x="457200" y="1850000"/>
            <a:ext cx="4000000" cy="260000"/>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059669"/>
                </a:solidFill>
                <a:effectLst/>
                <a:uLnTx/>
                <a:uFillTx/>
                <a:latin typeface="Calibri"/>
                <a:ea typeface="+mn-ea"/>
                <a:cs typeface="+mn-cs"/>
              </a:rPr>
              <a:t>BY THE NUMBERS</a:t>
            </a:r>
          </a:p>
        </p:txBody>
      </p:sp>
      <p:sp>
        <p:nvSpPr>
          <p:cNvPr id="109" name="Oval 108"/>
          <p:cNvSpPr/>
          <p:nvPr/>
        </p:nvSpPr>
        <p:spPr>
          <a:xfrm>
            <a:off x="457200" y="2250000"/>
            <a:ext cx="190000" cy="190000"/>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0" name="TextBox 109"/>
          <p:cNvSpPr txBox="1"/>
          <p:nvPr/>
        </p:nvSpPr>
        <p:spPr>
          <a:xfrm>
            <a:off x="497200" y="2275000"/>
            <a:ext cx="140000" cy="140000"/>
          </a:xfrm>
          <a:prstGeom prst="rect">
            <a:avLst/>
          </a:prstGeom>
          <a:noFill/>
        </p:spPr>
        <p:txBody>
          <a:bodyPr wrap="squar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900" b="1" i="0" u="none" strike="noStrike" kern="1200" cap="none" spc="0" normalizeH="0" baseline="0" noProof="0">
                <a:ln>
                  <a:noFill/>
                </a:ln>
                <a:solidFill>
                  <a:srgbClr val="FFFFFF"/>
                </a:solidFill>
                <a:effectLst/>
                <a:uLnTx/>
                <a:uFillTx/>
                <a:latin typeface="Calibri"/>
                <a:ea typeface="+mn-ea"/>
                <a:cs typeface="+mn-cs"/>
              </a:rPr>
              <a:t>✓</a:t>
            </a:r>
          </a:p>
        </p:txBody>
      </p:sp>
      <p:sp>
        <p:nvSpPr>
          <p:cNvPr id="111" name="TextBox 110"/>
          <p:cNvSpPr txBox="1"/>
          <p:nvPr/>
        </p:nvSpPr>
        <p:spPr>
          <a:xfrm>
            <a:off x="737200" y="2230000"/>
            <a:ext cx="3870000" cy="320000"/>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0" i="0" u="none" strike="noStrike" kern="1200" cap="none" spc="0" normalizeH="0" baseline="0" noProof="0">
                <a:ln>
                  <a:noFill/>
                </a:ln>
                <a:solidFill>
                  <a:srgbClr val="E2E8F0"/>
                </a:solidFill>
                <a:effectLst/>
                <a:uLnTx/>
                <a:uFillTx/>
                <a:latin typeface="Calibri"/>
                <a:ea typeface="+mn-ea"/>
                <a:cs typeface="+mn-cs"/>
              </a:rPr>
              <a:t>11,625 total lines of code (Python + docs/config)</a:t>
            </a:r>
          </a:p>
        </p:txBody>
      </p:sp>
      <p:sp>
        <p:nvSpPr>
          <p:cNvPr id="112" name="Oval 111"/>
          <p:cNvSpPr/>
          <p:nvPr/>
        </p:nvSpPr>
        <p:spPr>
          <a:xfrm>
            <a:off x="457200" y="2650000"/>
            <a:ext cx="190000" cy="190000"/>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3" name="TextBox 112"/>
          <p:cNvSpPr txBox="1"/>
          <p:nvPr/>
        </p:nvSpPr>
        <p:spPr>
          <a:xfrm>
            <a:off x="497200" y="2675000"/>
            <a:ext cx="140000" cy="140000"/>
          </a:xfrm>
          <a:prstGeom prst="rect">
            <a:avLst/>
          </a:prstGeom>
          <a:noFill/>
        </p:spPr>
        <p:txBody>
          <a:bodyPr wrap="squar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900" b="1" i="0" u="none" strike="noStrike" kern="1200" cap="none" spc="0" normalizeH="0" baseline="0" noProof="0">
                <a:ln>
                  <a:noFill/>
                </a:ln>
                <a:solidFill>
                  <a:srgbClr val="FFFFFF"/>
                </a:solidFill>
                <a:effectLst/>
                <a:uLnTx/>
                <a:uFillTx/>
                <a:latin typeface="Calibri"/>
                <a:ea typeface="+mn-ea"/>
                <a:cs typeface="+mn-cs"/>
              </a:rPr>
              <a:t>✓</a:t>
            </a:r>
          </a:p>
        </p:txBody>
      </p:sp>
      <p:sp>
        <p:nvSpPr>
          <p:cNvPr id="114" name="TextBox 113"/>
          <p:cNvSpPr txBox="1"/>
          <p:nvPr/>
        </p:nvSpPr>
        <p:spPr>
          <a:xfrm>
            <a:off x="737200" y="2630000"/>
            <a:ext cx="3870000" cy="320000"/>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0" i="0" u="none" strike="noStrike" kern="1200" cap="none" spc="0" normalizeH="0" baseline="0" noProof="0">
                <a:ln>
                  <a:noFill/>
                </a:ln>
                <a:solidFill>
                  <a:srgbClr val="E2E8F0"/>
                </a:solidFill>
                <a:effectLst/>
                <a:uLnTx/>
                <a:uFillTx/>
                <a:latin typeface="Calibri"/>
                <a:ea typeface="+mn-ea"/>
                <a:cs typeface="+mn-cs"/>
              </a:rPr>
              <a:t>10,491 Python lines across 77 files</a:t>
            </a:r>
          </a:p>
        </p:txBody>
      </p:sp>
      <p:sp>
        <p:nvSpPr>
          <p:cNvPr id="115" name="Oval 114"/>
          <p:cNvSpPr/>
          <p:nvPr/>
        </p:nvSpPr>
        <p:spPr>
          <a:xfrm>
            <a:off x="457200" y="3050000"/>
            <a:ext cx="190000" cy="190000"/>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6" name="TextBox 115"/>
          <p:cNvSpPr txBox="1"/>
          <p:nvPr/>
        </p:nvSpPr>
        <p:spPr>
          <a:xfrm>
            <a:off x="497200" y="3075000"/>
            <a:ext cx="140000" cy="140000"/>
          </a:xfrm>
          <a:prstGeom prst="rect">
            <a:avLst/>
          </a:prstGeom>
          <a:noFill/>
        </p:spPr>
        <p:txBody>
          <a:bodyPr wrap="squar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900" b="1" i="0" u="none" strike="noStrike" kern="1200" cap="none" spc="0" normalizeH="0" baseline="0" noProof="0">
                <a:ln>
                  <a:noFill/>
                </a:ln>
                <a:solidFill>
                  <a:srgbClr val="FFFFFF"/>
                </a:solidFill>
                <a:effectLst/>
                <a:uLnTx/>
                <a:uFillTx/>
                <a:latin typeface="Calibri"/>
                <a:ea typeface="+mn-ea"/>
                <a:cs typeface="+mn-cs"/>
              </a:rPr>
              <a:t>✓</a:t>
            </a:r>
          </a:p>
        </p:txBody>
      </p:sp>
      <p:sp>
        <p:nvSpPr>
          <p:cNvPr id="117" name="TextBox 116"/>
          <p:cNvSpPr txBox="1"/>
          <p:nvPr/>
        </p:nvSpPr>
        <p:spPr>
          <a:xfrm>
            <a:off x="737200" y="3030000"/>
            <a:ext cx="3870000" cy="320000"/>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0" i="0" u="none" strike="noStrike" kern="1200" cap="none" spc="0" normalizeH="0" baseline="0" noProof="0">
                <a:ln>
                  <a:noFill/>
                </a:ln>
                <a:solidFill>
                  <a:srgbClr val="E2E8F0"/>
                </a:solidFill>
                <a:effectLst/>
                <a:uLnTx/>
                <a:uFillTx/>
                <a:latin typeface="Calibri"/>
                <a:ea typeface="+mn-ea"/>
                <a:cs typeface="+mn-cs"/>
              </a:rPr>
              <a:t>src/ backend: 4,696 lines · ui/: 3,660 lines</a:t>
            </a:r>
          </a:p>
        </p:txBody>
      </p:sp>
      <p:sp>
        <p:nvSpPr>
          <p:cNvPr id="118" name="Oval 117"/>
          <p:cNvSpPr/>
          <p:nvPr/>
        </p:nvSpPr>
        <p:spPr>
          <a:xfrm>
            <a:off x="457200" y="3450000"/>
            <a:ext cx="190000" cy="190000"/>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9" name="TextBox 118"/>
          <p:cNvSpPr txBox="1"/>
          <p:nvPr/>
        </p:nvSpPr>
        <p:spPr>
          <a:xfrm>
            <a:off x="497200" y="3475000"/>
            <a:ext cx="140000" cy="140000"/>
          </a:xfrm>
          <a:prstGeom prst="rect">
            <a:avLst/>
          </a:prstGeom>
          <a:noFill/>
        </p:spPr>
        <p:txBody>
          <a:bodyPr wrap="squar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900" b="1" i="0" u="none" strike="noStrike" kern="1200" cap="none" spc="0" normalizeH="0" baseline="0" noProof="0">
                <a:ln>
                  <a:noFill/>
                </a:ln>
                <a:solidFill>
                  <a:srgbClr val="FFFFFF"/>
                </a:solidFill>
                <a:effectLst/>
                <a:uLnTx/>
                <a:uFillTx/>
                <a:latin typeface="Calibri"/>
                <a:ea typeface="+mn-ea"/>
                <a:cs typeface="+mn-cs"/>
              </a:rPr>
              <a:t>✓</a:t>
            </a:r>
          </a:p>
        </p:txBody>
      </p:sp>
      <p:sp>
        <p:nvSpPr>
          <p:cNvPr id="120" name="TextBox 119"/>
          <p:cNvSpPr txBox="1"/>
          <p:nvPr/>
        </p:nvSpPr>
        <p:spPr>
          <a:xfrm>
            <a:off x="737200" y="3430000"/>
            <a:ext cx="3870000" cy="320000"/>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0" i="0" u="none" strike="noStrike" kern="1200" cap="none" spc="0" normalizeH="0" baseline="0" noProof="0">
                <a:ln>
                  <a:noFill/>
                </a:ln>
                <a:solidFill>
                  <a:srgbClr val="E2E8F0"/>
                </a:solidFill>
                <a:effectLst/>
                <a:uLnTx/>
                <a:uFillTx/>
                <a:latin typeface="Calibri"/>
                <a:ea typeface="+mn-ea"/>
                <a:cs typeface="+mn-cs"/>
              </a:rPr>
              <a:t>tests/: 1,270 lines · 96 unit tests passing</a:t>
            </a:r>
          </a:p>
        </p:txBody>
      </p:sp>
      <p:sp>
        <p:nvSpPr>
          <p:cNvPr id="121" name="Oval 120"/>
          <p:cNvSpPr/>
          <p:nvPr/>
        </p:nvSpPr>
        <p:spPr>
          <a:xfrm>
            <a:off x="457200" y="3850000"/>
            <a:ext cx="190000" cy="190000"/>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2" name="TextBox 121"/>
          <p:cNvSpPr txBox="1"/>
          <p:nvPr/>
        </p:nvSpPr>
        <p:spPr>
          <a:xfrm>
            <a:off x="497200" y="3875000"/>
            <a:ext cx="140000" cy="140000"/>
          </a:xfrm>
          <a:prstGeom prst="rect">
            <a:avLst/>
          </a:prstGeom>
          <a:noFill/>
        </p:spPr>
        <p:txBody>
          <a:bodyPr wrap="squar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900" b="1" i="0" u="none" strike="noStrike" kern="1200" cap="none" spc="0" normalizeH="0" baseline="0" noProof="0">
                <a:ln>
                  <a:noFill/>
                </a:ln>
                <a:solidFill>
                  <a:srgbClr val="FFFFFF"/>
                </a:solidFill>
                <a:effectLst/>
                <a:uLnTx/>
                <a:uFillTx/>
                <a:latin typeface="Calibri"/>
                <a:ea typeface="+mn-ea"/>
                <a:cs typeface="+mn-cs"/>
              </a:rPr>
              <a:t>✓</a:t>
            </a:r>
          </a:p>
        </p:txBody>
      </p:sp>
      <p:sp>
        <p:nvSpPr>
          <p:cNvPr id="123" name="TextBox 122"/>
          <p:cNvSpPr txBox="1"/>
          <p:nvPr/>
        </p:nvSpPr>
        <p:spPr>
          <a:xfrm>
            <a:off x="737200" y="3830000"/>
            <a:ext cx="3870000" cy="320000"/>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0" i="0" u="none" strike="noStrike" kern="1200" cap="none" spc="0" normalizeH="0" baseline="0" noProof="0">
                <a:ln>
                  <a:noFill/>
                </a:ln>
                <a:solidFill>
                  <a:srgbClr val="E2E8F0"/>
                </a:solidFill>
                <a:effectLst/>
                <a:uLnTx/>
                <a:uFillTx/>
                <a:latin typeface="Calibri"/>
                <a:ea typeface="+mn-ea"/>
                <a:cs typeface="+mn-cs"/>
              </a:rPr>
              <a:t>3 LLM providers with automatic fallback</a:t>
            </a:r>
          </a:p>
        </p:txBody>
      </p:sp>
      <p:sp>
        <p:nvSpPr>
          <p:cNvPr id="124" name="Oval 123"/>
          <p:cNvSpPr/>
          <p:nvPr/>
        </p:nvSpPr>
        <p:spPr>
          <a:xfrm>
            <a:off x="457200" y="4250000"/>
            <a:ext cx="190000" cy="190000"/>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5" name="TextBox 124"/>
          <p:cNvSpPr txBox="1"/>
          <p:nvPr/>
        </p:nvSpPr>
        <p:spPr>
          <a:xfrm>
            <a:off x="497200" y="4275000"/>
            <a:ext cx="140000" cy="140000"/>
          </a:xfrm>
          <a:prstGeom prst="rect">
            <a:avLst/>
          </a:prstGeom>
          <a:noFill/>
        </p:spPr>
        <p:txBody>
          <a:bodyPr wrap="squar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900" b="1" i="0" u="none" strike="noStrike" kern="1200" cap="none" spc="0" normalizeH="0" baseline="0" noProof="0">
                <a:ln>
                  <a:noFill/>
                </a:ln>
                <a:solidFill>
                  <a:srgbClr val="FFFFFF"/>
                </a:solidFill>
                <a:effectLst/>
                <a:uLnTx/>
                <a:uFillTx/>
                <a:latin typeface="Calibri"/>
                <a:ea typeface="+mn-ea"/>
                <a:cs typeface="+mn-cs"/>
              </a:rPr>
              <a:t>✓</a:t>
            </a:r>
          </a:p>
        </p:txBody>
      </p:sp>
      <p:sp>
        <p:nvSpPr>
          <p:cNvPr id="126" name="TextBox 125"/>
          <p:cNvSpPr txBox="1"/>
          <p:nvPr/>
        </p:nvSpPr>
        <p:spPr>
          <a:xfrm>
            <a:off x="737200" y="4230000"/>
            <a:ext cx="3870000" cy="320000"/>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0" i="0" u="none" strike="noStrike" kern="1200" cap="none" spc="0" normalizeH="0" baseline="0" noProof="0">
                <a:ln>
                  <a:noFill/>
                </a:ln>
                <a:solidFill>
                  <a:srgbClr val="E2E8F0"/>
                </a:solidFill>
                <a:effectLst/>
                <a:uLnTx/>
                <a:uFillTx/>
                <a:latin typeface="Calibri"/>
                <a:ea typeface="+mn-ea"/>
                <a:cs typeface="+mn-cs"/>
              </a:rPr>
              <a:t>40 Indian cities in the retirement planner</a:t>
            </a:r>
          </a:p>
        </p:txBody>
      </p:sp>
      <p:sp>
        <p:nvSpPr>
          <p:cNvPr id="127" name="Oval 126"/>
          <p:cNvSpPr/>
          <p:nvPr/>
        </p:nvSpPr>
        <p:spPr>
          <a:xfrm>
            <a:off x="457200" y="4650000"/>
            <a:ext cx="190000" cy="190000"/>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8" name="TextBox 127"/>
          <p:cNvSpPr txBox="1"/>
          <p:nvPr/>
        </p:nvSpPr>
        <p:spPr>
          <a:xfrm>
            <a:off x="497200" y="4675000"/>
            <a:ext cx="140000" cy="140000"/>
          </a:xfrm>
          <a:prstGeom prst="rect">
            <a:avLst/>
          </a:prstGeom>
          <a:noFill/>
        </p:spPr>
        <p:txBody>
          <a:bodyPr wrap="squar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900" b="1" i="0" u="none" strike="noStrike" kern="1200" cap="none" spc="0" normalizeH="0" baseline="0" noProof="0">
                <a:ln>
                  <a:noFill/>
                </a:ln>
                <a:solidFill>
                  <a:srgbClr val="FFFFFF"/>
                </a:solidFill>
                <a:effectLst/>
                <a:uLnTx/>
                <a:uFillTx/>
                <a:latin typeface="Calibri"/>
                <a:ea typeface="+mn-ea"/>
                <a:cs typeface="+mn-cs"/>
              </a:rPr>
              <a:t>✓</a:t>
            </a:r>
          </a:p>
        </p:txBody>
      </p:sp>
      <p:sp>
        <p:nvSpPr>
          <p:cNvPr id="129" name="TextBox 128"/>
          <p:cNvSpPr txBox="1"/>
          <p:nvPr/>
        </p:nvSpPr>
        <p:spPr>
          <a:xfrm>
            <a:off x="737200" y="4630000"/>
            <a:ext cx="3870000" cy="320000"/>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50" b="0" i="0" u="none" strike="noStrike" kern="1200" cap="none" spc="0" normalizeH="0" baseline="0" noProof="0">
                <a:ln>
                  <a:noFill/>
                </a:ln>
                <a:solidFill>
                  <a:srgbClr val="E2E8F0"/>
                </a:solidFill>
                <a:effectLst/>
                <a:uLnTx/>
                <a:uFillTx/>
                <a:latin typeface="Calibri"/>
                <a:ea typeface="+mn-ea"/>
                <a:cs typeface="+mn-cs"/>
              </a:rPr>
              <a:t>6 fictional test profiles for reproducible demos</a:t>
            </a:r>
          </a:p>
        </p:txBody>
      </p:sp>
      <p:sp>
        <p:nvSpPr>
          <p:cNvPr id="130" name="Rounded Rectangle 129"/>
          <p:cNvSpPr/>
          <p:nvPr/>
        </p:nvSpPr>
        <p:spPr>
          <a:xfrm>
            <a:off x="4910555" y="1713165"/>
            <a:ext cx="3736800" cy="3350000"/>
          </a:xfrm>
          <a:prstGeom prst="roundRect">
            <a:avLst>
              <a:gd name="adj" fmla="val 5000"/>
            </a:avLst>
          </a:prstGeom>
          <a:solidFill>
            <a:srgbClr val="0E3A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1" name="TextBox 130"/>
          <p:cNvSpPr txBox="1"/>
          <p:nvPr/>
        </p:nvSpPr>
        <p:spPr>
          <a:xfrm>
            <a:off x="5230000" y="2070000"/>
            <a:ext cx="3176800" cy="300000"/>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FFFFFF"/>
                </a:solidFill>
                <a:effectLst/>
                <a:uLnTx/>
                <a:uFillTx/>
                <a:latin typeface="Calibri"/>
                <a:ea typeface="+mn-ea"/>
                <a:cs typeface="+mn-cs"/>
              </a:rPr>
              <a:t>OPEN SOURCE WE BUILT ON</a:t>
            </a:r>
          </a:p>
        </p:txBody>
      </p:sp>
      <p:sp>
        <p:nvSpPr>
          <p:cNvPr id="132" name="Oval 131"/>
          <p:cNvSpPr/>
          <p:nvPr/>
        </p:nvSpPr>
        <p:spPr>
          <a:xfrm>
            <a:off x="5230000" y="2550000"/>
            <a:ext cx="500000" cy="500000"/>
          </a:xfrm>
          <a:prstGeom prst="ellipse">
            <a:avLst/>
          </a:prstGeom>
          <a:solidFill>
            <a:srgbClr val="114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3" name="TextBox 132"/>
          <p:cNvSpPr txBox="1"/>
          <p:nvPr/>
        </p:nvSpPr>
        <p:spPr>
          <a:xfrm>
            <a:off x="5230000" y="2670000"/>
            <a:ext cx="500000" cy="300000"/>
          </a:xfrm>
          <a:prstGeom prst="rect">
            <a:avLst/>
          </a:prstGeom>
          <a:noFill/>
        </p:spPr>
        <p:txBody>
          <a:bodyPr wrap="squar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FFFFFF"/>
                </a:solidFill>
                <a:effectLst/>
                <a:uLnTx/>
                <a:uFillTx/>
                <a:latin typeface="Calibri"/>
                <a:ea typeface="+mn-ea"/>
                <a:cs typeface="+mn-cs"/>
              </a:rPr>
              <a:t>AI</a:t>
            </a:r>
          </a:p>
        </p:txBody>
      </p:sp>
      <p:sp>
        <p:nvSpPr>
          <p:cNvPr id="134" name="TextBox 133"/>
          <p:cNvSpPr txBox="1"/>
          <p:nvPr/>
        </p:nvSpPr>
        <p:spPr>
          <a:xfrm>
            <a:off x="5850000" y="2590000"/>
            <a:ext cx="2586800" cy="300000"/>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FFFFFF"/>
                </a:solidFill>
                <a:effectLst/>
                <a:uLnTx/>
                <a:uFillTx/>
                <a:latin typeface="Calibri"/>
                <a:ea typeface="+mn-ea"/>
                <a:cs typeface="+mn-cs"/>
              </a:rPr>
              <a:t>AI / Backend</a:t>
            </a:r>
          </a:p>
        </p:txBody>
      </p:sp>
      <p:sp>
        <p:nvSpPr>
          <p:cNvPr id="135" name="TextBox 134"/>
          <p:cNvSpPr txBox="1"/>
          <p:nvPr/>
        </p:nvSpPr>
        <p:spPr>
          <a:xfrm>
            <a:off x="5230000" y="3130000"/>
            <a:ext cx="3176800" cy="700000"/>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00" b="0" i="0" u="none" strike="noStrike" kern="1200" cap="none" spc="0" normalizeH="0" baseline="0" noProof="0">
                <a:ln>
                  <a:noFill/>
                </a:ln>
                <a:solidFill>
                  <a:srgbClr val="CFE3F2"/>
                </a:solidFill>
                <a:effectLst/>
                <a:uLnTx/>
                <a:uFillTx/>
                <a:latin typeface="Calibri"/>
                <a:ea typeface="+mn-ea"/>
                <a:cs typeface="+mn-cs"/>
              </a:rPr>
              <a:t>Streamlit · LangChain · OpenAI · Groq · Gemini · FAISS / Pinecone · rank_bm25 · PyMuPDF / pypdf · bcrypt · PyJWT</a:t>
            </a:r>
          </a:p>
        </p:txBody>
      </p:sp>
      <p:sp>
        <p:nvSpPr>
          <p:cNvPr id="136" name="Oval 135"/>
          <p:cNvSpPr/>
          <p:nvPr/>
        </p:nvSpPr>
        <p:spPr>
          <a:xfrm>
            <a:off x="5230000" y="4100000"/>
            <a:ext cx="500000" cy="500000"/>
          </a:xfrm>
          <a:prstGeom prst="ellipse">
            <a:avLst/>
          </a:prstGeom>
          <a:solidFill>
            <a:srgbClr val="114A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7" name="TextBox 136"/>
          <p:cNvSpPr txBox="1"/>
          <p:nvPr/>
        </p:nvSpPr>
        <p:spPr>
          <a:xfrm>
            <a:off x="5230000" y="4220000"/>
            <a:ext cx="500000" cy="300000"/>
          </a:xfrm>
          <a:prstGeom prst="rect">
            <a:avLst/>
          </a:prstGeom>
          <a:noFill/>
        </p:spPr>
        <p:txBody>
          <a:bodyPr wrap="squar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100" b="1" i="0" u="none" strike="noStrike" kern="1200" cap="none" spc="0" normalizeH="0" baseline="0" noProof="0">
                <a:ln>
                  <a:noFill/>
                </a:ln>
                <a:solidFill>
                  <a:srgbClr val="FFFFFF"/>
                </a:solidFill>
                <a:effectLst/>
                <a:uLnTx/>
                <a:uFillTx/>
                <a:latin typeface="Calibri"/>
                <a:ea typeface="+mn-ea"/>
                <a:cs typeface="+mn-cs"/>
              </a:rPr>
              <a:t>UI</a:t>
            </a:r>
          </a:p>
        </p:txBody>
      </p:sp>
      <p:sp>
        <p:nvSpPr>
          <p:cNvPr id="138" name="TextBox 137"/>
          <p:cNvSpPr txBox="1"/>
          <p:nvPr/>
        </p:nvSpPr>
        <p:spPr>
          <a:xfrm>
            <a:off x="5850000" y="4140000"/>
            <a:ext cx="2586800" cy="300000"/>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FFFFFF"/>
                </a:solidFill>
                <a:effectLst/>
                <a:uLnTx/>
                <a:uFillTx/>
                <a:latin typeface="Calibri"/>
                <a:ea typeface="+mn-ea"/>
                <a:cs typeface="+mn-cs"/>
              </a:rPr>
              <a:t>UI / Quality / Ops</a:t>
            </a:r>
          </a:p>
        </p:txBody>
      </p:sp>
      <p:sp>
        <p:nvSpPr>
          <p:cNvPr id="139" name="TextBox 138"/>
          <p:cNvSpPr txBox="1"/>
          <p:nvPr/>
        </p:nvSpPr>
        <p:spPr>
          <a:xfrm>
            <a:off x="5230000" y="4680000"/>
            <a:ext cx="3176800" cy="700000"/>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1000" b="0" i="0" u="none" strike="noStrike" kern="1200" cap="none" spc="0" normalizeH="0" baseline="0" noProof="0">
                <a:ln>
                  <a:noFill/>
                </a:ln>
                <a:solidFill>
                  <a:srgbClr val="CFE3F2"/>
                </a:solidFill>
                <a:effectLst/>
                <a:uLnTx/>
                <a:uFillTx/>
                <a:latin typeface="Calibri"/>
                <a:ea typeface="+mn-ea"/>
                <a:cs typeface="+mn-cs"/>
              </a:rPr>
              <a:t>Plotly · pytest · RAGAS · DeepEval · Docker · GitHub Actions · LangSmith · Azure App Service</a:t>
            </a:r>
          </a:p>
        </p:txBody>
      </p:sp>
      <p:sp>
        <p:nvSpPr>
          <p:cNvPr id="140" name="TextBox 139"/>
          <p:cNvSpPr txBox="1"/>
          <p:nvPr/>
        </p:nvSpPr>
        <p:spPr>
          <a:xfrm>
            <a:off x="457200" y="5300000"/>
            <a:ext cx="5000000" cy="220000"/>
          </a:xfrm>
          <a:prstGeom prst="rect">
            <a:avLst/>
          </a:prstGeom>
          <a:noFill/>
        </p:spPr>
        <p:txBody>
          <a:bodyPr wrap="square" lIns="0" tIns="0" rIns="0" bIns="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9CA9BC"/>
                </a:solidFill>
                <a:effectLst/>
                <a:uLnTx/>
                <a:uFillTx/>
                <a:latin typeface="Calibri"/>
                <a:ea typeface="+mn-ea"/>
                <a:cs typeface="+mn-cs"/>
              </a:rPr>
              <a:t>Credit Risk Intelligence Platform — Akash Chaurasiya · Ashu Sharma</a:t>
            </a:r>
          </a:p>
        </p:txBody>
      </p:sp>
    </p:spTree>
    <p:extLst>
      <p:ext uri="{BB962C8B-B14F-4D97-AF65-F5344CB8AC3E}">
        <p14:creationId xmlns:p14="http://schemas.microsoft.com/office/powerpoint/2010/main" val="268754697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Challenges and Lessons">
    <p:bg>
      <p:bgPr>
        <a:solidFill>
          <a:srgbClr val="0F1B2D"/>
        </a:solidFill>
        <a:effectLst/>
      </p:bgPr>
    </p:bg>
    <p:spTree>
      <p:nvGrpSpPr>
        <p:cNvPr id="1" name=""/>
        <p:cNvGrpSpPr/>
        <p:nvPr/>
      </p:nvGrpSpPr>
      <p:grpSpPr>
        <a:xfrm>
          <a:off x="0" y="0"/>
          <a:ext cx="0" cy="0"/>
          <a:chOff x="0" y="0"/>
          <a:chExt cx="0" cy="0"/>
        </a:xfrm>
      </p:grpSpPr>
      <p:sp>
        <p:nvSpPr>
          <p:cNvPr id="101" name="Badge"/>
          <p:cNvSpPr/>
          <p:nvPr/>
        </p:nvSpPr>
        <p:spPr>
          <a:xfrm>
            <a:off x="457200" y="274320"/>
            <a:ext cx="1250000" cy="256032"/>
          </a:xfrm>
          <a:prstGeom prst="roundRect">
            <a:avLst>
              <a:gd name="adj" fmla="val 50000"/>
            </a:avLst>
          </a:prstGeom>
          <a:solidFill>
            <a:srgbClr val="DC2626">
              <a:alpha val="25000"/>
            </a:srgbClr>
          </a:solidFill>
          <a:ln/>
        </p:spPr>
      </p:sp>
      <p:sp>
        <p:nvSpPr>
          <p:cNvPr id="102" name="BadgeText"/>
          <p:cNvSpPr/>
          <p:nvPr/>
        </p:nvSpPr>
        <p:spPr>
          <a:xfrm>
            <a:off x="457200" y="274320"/>
            <a:ext cx="1250000" cy="256032"/>
          </a:xfrm>
          <a:prstGeom prst="rect">
            <a:avLst/>
          </a:prstGeom>
          <a:noFill/>
          <a:ln/>
        </p:spPr>
        <p:txBody>
          <a:bodyPr wrap="square" lIns="0" tIns="0" rIns="0" bIns="0" rtlCol="0" anchor="ctr"/>
          <a:lstStyle/>
          <a:p>
            <a:pPr marL="0" indent="0" algn="ctr">
              <a:buNone/>
            </a:pPr>
            <a:r>
              <a:rPr lang="en-US" sz="900" b="1" kern="0" spc="150" dirty="0">
                <a:solidFill>
                  <a:srgbClr val="DC2626"/>
                </a:solidFill>
              </a:rPr>
              <a:t>LESSONS</a:t>
            </a:r>
          </a:p>
        </p:txBody>
      </p:sp>
      <p:sp>
        <p:nvSpPr>
          <p:cNvPr id="103" name="Title"/>
          <p:cNvSpPr/>
          <p:nvPr/>
        </p:nvSpPr>
        <p:spPr>
          <a:xfrm>
            <a:off x="457200" y="590000"/>
            <a:ext cx="8229600" cy="460000"/>
          </a:xfrm>
          <a:prstGeom prst="rect">
            <a:avLst/>
          </a:prstGeom>
          <a:noFill/>
          <a:ln/>
        </p:spPr>
        <p:txBody>
          <a:bodyPr wrap="square" lIns="0" tIns="0" rIns="0" bIns="0" rtlCol="0" anchor="ctr"/>
          <a:lstStyle/>
          <a:p>
            <a:pPr marL="0" indent="0">
              <a:buNone/>
            </a:pPr>
            <a:r>
              <a:rPr lang="en-US" sz="2200" b="1" dirty="0">
                <a:solidFill>
                  <a:srgbClr val="FFFFFF"/>
                </a:solidFill>
                <a:latin typeface="Cambria" pitchFamily="34" charset="0"/>
              </a:rPr>
              <a:t>Challenges We Solved &amp; What We Learned</a:t>
            </a:r>
          </a:p>
        </p:txBody>
      </p:sp>
      <p:sp>
        <p:nvSpPr>
          <p:cNvPr id="104" name="Badge"/>
          <p:cNvSpPr/>
          <p:nvPr/>
        </p:nvSpPr>
        <p:spPr>
          <a:xfrm>
            <a:off x="457200" y="1180000"/>
            <a:ext cx="2100000" cy="230000"/>
          </a:xfrm>
          <a:prstGeom prst="roundRect">
            <a:avLst>
              <a:gd name="adj" fmla="val 50000"/>
            </a:avLst>
          </a:prstGeom>
          <a:solidFill>
            <a:srgbClr val="DC2626">
              <a:alpha val="25000"/>
            </a:srgbClr>
          </a:solidFill>
          <a:ln/>
        </p:spPr>
      </p:sp>
      <p:sp>
        <p:nvSpPr>
          <p:cNvPr id="105" name="BadgeText"/>
          <p:cNvSpPr/>
          <p:nvPr/>
        </p:nvSpPr>
        <p:spPr>
          <a:xfrm>
            <a:off x="457200" y="1180000"/>
            <a:ext cx="2100000" cy="230000"/>
          </a:xfrm>
          <a:prstGeom prst="rect">
            <a:avLst/>
          </a:prstGeom>
          <a:noFill/>
          <a:ln/>
        </p:spPr>
        <p:txBody>
          <a:bodyPr wrap="square" lIns="0" tIns="0" rIns="0" bIns="0" rtlCol="0" anchor="ctr"/>
          <a:lstStyle/>
          <a:p>
            <a:pPr marL="0" indent="0" algn="ctr">
              <a:buNone/>
            </a:pPr>
            <a:r>
              <a:rPr lang="en-US" sz="900" b="1" kern="0" spc="150" dirty="0">
                <a:solidFill>
                  <a:srgbClr val="DC2626"/>
                </a:solidFill>
              </a:rPr>
              <a:t>HARDEST PROBLEMS</a:t>
            </a:r>
          </a:p>
        </p:txBody>
      </p:sp>
      <p:sp>
        <p:nvSpPr>
          <p:cNvPr id="106" name="Text"/>
          <p:cNvSpPr/>
          <p:nvPr/>
        </p:nvSpPr>
        <p:spPr>
          <a:xfrm>
            <a:off x="457200" y="1480000"/>
            <a:ext cx="4000500" cy="190000"/>
          </a:xfrm>
          <a:prstGeom prst="rect">
            <a:avLst/>
          </a:prstGeom>
          <a:noFill/>
          <a:ln/>
        </p:spPr>
        <p:txBody>
          <a:bodyPr wrap="square" lIns="0" tIns="0" rIns="0" bIns="0" rtlCol="0" anchor="t"/>
          <a:lstStyle/>
          <a:p>
            <a:pPr marL="0" indent="0" algn="l">
              <a:buNone/>
            </a:pPr>
            <a:r>
              <a:rPr lang="en-US" sz="950" b="1" dirty="0">
                <a:solidFill>
                  <a:srgbClr val="FFFFFF"/>
                </a:solidFill>
              </a:rPr>
              <a:t>Hallucination in RAG</a:t>
            </a:r>
          </a:p>
        </p:txBody>
      </p:sp>
      <p:sp>
        <p:nvSpPr>
          <p:cNvPr id="107" name="Text"/>
          <p:cNvSpPr/>
          <p:nvPr/>
        </p:nvSpPr>
        <p:spPr>
          <a:xfrm>
            <a:off x="457200" y="1680000"/>
            <a:ext cx="4000500" cy="340000"/>
          </a:xfrm>
          <a:prstGeom prst="rect">
            <a:avLst/>
          </a:prstGeom>
          <a:noFill/>
          <a:ln/>
        </p:spPr>
        <p:txBody>
          <a:bodyPr wrap="square" lIns="0" tIns="0" rIns="0" bIns="0" rtlCol="0" anchor="t"/>
          <a:lstStyle/>
          <a:p>
            <a:pPr marL="0" indent="0" algn="l">
              <a:lnSpc>
                <a:spcPct val="115000"/>
              </a:lnSpc>
              <a:buNone/>
            </a:pPr>
            <a:r>
              <a:rPr lang="en-US" sz="800" b="0" dirty="0">
                <a:solidFill>
                  <a:srgbClr val="94A3B8"/>
                </a:solidFill>
              </a:rPr>
              <a:t>✅  Hybrid BM25 + vector search with year-aware re-ranking. 0.58 → 0.22.</a:t>
            </a:r>
          </a:p>
        </p:txBody>
      </p:sp>
      <p:sp>
        <p:nvSpPr>
          <p:cNvPr id="108" name="Text"/>
          <p:cNvSpPr/>
          <p:nvPr/>
        </p:nvSpPr>
        <p:spPr>
          <a:xfrm>
            <a:off x="457200" y="2060000"/>
            <a:ext cx="4000500" cy="190000"/>
          </a:xfrm>
          <a:prstGeom prst="rect">
            <a:avLst/>
          </a:prstGeom>
          <a:noFill/>
          <a:ln/>
        </p:spPr>
        <p:txBody>
          <a:bodyPr wrap="square" lIns="0" tIns="0" rIns="0" bIns="0" rtlCol="0" anchor="t"/>
          <a:lstStyle/>
          <a:p>
            <a:pPr marL="0" indent="0" algn="l">
              <a:buNone/>
            </a:pPr>
            <a:r>
              <a:rPr lang="en-US" sz="950" b="1" dirty="0">
                <a:solidFill>
                  <a:srgbClr val="FFFFFF"/>
                </a:solidFill>
              </a:rPr>
              <a:t>Python 3.11 vs Docker</a:t>
            </a:r>
          </a:p>
        </p:txBody>
      </p:sp>
      <p:sp>
        <p:nvSpPr>
          <p:cNvPr id="109" name="Text"/>
          <p:cNvSpPr/>
          <p:nvPr/>
        </p:nvSpPr>
        <p:spPr>
          <a:xfrm>
            <a:off x="457200" y="2260000"/>
            <a:ext cx="4000500" cy="340000"/>
          </a:xfrm>
          <a:prstGeom prst="rect">
            <a:avLst/>
          </a:prstGeom>
          <a:noFill/>
          <a:ln/>
        </p:spPr>
        <p:txBody>
          <a:bodyPr wrap="square" lIns="0" tIns="0" rIns="0" bIns="0" rtlCol="0" anchor="t"/>
          <a:lstStyle/>
          <a:p>
            <a:pPr marL="0" indent="0" algn="l">
              <a:lnSpc>
                <a:spcPct val="115000"/>
              </a:lnSpc>
              <a:buNone/>
            </a:pPr>
            <a:r>
              <a:rPr lang="en-US" sz="800" b="0" dirty="0">
                <a:solidFill>
                  <a:srgbClr val="94A3B8"/>
                </a:solidFill>
              </a:rPr>
              <a:t>✅  SyntaxError only in Docker's Python 3.11 — fixed, now tested inside Docker pre-deploy.</a:t>
            </a:r>
          </a:p>
        </p:txBody>
      </p:sp>
      <p:sp>
        <p:nvSpPr>
          <p:cNvPr id="110" name="Text"/>
          <p:cNvSpPr/>
          <p:nvPr/>
        </p:nvSpPr>
        <p:spPr>
          <a:xfrm>
            <a:off x="457200" y="2640000"/>
            <a:ext cx="4000500" cy="190000"/>
          </a:xfrm>
          <a:prstGeom prst="rect">
            <a:avLst/>
          </a:prstGeom>
          <a:noFill/>
          <a:ln/>
        </p:spPr>
        <p:txBody>
          <a:bodyPr wrap="square" lIns="0" tIns="0" rIns="0" bIns="0" rtlCol="0" anchor="t"/>
          <a:lstStyle/>
          <a:p>
            <a:pPr marL="0" indent="0" algn="l">
              <a:buNone/>
            </a:pPr>
            <a:r>
              <a:rPr lang="en-US" sz="950" b="1" dirty="0">
                <a:solidFill>
                  <a:srgbClr val="FFFFFF"/>
                </a:solidFill>
              </a:rPr>
              <a:t>Azure CI/CD permissions</a:t>
            </a:r>
          </a:p>
        </p:txBody>
      </p:sp>
      <p:sp>
        <p:nvSpPr>
          <p:cNvPr id="111" name="Text"/>
          <p:cNvSpPr/>
          <p:nvPr/>
        </p:nvSpPr>
        <p:spPr>
          <a:xfrm>
            <a:off x="457200" y="2840000"/>
            <a:ext cx="4000500" cy="340000"/>
          </a:xfrm>
          <a:prstGeom prst="rect">
            <a:avLst/>
          </a:prstGeom>
          <a:noFill/>
          <a:ln/>
        </p:spPr>
        <p:txBody>
          <a:bodyPr wrap="square" lIns="0" tIns="0" rIns="0" bIns="0" rtlCol="0" anchor="t"/>
          <a:lstStyle/>
          <a:p>
            <a:pPr marL="0" indent="0" algn="l">
              <a:lnSpc>
                <a:spcPct val="115000"/>
              </a:lnSpc>
              <a:buNone/>
            </a:pPr>
            <a:r>
              <a:rPr lang="en-US" sz="800" b="0" dirty="0">
                <a:solidFill>
                  <a:srgbClr val="94A3B8"/>
                </a:solidFill>
              </a:rPr>
              <a:t>✅  No Owner role for a service principal — used Deployment Center + system identity instead.</a:t>
            </a:r>
          </a:p>
        </p:txBody>
      </p:sp>
      <p:sp>
        <p:nvSpPr>
          <p:cNvPr id="112" name="Text"/>
          <p:cNvSpPr/>
          <p:nvPr/>
        </p:nvSpPr>
        <p:spPr>
          <a:xfrm>
            <a:off x="457200" y="3220000"/>
            <a:ext cx="4000500" cy="190000"/>
          </a:xfrm>
          <a:prstGeom prst="rect">
            <a:avLst/>
          </a:prstGeom>
          <a:noFill/>
          <a:ln/>
        </p:spPr>
        <p:txBody>
          <a:bodyPr wrap="square" lIns="0" tIns="0" rIns="0" bIns="0" rtlCol="0" anchor="t"/>
          <a:lstStyle/>
          <a:p>
            <a:pPr marL="0" indent="0" algn="l">
              <a:buNone/>
            </a:pPr>
            <a:r>
              <a:rPr lang="en-US" sz="950" b="1" dirty="0">
                <a:solidFill>
                  <a:srgbClr val="FFFFFF"/>
                </a:solidFill>
              </a:rPr>
              <a:t>LLM provider reliability</a:t>
            </a:r>
          </a:p>
        </p:txBody>
      </p:sp>
      <p:sp>
        <p:nvSpPr>
          <p:cNvPr id="113" name="Text"/>
          <p:cNvSpPr/>
          <p:nvPr/>
        </p:nvSpPr>
        <p:spPr>
          <a:xfrm>
            <a:off x="457200" y="3420000"/>
            <a:ext cx="4000500" cy="340000"/>
          </a:xfrm>
          <a:prstGeom prst="rect">
            <a:avLst/>
          </a:prstGeom>
          <a:noFill/>
          <a:ln/>
        </p:spPr>
        <p:txBody>
          <a:bodyPr wrap="square" lIns="0" tIns="0" rIns="0" bIns="0" rtlCol="0" anchor="t"/>
          <a:lstStyle/>
          <a:p>
            <a:pPr marL="0" indent="0" algn="l">
              <a:lnSpc>
                <a:spcPct val="115000"/>
              </a:lnSpc>
              <a:buNone/>
            </a:pPr>
            <a:r>
              <a:rPr lang="en-US" sz="800" b="0" dirty="0">
                <a:solidFill>
                  <a:srgbClr val="94A3B8"/>
                </a:solidFill>
              </a:rPr>
              <a:t>✅  Gemini deprecations, OpenAI 401s, Groq limits — solved with a 3-tier fallback chain.</a:t>
            </a:r>
          </a:p>
        </p:txBody>
      </p:sp>
      <p:sp>
        <p:nvSpPr>
          <p:cNvPr id="114" name="Badge"/>
          <p:cNvSpPr/>
          <p:nvPr/>
        </p:nvSpPr>
        <p:spPr>
          <a:xfrm>
            <a:off x="4686300" y="1180000"/>
            <a:ext cx="1500000" cy="230000"/>
          </a:xfrm>
          <a:prstGeom prst="roundRect">
            <a:avLst>
              <a:gd name="adj" fmla="val 50000"/>
            </a:avLst>
          </a:prstGeom>
          <a:solidFill>
            <a:srgbClr val="059669">
              <a:alpha val="25000"/>
            </a:srgbClr>
          </a:solidFill>
          <a:ln/>
        </p:spPr>
      </p:sp>
      <p:sp>
        <p:nvSpPr>
          <p:cNvPr id="115" name="BadgeText"/>
          <p:cNvSpPr/>
          <p:nvPr/>
        </p:nvSpPr>
        <p:spPr>
          <a:xfrm>
            <a:off x="4686300" y="1180000"/>
            <a:ext cx="1500000" cy="230000"/>
          </a:xfrm>
          <a:prstGeom prst="rect">
            <a:avLst/>
          </a:prstGeom>
          <a:noFill/>
          <a:ln/>
        </p:spPr>
        <p:txBody>
          <a:bodyPr wrap="square" lIns="0" tIns="0" rIns="0" bIns="0" rtlCol="0" anchor="ctr"/>
          <a:lstStyle/>
          <a:p>
            <a:pPr marL="0" indent="0" algn="ctr">
              <a:buNone/>
            </a:pPr>
            <a:r>
              <a:rPr lang="en-US" sz="900" b="1" kern="0" spc="150" dirty="0">
                <a:solidFill>
                  <a:srgbClr val="059669"/>
                </a:solidFill>
              </a:rPr>
              <a:t>WHAT WORKED</a:t>
            </a:r>
          </a:p>
        </p:txBody>
      </p:sp>
      <p:sp>
        <p:nvSpPr>
          <p:cNvPr id="116" name="Text"/>
          <p:cNvSpPr/>
          <p:nvPr/>
        </p:nvSpPr>
        <p:spPr>
          <a:xfrm>
            <a:off x="4686300" y="1480000"/>
            <a:ext cx="30000" cy="190000"/>
          </a:xfrm>
          <a:prstGeom prst="rect">
            <a:avLst/>
          </a:prstGeom>
          <a:noFill/>
          <a:ln/>
        </p:spPr>
        <p:txBody>
          <a:bodyPr wrap="square" lIns="0" tIns="0" rIns="0" bIns="0" rtlCol="0" anchor="t"/>
          <a:lstStyle/>
          <a:p>
            <a:pPr marL="0" indent="0" algn="l">
              <a:buNone/>
            </a:pPr>
            <a:r>
              <a:rPr lang="en-US" sz="900" b="1" dirty="0">
                <a:solidFill>
                  <a:srgbClr val="059669"/>
                </a:solidFill>
              </a:rPr>
              <a:t>•</a:t>
            </a:r>
          </a:p>
        </p:txBody>
      </p:sp>
      <p:sp>
        <p:nvSpPr>
          <p:cNvPr id="117" name="Text"/>
          <p:cNvSpPr/>
          <p:nvPr/>
        </p:nvSpPr>
        <p:spPr>
          <a:xfrm>
            <a:off x="4886300" y="1480000"/>
            <a:ext cx="3800500" cy="190000"/>
          </a:xfrm>
          <a:prstGeom prst="rect">
            <a:avLst/>
          </a:prstGeom>
          <a:noFill/>
          <a:ln/>
        </p:spPr>
        <p:txBody>
          <a:bodyPr wrap="square" lIns="0" tIns="0" rIns="0" bIns="0" rtlCol="0" anchor="t"/>
          <a:lstStyle/>
          <a:p>
            <a:pPr marL="0" indent="0" algn="l">
              <a:buNone/>
            </a:pPr>
            <a:r>
              <a:rPr lang="en-US" sz="800" b="0" dirty="0">
                <a:solidFill>
                  <a:srgbClr val="CBD5E1"/>
                </a:solidFill>
              </a:rPr>
              <a:t>Hybrid search dramatically cut hallucination</a:t>
            </a:r>
          </a:p>
        </p:txBody>
      </p:sp>
      <p:sp>
        <p:nvSpPr>
          <p:cNvPr id="118" name="Text"/>
          <p:cNvSpPr/>
          <p:nvPr/>
        </p:nvSpPr>
        <p:spPr>
          <a:xfrm>
            <a:off x="4686300" y="1740000"/>
            <a:ext cx="30000" cy="190000"/>
          </a:xfrm>
          <a:prstGeom prst="rect">
            <a:avLst/>
          </a:prstGeom>
          <a:noFill/>
          <a:ln/>
        </p:spPr>
        <p:txBody>
          <a:bodyPr wrap="square" lIns="0" tIns="0" rIns="0" bIns="0" rtlCol="0" anchor="t"/>
          <a:lstStyle/>
          <a:p>
            <a:pPr marL="0" indent="0" algn="l">
              <a:buNone/>
            </a:pPr>
            <a:r>
              <a:rPr lang="en-US" sz="900" b="1" dirty="0">
                <a:solidFill>
                  <a:srgbClr val="059669"/>
                </a:solidFill>
              </a:rPr>
              <a:t>•</a:t>
            </a:r>
          </a:p>
        </p:txBody>
      </p:sp>
      <p:sp>
        <p:nvSpPr>
          <p:cNvPr id="119" name="Text"/>
          <p:cNvSpPr/>
          <p:nvPr/>
        </p:nvSpPr>
        <p:spPr>
          <a:xfrm>
            <a:off x="4886300" y="1740000"/>
            <a:ext cx="3800500" cy="190000"/>
          </a:xfrm>
          <a:prstGeom prst="rect">
            <a:avLst/>
          </a:prstGeom>
          <a:noFill/>
          <a:ln/>
        </p:spPr>
        <p:txBody>
          <a:bodyPr wrap="square" lIns="0" tIns="0" rIns="0" bIns="0" rtlCol="0" anchor="t"/>
          <a:lstStyle/>
          <a:p>
            <a:pPr marL="0" indent="0" algn="l">
              <a:buNone/>
            </a:pPr>
            <a:r>
              <a:rPr lang="en-US" sz="800" b="0" dirty="0">
                <a:solidFill>
                  <a:srgbClr val="CBD5E1"/>
                </a:solidFill>
              </a:rPr>
              <a:t>LangSmith tracing made debugging fast</a:t>
            </a:r>
          </a:p>
        </p:txBody>
      </p:sp>
      <p:sp>
        <p:nvSpPr>
          <p:cNvPr id="120" name="Text"/>
          <p:cNvSpPr/>
          <p:nvPr/>
        </p:nvSpPr>
        <p:spPr>
          <a:xfrm>
            <a:off x="4686300" y="2000000"/>
            <a:ext cx="30000" cy="190000"/>
          </a:xfrm>
          <a:prstGeom prst="rect">
            <a:avLst/>
          </a:prstGeom>
          <a:noFill/>
          <a:ln/>
        </p:spPr>
        <p:txBody>
          <a:bodyPr wrap="square" lIns="0" tIns="0" rIns="0" bIns="0" rtlCol="0" anchor="t"/>
          <a:lstStyle/>
          <a:p>
            <a:pPr marL="0" indent="0" algn="l">
              <a:buNone/>
            </a:pPr>
            <a:r>
              <a:rPr lang="en-US" sz="900" b="1" dirty="0">
                <a:solidFill>
                  <a:srgbClr val="059669"/>
                </a:solidFill>
              </a:rPr>
              <a:t>•</a:t>
            </a:r>
          </a:p>
        </p:txBody>
      </p:sp>
      <p:sp>
        <p:nvSpPr>
          <p:cNvPr id="121" name="Text"/>
          <p:cNvSpPr/>
          <p:nvPr/>
        </p:nvSpPr>
        <p:spPr>
          <a:xfrm>
            <a:off x="4886300" y="2000000"/>
            <a:ext cx="3800500" cy="190000"/>
          </a:xfrm>
          <a:prstGeom prst="rect">
            <a:avLst/>
          </a:prstGeom>
          <a:noFill/>
          <a:ln/>
        </p:spPr>
        <p:txBody>
          <a:bodyPr wrap="square" lIns="0" tIns="0" rIns="0" bIns="0" rtlCol="0" anchor="t"/>
          <a:lstStyle/>
          <a:p>
            <a:pPr marL="0" indent="0" algn="l">
              <a:buNone/>
            </a:pPr>
            <a:r>
              <a:rPr lang="en-US" sz="800" b="0" dirty="0">
                <a:solidFill>
                  <a:srgbClr val="CBD5E1"/>
                </a:solidFill>
              </a:rPr>
              <a:t>Pydantic settings caught config errors early</a:t>
            </a:r>
          </a:p>
        </p:txBody>
      </p:sp>
      <p:sp>
        <p:nvSpPr>
          <p:cNvPr id="122" name="Text"/>
          <p:cNvSpPr/>
          <p:nvPr/>
        </p:nvSpPr>
        <p:spPr>
          <a:xfrm>
            <a:off x="4686300" y="2260000"/>
            <a:ext cx="30000" cy="190000"/>
          </a:xfrm>
          <a:prstGeom prst="rect">
            <a:avLst/>
          </a:prstGeom>
          <a:noFill/>
          <a:ln/>
        </p:spPr>
        <p:txBody>
          <a:bodyPr wrap="square" lIns="0" tIns="0" rIns="0" bIns="0" rtlCol="0" anchor="t"/>
          <a:lstStyle/>
          <a:p>
            <a:pPr marL="0" indent="0" algn="l">
              <a:buNone/>
            </a:pPr>
            <a:r>
              <a:rPr lang="en-US" sz="900" b="1" dirty="0">
                <a:solidFill>
                  <a:srgbClr val="059669"/>
                </a:solidFill>
              </a:rPr>
              <a:t>•</a:t>
            </a:r>
          </a:p>
        </p:txBody>
      </p:sp>
      <p:sp>
        <p:nvSpPr>
          <p:cNvPr id="123" name="Text"/>
          <p:cNvSpPr/>
          <p:nvPr/>
        </p:nvSpPr>
        <p:spPr>
          <a:xfrm>
            <a:off x="4886300" y="2260000"/>
            <a:ext cx="3800500" cy="190000"/>
          </a:xfrm>
          <a:prstGeom prst="rect">
            <a:avLst/>
          </a:prstGeom>
          <a:noFill/>
          <a:ln/>
        </p:spPr>
        <p:txBody>
          <a:bodyPr wrap="square" lIns="0" tIns="0" rIns="0" bIns="0" rtlCol="0" anchor="t"/>
          <a:lstStyle/>
          <a:p>
            <a:pPr marL="0" indent="0" algn="l">
              <a:buNone/>
            </a:pPr>
            <a:r>
              <a:rPr lang="en-US" sz="800" b="0" dirty="0">
                <a:solidFill>
                  <a:srgbClr val="CBD5E1"/>
                </a:solidFill>
              </a:rPr>
              <a:t>96 tests caught Docker/Python issues pre-deploy</a:t>
            </a:r>
          </a:p>
        </p:txBody>
      </p:sp>
      <p:sp>
        <p:nvSpPr>
          <p:cNvPr id="124" name="Badge"/>
          <p:cNvSpPr/>
          <p:nvPr/>
        </p:nvSpPr>
        <p:spPr>
          <a:xfrm>
            <a:off x="4686300" y="2660000"/>
            <a:ext cx="1900000" cy="230000"/>
          </a:xfrm>
          <a:prstGeom prst="roundRect">
            <a:avLst>
              <a:gd name="adj" fmla="val 50000"/>
            </a:avLst>
          </a:prstGeom>
          <a:solidFill>
            <a:srgbClr val="D97706">
              <a:alpha val="25000"/>
            </a:srgbClr>
          </a:solidFill>
          <a:ln/>
        </p:spPr>
      </p:sp>
      <p:sp>
        <p:nvSpPr>
          <p:cNvPr id="125" name="BadgeText"/>
          <p:cNvSpPr/>
          <p:nvPr/>
        </p:nvSpPr>
        <p:spPr>
          <a:xfrm>
            <a:off x="4686300" y="2660000"/>
            <a:ext cx="1900000" cy="230000"/>
          </a:xfrm>
          <a:prstGeom prst="rect">
            <a:avLst/>
          </a:prstGeom>
          <a:noFill/>
          <a:ln/>
        </p:spPr>
        <p:txBody>
          <a:bodyPr wrap="square" lIns="0" tIns="0" rIns="0" bIns="0" rtlCol="0" anchor="ctr"/>
          <a:lstStyle/>
          <a:p>
            <a:pPr marL="0" indent="0" algn="ctr">
              <a:buNone/>
            </a:pPr>
            <a:r>
              <a:rPr lang="en-US" sz="900" b="1" kern="0" spc="150" dirty="0">
                <a:solidFill>
                  <a:srgbClr val="D97706"/>
                </a:solidFill>
              </a:rPr>
              <a:t>WHAT WE'D DO DIFFERENTLY</a:t>
            </a:r>
          </a:p>
        </p:txBody>
      </p:sp>
      <p:sp>
        <p:nvSpPr>
          <p:cNvPr id="126" name="Text"/>
          <p:cNvSpPr/>
          <p:nvPr/>
        </p:nvSpPr>
        <p:spPr>
          <a:xfrm>
            <a:off x="4686300" y="2960000"/>
            <a:ext cx="30000" cy="190000"/>
          </a:xfrm>
          <a:prstGeom prst="rect">
            <a:avLst/>
          </a:prstGeom>
          <a:noFill/>
          <a:ln/>
        </p:spPr>
        <p:txBody>
          <a:bodyPr wrap="square" lIns="0" tIns="0" rIns="0" bIns="0" rtlCol="0" anchor="t"/>
          <a:lstStyle/>
          <a:p>
            <a:pPr marL="0" indent="0" algn="l">
              <a:buNone/>
            </a:pPr>
            <a:r>
              <a:rPr lang="en-US" sz="900" b="1" dirty="0">
                <a:solidFill>
                  <a:srgbClr val="D97706"/>
                </a:solidFill>
              </a:rPr>
              <a:t>•</a:t>
            </a:r>
          </a:p>
        </p:txBody>
      </p:sp>
      <p:sp>
        <p:nvSpPr>
          <p:cNvPr id="127" name="Text"/>
          <p:cNvSpPr/>
          <p:nvPr/>
        </p:nvSpPr>
        <p:spPr>
          <a:xfrm>
            <a:off x="4886300" y="2960000"/>
            <a:ext cx="3800500" cy="190000"/>
          </a:xfrm>
          <a:prstGeom prst="rect">
            <a:avLst/>
          </a:prstGeom>
          <a:noFill/>
          <a:ln/>
        </p:spPr>
        <p:txBody>
          <a:bodyPr wrap="square" lIns="0" tIns="0" rIns="0" bIns="0" rtlCol="0" anchor="t"/>
          <a:lstStyle/>
          <a:p>
            <a:pPr marL="0" indent="0" algn="l">
              <a:buNone/>
            </a:pPr>
            <a:r>
              <a:rPr lang="en-US" sz="800" b="0" dirty="0">
                <a:solidFill>
                  <a:srgbClr val="CBD5E1"/>
                </a:solidFill>
              </a:rPr>
              <a:t>Use managed auth (Supabase/Auth0) from day one</a:t>
            </a:r>
          </a:p>
        </p:txBody>
      </p:sp>
      <p:sp>
        <p:nvSpPr>
          <p:cNvPr id="128" name="Text"/>
          <p:cNvSpPr/>
          <p:nvPr/>
        </p:nvSpPr>
        <p:spPr>
          <a:xfrm>
            <a:off x="4686300" y="3220000"/>
            <a:ext cx="30000" cy="190000"/>
          </a:xfrm>
          <a:prstGeom prst="rect">
            <a:avLst/>
          </a:prstGeom>
          <a:noFill/>
          <a:ln/>
        </p:spPr>
        <p:txBody>
          <a:bodyPr wrap="square" lIns="0" tIns="0" rIns="0" bIns="0" rtlCol="0" anchor="t"/>
          <a:lstStyle/>
          <a:p>
            <a:pPr marL="0" indent="0" algn="l">
              <a:buNone/>
            </a:pPr>
            <a:r>
              <a:rPr lang="en-US" sz="900" b="1" dirty="0">
                <a:solidFill>
                  <a:srgbClr val="D97706"/>
                </a:solidFill>
              </a:rPr>
              <a:t>•</a:t>
            </a:r>
          </a:p>
        </p:txBody>
      </p:sp>
      <p:sp>
        <p:nvSpPr>
          <p:cNvPr id="129" name="Text"/>
          <p:cNvSpPr/>
          <p:nvPr/>
        </p:nvSpPr>
        <p:spPr>
          <a:xfrm>
            <a:off x="4886300" y="3220000"/>
            <a:ext cx="3800500" cy="190000"/>
          </a:xfrm>
          <a:prstGeom prst="rect">
            <a:avLst/>
          </a:prstGeom>
          <a:noFill/>
          <a:ln/>
        </p:spPr>
        <p:txBody>
          <a:bodyPr wrap="square" lIns="0" tIns="0" rIns="0" bIns="0" rtlCol="0" anchor="t"/>
          <a:lstStyle/>
          <a:p>
            <a:pPr marL="0" indent="0" algn="l">
              <a:buNone/>
            </a:pPr>
            <a:r>
              <a:rPr lang="en-US" sz="800" b="0" dirty="0">
                <a:solidFill>
                  <a:srgbClr val="CBD5E1"/>
                </a:solidFill>
              </a:rPr>
              <a:t>Pin all package versions from the start</a:t>
            </a:r>
          </a:p>
        </p:txBody>
      </p:sp>
      <p:sp>
        <p:nvSpPr>
          <p:cNvPr id="130" name="Text"/>
          <p:cNvSpPr/>
          <p:nvPr/>
        </p:nvSpPr>
        <p:spPr>
          <a:xfrm>
            <a:off x="4686300" y="3480000"/>
            <a:ext cx="30000" cy="190000"/>
          </a:xfrm>
          <a:prstGeom prst="rect">
            <a:avLst/>
          </a:prstGeom>
          <a:noFill/>
          <a:ln/>
        </p:spPr>
        <p:txBody>
          <a:bodyPr wrap="square" lIns="0" tIns="0" rIns="0" bIns="0" rtlCol="0" anchor="t"/>
          <a:lstStyle/>
          <a:p>
            <a:pPr marL="0" indent="0" algn="l">
              <a:buNone/>
            </a:pPr>
            <a:r>
              <a:rPr lang="en-US" sz="900" b="1" dirty="0">
                <a:solidFill>
                  <a:srgbClr val="D97706"/>
                </a:solidFill>
              </a:rPr>
              <a:t>•</a:t>
            </a:r>
          </a:p>
        </p:txBody>
      </p:sp>
      <p:sp>
        <p:nvSpPr>
          <p:cNvPr id="131" name="Text"/>
          <p:cNvSpPr/>
          <p:nvPr/>
        </p:nvSpPr>
        <p:spPr>
          <a:xfrm>
            <a:off x="4886300" y="3480000"/>
            <a:ext cx="3800500" cy="190000"/>
          </a:xfrm>
          <a:prstGeom prst="rect">
            <a:avLst/>
          </a:prstGeom>
          <a:noFill/>
          <a:ln/>
        </p:spPr>
        <p:txBody>
          <a:bodyPr wrap="square" lIns="0" tIns="0" rIns="0" bIns="0" rtlCol="0" anchor="t"/>
          <a:lstStyle/>
          <a:p>
            <a:pPr marL="0" indent="0" algn="l">
              <a:buNone/>
            </a:pPr>
            <a:r>
              <a:rPr lang="en-US" sz="800" b="0" dirty="0">
                <a:solidFill>
                  <a:srgbClr val="CBD5E1"/>
                </a:solidFill>
              </a:rPr>
              <a:t>Set up LangSmith tracing from day one</a:t>
            </a:r>
          </a:p>
        </p:txBody>
      </p:sp>
      <p:sp>
        <p:nvSpPr>
          <p:cNvPr id="132" name="Text"/>
          <p:cNvSpPr/>
          <p:nvPr/>
        </p:nvSpPr>
        <p:spPr>
          <a:xfrm>
            <a:off x="4686300" y="3740000"/>
            <a:ext cx="30000" cy="190000"/>
          </a:xfrm>
          <a:prstGeom prst="rect">
            <a:avLst/>
          </a:prstGeom>
          <a:noFill/>
          <a:ln/>
        </p:spPr>
        <p:txBody>
          <a:bodyPr wrap="square" lIns="0" tIns="0" rIns="0" bIns="0" rtlCol="0" anchor="t"/>
          <a:lstStyle/>
          <a:p>
            <a:pPr marL="0" indent="0" algn="l">
              <a:buNone/>
            </a:pPr>
            <a:r>
              <a:rPr lang="en-US" sz="900" b="1" dirty="0">
                <a:solidFill>
                  <a:srgbClr val="D97706"/>
                </a:solidFill>
              </a:rPr>
              <a:t>•</a:t>
            </a:r>
          </a:p>
        </p:txBody>
      </p:sp>
      <p:sp>
        <p:nvSpPr>
          <p:cNvPr id="133" name="Text"/>
          <p:cNvSpPr/>
          <p:nvPr/>
        </p:nvSpPr>
        <p:spPr>
          <a:xfrm>
            <a:off x="4886300" y="3740000"/>
            <a:ext cx="3800500" cy="190000"/>
          </a:xfrm>
          <a:prstGeom prst="rect">
            <a:avLst/>
          </a:prstGeom>
          <a:noFill/>
          <a:ln/>
        </p:spPr>
        <p:txBody>
          <a:bodyPr wrap="square" lIns="0" tIns="0" rIns="0" bIns="0" rtlCol="0" anchor="t"/>
          <a:lstStyle/>
          <a:p>
            <a:pPr marL="0" indent="0" algn="l">
              <a:buNone/>
            </a:pPr>
            <a:r>
              <a:rPr lang="en-US" sz="800" b="0" dirty="0">
                <a:solidFill>
                  <a:srgbClr val="CBD5E1"/>
                </a:solidFill>
              </a:rPr>
              <a:t>Add a background job queue for large PDFs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F1B2D"/>
        </a:solidFill>
        <a:effectLst/>
      </p:bgPr>
    </p:bg>
    <p:spTree>
      <p:nvGrpSpPr>
        <p:cNvPr id="1" name=""/>
        <p:cNvGrpSpPr/>
        <p:nvPr/>
      </p:nvGrpSpPr>
      <p:grpSpPr>
        <a:xfrm>
          <a:off x="0" y="0"/>
          <a:ext cx="0" cy="0"/>
          <a:chOff x="0" y="0"/>
          <a:chExt cx="0" cy="0"/>
        </a:xfrm>
      </p:grpSpPr>
      <p:sp>
        <p:nvSpPr>
          <p:cNvPr id="2" name="Shape 0"/>
          <p:cNvSpPr/>
          <p:nvPr/>
        </p:nvSpPr>
        <p:spPr>
          <a:xfrm>
            <a:off x="457200" y="274320"/>
            <a:ext cx="2286000" cy="256032"/>
          </a:xfrm>
          <a:prstGeom prst="roundRect">
            <a:avLst>
              <a:gd name="adj" fmla="val 21429"/>
            </a:avLst>
          </a:prstGeom>
          <a:solidFill>
            <a:srgbClr val="F5A623">
              <a:alpha val="22000"/>
            </a:srgbClr>
          </a:solidFill>
          <a:ln/>
        </p:spPr>
      </p:sp>
      <p:sp>
        <p:nvSpPr>
          <p:cNvPr id="3" name="Text 1"/>
          <p:cNvSpPr/>
          <p:nvPr/>
        </p:nvSpPr>
        <p:spPr>
          <a:xfrm>
            <a:off x="457200" y="274320"/>
            <a:ext cx="2286000" cy="25603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0" cap="none" spc="120" normalizeH="0" baseline="0" noProof="0" dirty="0">
                <a:ln>
                  <a:noFill/>
                </a:ln>
                <a:solidFill>
                  <a:srgbClr val="F5A623"/>
                </a:solidFill>
                <a:effectLst/>
                <a:uLnTx/>
                <a:uFillTx/>
                <a:latin typeface="Calibri" pitchFamily="34" charset="0"/>
                <a:ea typeface="Calibri" pitchFamily="34" charset="-122"/>
                <a:cs typeface="Calibri" pitchFamily="34" charset="-120"/>
              </a:rPr>
              <a:t>EY GUIDELINES · IN PRACTICE</a:t>
            </a:r>
            <a:endParaRPr kumimoji="0" lang="en-US" sz="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Text 2"/>
          <p:cNvSpPr/>
          <p:nvPr/>
        </p:nvSpPr>
        <p:spPr>
          <a:xfrm>
            <a:off x="457200" y="566928"/>
            <a:ext cx="82296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FFFFFF"/>
                </a:solidFill>
                <a:effectLst/>
                <a:uLnTx/>
                <a:uFillTx/>
                <a:latin typeface="Cambria" pitchFamily="34" charset="0"/>
                <a:ea typeface="Cambria" pitchFamily="34" charset="-122"/>
                <a:cs typeface="Cambria" pitchFamily="34" charset="-120"/>
              </a:rPr>
              <a:t>How Our Project Followed EY Coding Guidelines</a:t>
            </a:r>
            <a:endParaRPr kumimoji="0" lang="en-US" sz="2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Text 3"/>
          <p:cNvSpPr/>
          <p:nvPr/>
        </p:nvSpPr>
        <p:spPr>
          <a:xfrm>
            <a:off x="457200" y="969264"/>
            <a:ext cx="82296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1" u="none" strike="noStrike" kern="1200" cap="none" spc="0" normalizeH="0" baseline="0" noProof="0" dirty="0">
                <a:ln>
                  <a:noFill/>
                </a:ln>
                <a:solidFill>
                  <a:srgbClr val="AAB4C4"/>
                </a:solidFill>
                <a:effectLst/>
                <a:uLnTx/>
                <a:uFillTx/>
                <a:latin typeface="Calibri" pitchFamily="34" charset="0"/>
                <a:ea typeface="Calibri" pitchFamily="34" charset="-122"/>
                <a:cs typeface="Calibri" pitchFamily="34" charset="-120"/>
              </a:rPr>
              <a:t>Every EY coding principle mapped to what we actually built and shipped on the Credit Risk Intelligence Platform.</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Shape 4"/>
          <p:cNvSpPr/>
          <p:nvPr/>
        </p:nvSpPr>
        <p:spPr>
          <a:xfrm>
            <a:off x="457200" y="1417320"/>
            <a:ext cx="3977640" cy="841248"/>
          </a:xfrm>
          <a:prstGeom prst="roundRect">
            <a:avLst>
              <a:gd name="adj" fmla="val 6522"/>
            </a:avLst>
          </a:prstGeom>
          <a:solidFill>
            <a:srgbClr val="162032"/>
          </a:solidFill>
          <a:ln w="9525">
            <a:solidFill>
              <a:srgbClr val="233047"/>
            </a:solidFill>
            <a:prstDash val="solid"/>
          </a:ln>
          <a:effectLst>
            <a:outerShdw blurRad="76200" dist="25400" dir="5400000" algn="bl" rotWithShape="0">
              <a:srgbClr val="000000">
                <a:alpha val="16000"/>
              </a:srgbClr>
            </a:outerShdw>
          </a:effectLst>
        </p:spPr>
      </p:sp>
      <p:sp>
        <p:nvSpPr>
          <p:cNvPr id="7" name="Shape 5"/>
          <p:cNvSpPr/>
          <p:nvPr/>
        </p:nvSpPr>
        <p:spPr>
          <a:xfrm>
            <a:off x="603504" y="1545336"/>
            <a:ext cx="402336" cy="402336"/>
          </a:xfrm>
          <a:prstGeom prst="ellipse">
            <a:avLst/>
          </a:prstGeom>
          <a:solidFill>
            <a:srgbClr val="E8544E">
              <a:alpha val="20000"/>
            </a:srgbClr>
          </a:solidFill>
          <a:ln/>
        </p:spPr>
      </p:sp>
      <p:sp>
        <p:nvSpPr>
          <p:cNvPr id="8" name="Text 6"/>
          <p:cNvSpPr/>
          <p:nvPr/>
        </p:nvSpPr>
        <p:spPr>
          <a:xfrm>
            <a:off x="603504" y="1545336"/>
            <a:ext cx="402336" cy="40233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E8544E"/>
                </a:solidFill>
                <a:effectLst/>
                <a:uLnTx/>
                <a:uFillTx/>
                <a:latin typeface="Calibri" panose="020F0502020204030204"/>
                <a:ea typeface="+mn-ea"/>
                <a:cs typeface="+mn-cs"/>
              </a:rPr>
              <a:t>✎</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Text 7"/>
          <p:cNvSpPr/>
          <p:nvPr/>
        </p:nvSpPr>
        <p:spPr>
          <a:xfrm>
            <a:off x="1115568" y="1508760"/>
            <a:ext cx="3172968" cy="21945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FFFFFF"/>
                </a:solidFill>
                <a:effectLst/>
                <a:uLnTx/>
                <a:uFillTx/>
                <a:latin typeface="Cambria" pitchFamily="34" charset="0"/>
                <a:ea typeface="Cambria" pitchFamily="34" charset="-122"/>
                <a:cs typeface="Cambria" pitchFamily="34" charset="-120"/>
              </a:rPr>
              <a:t>Naming Conventions</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1115568" y="1728216"/>
            <a:ext cx="3172968" cy="457200"/>
          </a:xfrm>
          <a:prstGeom prst="rect">
            <a:avLst/>
          </a:prstGeom>
          <a:noFill/>
          <a:ln/>
        </p:spPr>
        <p:txBody>
          <a:bodyPr wrap="square" lIns="0" tIns="0" rIns="0" bIns="0" rtlCol="0" anchor="t"/>
          <a:lstStyle/>
          <a:p>
            <a:pPr marL="0" marR="0" lvl="0" indent="0" algn="l" defTabSz="914400" rtl="0" eaLnBrk="1" fontAlgn="auto" latinLnBrk="0" hangingPunct="1">
              <a:lnSpc>
                <a:spcPct val="108000"/>
              </a:lnSpc>
              <a:spcBef>
                <a:spcPts val="0"/>
              </a:spcBef>
              <a:spcAft>
                <a:spcPts val="0"/>
              </a:spcAft>
              <a:buClrTx/>
              <a:buSzTx/>
              <a:buFontTx/>
              <a:buNone/>
              <a:tabLst/>
              <a:defRPr/>
            </a:pPr>
            <a:r>
              <a:rPr kumimoji="0" lang="en-US" sz="870" b="0" i="0" u="none" strike="noStrike" kern="1200" cap="none" spc="0" normalizeH="0" baseline="0" noProof="0" dirty="0">
                <a:ln>
                  <a:noFill/>
                </a:ln>
                <a:solidFill>
                  <a:srgbClr val="AAB4C4"/>
                </a:solidFill>
                <a:effectLst/>
                <a:uLnTx/>
                <a:uFillTx/>
                <a:latin typeface="Calibri" pitchFamily="34" charset="0"/>
                <a:ea typeface="Calibri" pitchFamily="34" charset="-122"/>
                <a:cs typeface="Calibri" pitchFamily="34" charset="-120"/>
              </a:rPr>
              <a:t>Modules named by responsibility — test_auth.py, test_loan_workflow.py, test_reranker.py, retrieval_agent, chat_agent — consistent across the codebase.</a:t>
            </a:r>
            <a:endParaRPr kumimoji="0" lang="en-US" sz="8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Shape 9"/>
          <p:cNvSpPr/>
          <p:nvPr/>
        </p:nvSpPr>
        <p:spPr>
          <a:xfrm>
            <a:off x="4709160" y="1417320"/>
            <a:ext cx="3977640" cy="841248"/>
          </a:xfrm>
          <a:prstGeom prst="roundRect">
            <a:avLst>
              <a:gd name="adj" fmla="val 6522"/>
            </a:avLst>
          </a:prstGeom>
          <a:solidFill>
            <a:srgbClr val="162032"/>
          </a:solidFill>
          <a:ln w="9525">
            <a:solidFill>
              <a:srgbClr val="233047"/>
            </a:solidFill>
            <a:prstDash val="solid"/>
          </a:ln>
          <a:effectLst>
            <a:outerShdw blurRad="76200" dist="25400" dir="5400000" algn="bl" rotWithShape="0">
              <a:srgbClr val="000000">
                <a:alpha val="16000"/>
              </a:srgbClr>
            </a:outerShdw>
          </a:effectLst>
        </p:spPr>
      </p:sp>
      <p:sp>
        <p:nvSpPr>
          <p:cNvPr id="12" name="Shape 10"/>
          <p:cNvSpPr/>
          <p:nvPr/>
        </p:nvSpPr>
        <p:spPr>
          <a:xfrm>
            <a:off x="4855464" y="1545336"/>
            <a:ext cx="402336" cy="402336"/>
          </a:xfrm>
          <a:prstGeom prst="ellipse">
            <a:avLst/>
          </a:prstGeom>
          <a:solidFill>
            <a:srgbClr val="3B82F6">
              <a:alpha val="20000"/>
            </a:srgbClr>
          </a:solidFill>
          <a:ln/>
        </p:spPr>
      </p:sp>
      <p:sp>
        <p:nvSpPr>
          <p:cNvPr id="13" name="Text 11"/>
          <p:cNvSpPr/>
          <p:nvPr/>
        </p:nvSpPr>
        <p:spPr>
          <a:xfrm>
            <a:off x="4855464" y="1545336"/>
            <a:ext cx="402336" cy="40233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3B82F6"/>
                </a:solidFill>
                <a:effectLst/>
                <a:uLnTx/>
                <a:uFillTx/>
                <a:latin typeface="Calibri" panose="020F0502020204030204"/>
                <a:ea typeface="+mn-ea"/>
                <a:cs typeface="+mn-cs"/>
              </a:rPr>
              <a:t>🔀</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Text 12"/>
          <p:cNvSpPr/>
          <p:nvPr/>
        </p:nvSpPr>
        <p:spPr>
          <a:xfrm>
            <a:off x="5367528" y="1508760"/>
            <a:ext cx="3172968" cy="21945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FFFFFF"/>
                </a:solidFill>
                <a:effectLst/>
                <a:uLnTx/>
                <a:uFillTx/>
                <a:latin typeface="Cambria" pitchFamily="34" charset="0"/>
                <a:ea typeface="Cambria" pitchFamily="34" charset="-122"/>
                <a:cs typeface="Cambria" pitchFamily="34" charset="-120"/>
              </a:rPr>
              <a:t>Code Reviews</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Text 13"/>
          <p:cNvSpPr/>
          <p:nvPr/>
        </p:nvSpPr>
        <p:spPr>
          <a:xfrm>
            <a:off x="5367528" y="1728216"/>
            <a:ext cx="3172968" cy="457200"/>
          </a:xfrm>
          <a:prstGeom prst="rect">
            <a:avLst/>
          </a:prstGeom>
          <a:noFill/>
          <a:ln/>
        </p:spPr>
        <p:txBody>
          <a:bodyPr wrap="square" lIns="0" tIns="0" rIns="0" bIns="0" rtlCol="0" anchor="t"/>
          <a:lstStyle/>
          <a:p>
            <a:pPr marL="0" marR="0" lvl="0" indent="0" algn="l" defTabSz="914400" rtl="0" eaLnBrk="1" fontAlgn="auto" latinLnBrk="0" hangingPunct="1">
              <a:lnSpc>
                <a:spcPct val="108000"/>
              </a:lnSpc>
              <a:spcBef>
                <a:spcPts val="0"/>
              </a:spcBef>
              <a:spcAft>
                <a:spcPts val="0"/>
              </a:spcAft>
              <a:buClrTx/>
              <a:buSzTx/>
              <a:buFontTx/>
              <a:buNone/>
              <a:tabLst/>
              <a:defRPr/>
            </a:pPr>
            <a:r>
              <a:rPr kumimoji="0" lang="en-US" sz="870" b="0" i="0" u="none" strike="noStrike" kern="1200" cap="none" spc="0" normalizeH="0" baseline="0" noProof="0" dirty="0">
                <a:ln>
                  <a:noFill/>
                </a:ln>
                <a:solidFill>
                  <a:srgbClr val="AAB4C4"/>
                </a:solidFill>
                <a:effectLst/>
                <a:uLnTx/>
                <a:uFillTx/>
                <a:latin typeface="Calibri" pitchFamily="34" charset="0"/>
                <a:ea typeface="Calibri" pitchFamily="34" charset="-122"/>
                <a:cs typeface="Calibri" pitchFamily="34" charset="-120"/>
              </a:rPr>
              <a:t>Every push is gated: GitHub Actions runs all 96 tests automatically before code can move forward — no merge without a passing check.</a:t>
            </a:r>
            <a:endParaRPr kumimoji="0" lang="en-US" sz="8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Shape 14"/>
          <p:cNvSpPr/>
          <p:nvPr/>
        </p:nvSpPr>
        <p:spPr>
          <a:xfrm>
            <a:off x="457200" y="2331720"/>
            <a:ext cx="3977640" cy="841248"/>
          </a:xfrm>
          <a:prstGeom prst="roundRect">
            <a:avLst>
              <a:gd name="adj" fmla="val 6522"/>
            </a:avLst>
          </a:prstGeom>
          <a:solidFill>
            <a:srgbClr val="162032"/>
          </a:solidFill>
          <a:ln w="9525">
            <a:solidFill>
              <a:srgbClr val="233047"/>
            </a:solidFill>
            <a:prstDash val="solid"/>
          </a:ln>
          <a:effectLst>
            <a:outerShdw blurRad="76200" dist="25400" dir="5400000" algn="bl" rotWithShape="0">
              <a:srgbClr val="000000">
                <a:alpha val="16000"/>
              </a:srgbClr>
            </a:outerShdw>
          </a:effectLst>
        </p:spPr>
      </p:sp>
      <p:sp>
        <p:nvSpPr>
          <p:cNvPr id="17" name="Shape 15"/>
          <p:cNvSpPr/>
          <p:nvPr/>
        </p:nvSpPr>
        <p:spPr>
          <a:xfrm>
            <a:off x="603504" y="2459736"/>
            <a:ext cx="402336" cy="402336"/>
          </a:xfrm>
          <a:prstGeom prst="ellipse">
            <a:avLst/>
          </a:prstGeom>
          <a:solidFill>
            <a:srgbClr val="059669">
              <a:alpha val="20000"/>
            </a:srgbClr>
          </a:solidFill>
          <a:ln/>
        </p:spPr>
      </p:sp>
      <p:sp>
        <p:nvSpPr>
          <p:cNvPr id="18" name="Text 16"/>
          <p:cNvSpPr/>
          <p:nvPr/>
        </p:nvSpPr>
        <p:spPr>
          <a:xfrm>
            <a:off x="603504" y="2459736"/>
            <a:ext cx="402336" cy="40233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059669"/>
                </a:solidFill>
                <a:effectLst/>
                <a:uLnTx/>
                <a:uFillTx/>
                <a:latin typeface="Calibri" panose="020F0502020204030204"/>
                <a:ea typeface="+mn-ea"/>
                <a:cs typeface="+mn-cs"/>
              </a:rPr>
              <a:t>📄</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Text 17"/>
          <p:cNvSpPr/>
          <p:nvPr/>
        </p:nvSpPr>
        <p:spPr>
          <a:xfrm>
            <a:off x="1115568" y="2423160"/>
            <a:ext cx="3172968" cy="21945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FFFFFF"/>
                </a:solidFill>
                <a:effectLst/>
                <a:uLnTx/>
                <a:uFillTx/>
                <a:latin typeface="Cambria" pitchFamily="34" charset="0"/>
                <a:ea typeface="Cambria" pitchFamily="34" charset="-122"/>
                <a:cs typeface="Cambria" pitchFamily="34" charset="-120"/>
              </a:rPr>
              <a:t>Documentation</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Text 18"/>
          <p:cNvSpPr/>
          <p:nvPr/>
        </p:nvSpPr>
        <p:spPr>
          <a:xfrm>
            <a:off x="1115568" y="2642616"/>
            <a:ext cx="3172968" cy="457200"/>
          </a:xfrm>
          <a:prstGeom prst="rect">
            <a:avLst/>
          </a:prstGeom>
          <a:noFill/>
          <a:ln/>
        </p:spPr>
        <p:txBody>
          <a:bodyPr wrap="square" lIns="0" tIns="0" rIns="0" bIns="0" rtlCol="0" anchor="t"/>
          <a:lstStyle/>
          <a:p>
            <a:pPr marL="0" marR="0" lvl="0" indent="0" algn="l" defTabSz="914400" rtl="0" eaLnBrk="1" fontAlgn="auto" latinLnBrk="0" hangingPunct="1">
              <a:lnSpc>
                <a:spcPct val="108000"/>
              </a:lnSpc>
              <a:spcBef>
                <a:spcPts val="0"/>
              </a:spcBef>
              <a:spcAft>
                <a:spcPts val="0"/>
              </a:spcAft>
              <a:buClrTx/>
              <a:buSzTx/>
              <a:buFontTx/>
              <a:buNone/>
              <a:tabLst/>
              <a:defRPr/>
            </a:pPr>
            <a:r>
              <a:rPr kumimoji="0" lang="en-US" sz="870" b="0" i="0" u="none" strike="noStrike" kern="1200" cap="none" spc="0" normalizeH="0" baseline="0" noProof="0" dirty="0">
                <a:ln>
                  <a:noFill/>
                </a:ln>
                <a:solidFill>
                  <a:srgbClr val="AAB4C4"/>
                </a:solidFill>
                <a:effectLst/>
                <a:uLnTx/>
                <a:uFillTx/>
                <a:latin typeface="Calibri" pitchFamily="34" charset="0"/>
                <a:ea typeface="Calibri" pitchFamily="34" charset="-122"/>
                <a:cs typeface="Calibri" pitchFamily="34" charset="-120"/>
              </a:rPr>
              <a:t>LangSmith traces every step by name (auth.login_attempt, document_processing, run_risk_analysis) — intent is visible, not just code.</a:t>
            </a:r>
            <a:endParaRPr kumimoji="0" lang="en-US" sz="8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Shape 19"/>
          <p:cNvSpPr/>
          <p:nvPr/>
        </p:nvSpPr>
        <p:spPr>
          <a:xfrm>
            <a:off x="4709160" y="2331720"/>
            <a:ext cx="3977640" cy="841248"/>
          </a:xfrm>
          <a:prstGeom prst="roundRect">
            <a:avLst>
              <a:gd name="adj" fmla="val 6522"/>
            </a:avLst>
          </a:prstGeom>
          <a:solidFill>
            <a:srgbClr val="162032"/>
          </a:solidFill>
          <a:ln w="9525">
            <a:solidFill>
              <a:srgbClr val="233047"/>
            </a:solidFill>
            <a:prstDash val="solid"/>
          </a:ln>
          <a:effectLst>
            <a:outerShdw blurRad="76200" dist="25400" dir="5400000" algn="bl" rotWithShape="0">
              <a:srgbClr val="000000">
                <a:alpha val="16000"/>
              </a:srgbClr>
            </a:outerShdw>
          </a:effectLst>
        </p:spPr>
      </p:sp>
      <p:sp>
        <p:nvSpPr>
          <p:cNvPr id="22" name="Shape 20"/>
          <p:cNvSpPr/>
          <p:nvPr/>
        </p:nvSpPr>
        <p:spPr>
          <a:xfrm>
            <a:off x="4855464" y="2459736"/>
            <a:ext cx="402336" cy="402336"/>
          </a:xfrm>
          <a:prstGeom prst="ellipse">
            <a:avLst/>
          </a:prstGeom>
          <a:solidFill>
            <a:srgbClr val="F5A623">
              <a:alpha val="20000"/>
            </a:srgbClr>
          </a:solidFill>
          <a:ln/>
        </p:spPr>
      </p:sp>
      <p:sp>
        <p:nvSpPr>
          <p:cNvPr id="23" name="Text 21"/>
          <p:cNvSpPr/>
          <p:nvPr/>
        </p:nvSpPr>
        <p:spPr>
          <a:xfrm>
            <a:off x="4855464" y="2459736"/>
            <a:ext cx="402336" cy="40233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5A623"/>
                </a:solidFill>
                <a:effectLst/>
                <a:uLnTx/>
                <a:uFillTx/>
                <a:latin typeface="Calibri" panose="020F0502020204030204"/>
                <a:ea typeface="+mn-ea"/>
                <a:cs typeface="+mn-cs"/>
              </a:rPr>
              <a:t>🛡</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Text 22"/>
          <p:cNvSpPr/>
          <p:nvPr/>
        </p:nvSpPr>
        <p:spPr>
          <a:xfrm>
            <a:off x="5367528" y="2423160"/>
            <a:ext cx="3172968" cy="21945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FFFFFF"/>
                </a:solidFill>
                <a:effectLst/>
                <a:uLnTx/>
                <a:uFillTx/>
                <a:latin typeface="Cambria" pitchFamily="34" charset="0"/>
                <a:ea typeface="Cambria" pitchFamily="34" charset="-122"/>
                <a:cs typeface="Cambria" pitchFamily="34" charset="-120"/>
              </a:rPr>
              <a:t>Security &amp; Compliance</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 name="Text 23"/>
          <p:cNvSpPr/>
          <p:nvPr/>
        </p:nvSpPr>
        <p:spPr>
          <a:xfrm>
            <a:off x="5367528" y="2642616"/>
            <a:ext cx="3172968" cy="457200"/>
          </a:xfrm>
          <a:prstGeom prst="rect">
            <a:avLst/>
          </a:prstGeom>
          <a:noFill/>
          <a:ln/>
        </p:spPr>
        <p:txBody>
          <a:bodyPr wrap="square" lIns="0" tIns="0" rIns="0" bIns="0" rtlCol="0" anchor="t"/>
          <a:lstStyle/>
          <a:p>
            <a:pPr marL="0" marR="0" lvl="0" indent="0" algn="l" defTabSz="914400" rtl="0" eaLnBrk="1" fontAlgn="auto" latinLnBrk="0" hangingPunct="1">
              <a:lnSpc>
                <a:spcPct val="108000"/>
              </a:lnSpc>
              <a:spcBef>
                <a:spcPts val="0"/>
              </a:spcBef>
              <a:spcAft>
                <a:spcPts val="0"/>
              </a:spcAft>
              <a:buClrTx/>
              <a:buSzTx/>
              <a:buFontTx/>
              <a:buNone/>
              <a:tabLst/>
              <a:defRPr/>
            </a:pPr>
            <a:r>
              <a:rPr kumimoji="0" lang="en-US" sz="870" b="0" i="0" u="none" strike="noStrike" kern="1200" cap="none" spc="0" normalizeH="0" baseline="0" noProof="0" dirty="0">
                <a:ln>
                  <a:noFill/>
                </a:ln>
                <a:solidFill>
                  <a:srgbClr val="AAB4C4"/>
                </a:solidFill>
                <a:effectLst/>
                <a:uLnTx/>
                <a:uFillTx/>
                <a:latin typeface="Calibri" pitchFamily="34" charset="0"/>
                <a:ea typeface="Calibri" pitchFamily="34" charset="-122"/>
                <a:cs typeface="Calibri" pitchFamily="34" charset="-120"/>
              </a:rPr>
              <a:t>JWT + bcrypt authentication; 13 secure environment settings kept out of the Docker image, never baked into the build.</a:t>
            </a:r>
            <a:endParaRPr kumimoji="0" lang="en-US" sz="8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Shape 24"/>
          <p:cNvSpPr/>
          <p:nvPr/>
        </p:nvSpPr>
        <p:spPr>
          <a:xfrm>
            <a:off x="457200" y="3246120"/>
            <a:ext cx="3977640" cy="841248"/>
          </a:xfrm>
          <a:prstGeom prst="roundRect">
            <a:avLst>
              <a:gd name="adj" fmla="val 6522"/>
            </a:avLst>
          </a:prstGeom>
          <a:solidFill>
            <a:srgbClr val="162032"/>
          </a:solidFill>
          <a:ln w="9525">
            <a:solidFill>
              <a:srgbClr val="233047"/>
            </a:solidFill>
            <a:prstDash val="solid"/>
          </a:ln>
          <a:effectLst>
            <a:outerShdw blurRad="76200" dist="25400" dir="5400000" algn="bl" rotWithShape="0">
              <a:srgbClr val="000000">
                <a:alpha val="16000"/>
              </a:srgbClr>
            </a:outerShdw>
          </a:effectLst>
        </p:spPr>
      </p:sp>
      <p:sp>
        <p:nvSpPr>
          <p:cNvPr id="27" name="Shape 25"/>
          <p:cNvSpPr/>
          <p:nvPr/>
        </p:nvSpPr>
        <p:spPr>
          <a:xfrm>
            <a:off x="603504" y="3374136"/>
            <a:ext cx="402336" cy="402336"/>
          </a:xfrm>
          <a:prstGeom prst="ellipse">
            <a:avLst/>
          </a:prstGeom>
          <a:solidFill>
            <a:srgbClr val="E8544E">
              <a:alpha val="20000"/>
            </a:srgbClr>
          </a:solidFill>
          <a:ln/>
        </p:spPr>
      </p:sp>
      <p:sp>
        <p:nvSpPr>
          <p:cNvPr id="28" name="Text 26"/>
          <p:cNvSpPr/>
          <p:nvPr/>
        </p:nvSpPr>
        <p:spPr>
          <a:xfrm>
            <a:off x="603504" y="3374136"/>
            <a:ext cx="402336" cy="40233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E8544E"/>
                </a:solidFill>
                <a:effectLst/>
                <a:uLnTx/>
                <a:uFillTx/>
                <a:latin typeface="Calibri" panose="020F0502020204030204"/>
                <a:ea typeface="+mn-ea"/>
                <a:cs typeface="+mn-cs"/>
              </a:rPr>
              <a:t>✔</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Text 27"/>
          <p:cNvSpPr/>
          <p:nvPr/>
        </p:nvSpPr>
        <p:spPr>
          <a:xfrm>
            <a:off x="1115568" y="3337560"/>
            <a:ext cx="3172968" cy="21945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FFFFFF"/>
                </a:solidFill>
                <a:effectLst/>
                <a:uLnTx/>
                <a:uFillTx/>
                <a:latin typeface="Cambria" pitchFamily="34" charset="0"/>
                <a:ea typeface="Cambria" pitchFamily="34" charset="-122"/>
                <a:cs typeface="Cambria" pitchFamily="34" charset="-120"/>
              </a:rPr>
              <a:t>Testing Standards</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0" name="Text 28"/>
          <p:cNvSpPr/>
          <p:nvPr/>
        </p:nvSpPr>
        <p:spPr>
          <a:xfrm>
            <a:off x="1115568" y="3557016"/>
            <a:ext cx="3172968" cy="457200"/>
          </a:xfrm>
          <a:prstGeom prst="rect">
            <a:avLst/>
          </a:prstGeom>
          <a:noFill/>
          <a:ln/>
        </p:spPr>
        <p:txBody>
          <a:bodyPr wrap="square" lIns="0" tIns="0" rIns="0" bIns="0" rtlCol="0" anchor="t"/>
          <a:lstStyle/>
          <a:p>
            <a:pPr marL="0" marR="0" lvl="0" indent="0" algn="l" defTabSz="914400" rtl="0" eaLnBrk="1" fontAlgn="auto" latinLnBrk="0" hangingPunct="1">
              <a:lnSpc>
                <a:spcPct val="108000"/>
              </a:lnSpc>
              <a:spcBef>
                <a:spcPts val="0"/>
              </a:spcBef>
              <a:spcAft>
                <a:spcPts val="0"/>
              </a:spcAft>
              <a:buClrTx/>
              <a:buSzTx/>
              <a:buFontTx/>
              <a:buNone/>
              <a:tabLst/>
              <a:defRPr/>
            </a:pPr>
            <a:r>
              <a:rPr kumimoji="0" lang="en-US" sz="870" b="0" i="0" u="none" strike="noStrike" kern="1200" cap="none" spc="0" normalizeH="0" baseline="0" noProof="0" dirty="0">
                <a:ln>
                  <a:noFill/>
                </a:ln>
                <a:solidFill>
                  <a:srgbClr val="AAB4C4"/>
                </a:solidFill>
                <a:effectLst/>
                <a:uLnTx/>
                <a:uFillTx/>
                <a:latin typeface="Calibri" pitchFamily="34" charset="0"/>
                <a:ea typeface="Calibri" pitchFamily="34" charset="-122"/>
                <a:cs typeface="Calibri" pitchFamily="34" charset="-120"/>
              </a:rPr>
              <a:t>96 unit tests across every module, plus DeepEval (0.22 hallucination score) and RAGAS (0.88 faithfulness) — all run in CI in 6 seconds.</a:t>
            </a:r>
            <a:endParaRPr kumimoji="0" lang="en-US" sz="8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1" name="Shape 29"/>
          <p:cNvSpPr/>
          <p:nvPr/>
        </p:nvSpPr>
        <p:spPr>
          <a:xfrm>
            <a:off x="4709160" y="3246120"/>
            <a:ext cx="3977640" cy="841248"/>
          </a:xfrm>
          <a:prstGeom prst="roundRect">
            <a:avLst>
              <a:gd name="adj" fmla="val 6522"/>
            </a:avLst>
          </a:prstGeom>
          <a:solidFill>
            <a:srgbClr val="162032"/>
          </a:solidFill>
          <a:ln w="9525">
            <a:solidFill>
              <a:srgbClr val="233047"/>
            </a:solidFill>
            <a:prstDash val="solid"/>
          </a:ln>
          <a:effectLst>
            <a:outerShdw blurRad="76200" dist="25400" dir="5400000" algn="bl" rotWithShape="0">
              <a:srgbClr val="000000">
                <a:alpha val="16000"/>
              </a:srgbClr>
            </a:outerShdw>
          </a:effectLst>
        </p:spPr>
      </p:sp>
      <p:sp>
        <p:nvSpPr>
          <p:cNvPr id="32" name="Shape 30"/>
          <p:cNvSpPr/>
          <p:nvPr/>
        </p:nvSpPr>
        <p:spPr>
          <a:xfrm>
            <a:off x="4855464" y="3374136"/>
            <a:ext cx="402336" cy="402336"/>
          </a:xfrm>
          <a:prstGeom prst="ellipse">
            <a:avLst/>
          </a:prstGeom>
          <a:solidFill>
            <a:srgbClr val="3B82F6">
              <a:alpha val="20000"/>
            </a:srgbClr>
          </a:solidFill>
          <a:ln/>
        </p:spPr>
      </p:sp>
      <p:sp>
        <p:nvSpPr>
          <p:cNvPr id="33" name="Text 31"/>
          <p:cNvSpPr/>
          <p:nvPr/>
        </p:nvSpPr>
        <p:spPr>
          <a:xfrm>
            <a:off x="4855464" y="3374136"/>
            <a:ext cx="402336" cy="40233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3B82F6"/>
                </a:solidFill>
                <a:effectLst/>
                <a:uLnTx/>
                <a:uFillTx/>
                <a:latin typeface="Calibri" panose="020F0502020204030204"/>
                <a:ea typeface="+mn-ea"/>
                <a:cs typeface="+mn-cs"/>
              </a:rPr>
              <a:t>📦</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4" name="Text 32"/>
          <p:cNvSpPr/>
          <p:nvPr/>
        </p:nvSpPr>
        <p:spPr>
          <a:xfrm>
            <a:off x="5367528" y="3337560"/>
            <a:ext cx="3172968" cy="219456"/>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FFFFFF"/>
                </a:solidFill>
                <a:effectLst/>
                <a:uLnTx/>
                <a:uFillTx/>
                <a:latin typeface="Cambria" pitchFamily="34" charset="0"/>
                <a:ea typeface="Cambria" pitchFamily="34" charset="-122"/>
                <a:cs typeface="Cambria" pitchFamily="34" charset="-120"/>
              </a:rPr>
              <a:t>Version Control</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5" name="Text 33"/>
          <p:cNvSpPr/>
          <p:nvPr/>
        </p:nvSpPr>
        <p:spPr>
          <a:xfrm>
            <a:off x="5367528" y="3557016"/>
            <a:ext cx="3172968" cy="457200"/>
          </a:xfrm>
          <a:prstGeom prst="rect">
            <a:avLst/>
          </a:prstGeom>
          <a:noFill/>
          <a:ln/>
        </p:spPr>
        <p:txBody>
          <a:bodyPr wrap="square" lIns="0" tIns="0" rIns="0" bIns="0" rtlCol="0" anchor="t"/>
          <a:lstStyle/>
          <a:p>
            <a:pPr marL="0" marR="0" lvl="0" indent="0" algn="l" defTabSz="914400" rtl="0" eaLnBrk="1" fontAlgn="auto" latinLnBrk="0" hangingPunct="1">
              <a:lnSpc>
                <a:spcPct val="108000"/>
              </a:lnSpc>
              <a:spcBef>
                <a:spcPts val="0"/>
              </a:spcBef>
              <a:spcAft>
                <a:spcPts val="0"/>
              </a:spcAft>
              <a:buClrTx/>
              <a:buSzTx/>
              <a:buFontTx/>
              <a:buNone/>
              <a:tabLst/>
              <a:defRPr/>
            </a:pPr>
            <a:r>
              <a:rPr kumimoji="0" lang="en-US" sz="870" b="0" i="0" u="none" strike="noStrike" kern="1200" cap="none" spc="0" normalizeH="0" baseline="0" noProof="0" dirty="0">
                <a:ln>
                  <a:noFill/>
                </a:ln>
                <a:solidFill>
                  <a:srgbClr val="AAB4C4"/>
                </a:solidFill>
                <a:effectLst/>
                <a:uLnTx/>
                <a:uFillTx/>
                <a:latin typeface="Calibri" pitchFamily="34" charset="0"/>
                <a:ea typeface="Calibri" pitchFamily="34" charset="-122"/>
                <a:cs typeface="Calibri" pitchFamily="34" charset="-120"/>
              </a:rPr>
              <a:t>Trunk-based flow: git push → tests → Docker build → push to ACR → deploy — a clean, atomic, automated pipeline to Azure.</a:t>
            </a:r>
            <a:endParaRPr kumimoji="0" lang="en-US" sz="87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34338164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6">
    <p:bg>
      <p:bgPr>
        <a:solidFill>
          <a:srgbClr val="0F1B2D"/>
        </a:solidFill>
        <a:effectLst/>
      </p:bgPr>
    </p:bg>
    <p:spTree>
      <p:nvGrpSpPr>
        <p:cNvPr id="1" name=""/>
        <p:cNvGrpSpPr/>
        <p:nvPr/>
      </p:nvGrpSpPr>
      <p:grpSpPr>
        <a:xfrm>
          <a:off x="0" y="0"/>
          <a:ext cx="0" cy="0"/>
          <a:chOff x="0" y="0"/>
          <a:chExt cx="0" cy="0"/>
        </a:xfrm>
      </p:grpSpPr>
      <p:sp>
        <p:nvSpPr>
          <p:cNvPr id="2" name="Shape 0"/>
          <p:cNvSpPr/>
          <p:nvPr/>
        </p:nvSpPr>
        <p:spPr>
          <a:xfrm>
            <a:off x="6858000" y="-914400"/>
            <a:ext cx="3657600" cy="3657600"/>
          </a:xfrm>
          <a:prstGeom prst="ellipse">
            <a:avLst/>
          </a:prstGeom>
          <a:solidFill>
            <a:srgbClr val="2563EB">
              <a:alpha val="12000"/>
            </a:srgbClr>
          </a:solidFill>
          <a:ln/>
        </p:spPr>
      </p:sp>
      <p:sp>
        <p:nvSpPr>
          <p:cNvPr id="3" name="Shape 1"/>
          <p:cNvSpPr/>
          <p:nvPr/>
        </p:nvSpPr>
        <p:spPr>
          <a:xfrm>
            <a:off x="-699967" y="2616086"/>
            <a:ext cx="3200400" cy="3200400"/>
          </a:xfrm>
          <a:prstGeom prst="ellipse">
            <a:avLst/>
          </a:prstGeom>
          <a:solidFill>
            <a:srgbClr val="0891B2">
              <a:alpha val="12000"/>
            </a:srgbClr>
          </a:solidFill>
          <a:ln/>
        </p:spPr>
      </p:sp>
      <p:sp>
        <p:nvSpPr>
          <p:cNvPr id="4" name="Shape 2"/>
          <p:cNvSpPr/>
          <p:nvPr/>
        </p:nvSpPr>
        <p:spPr>
          <a:xfrm>
            <a:off x="3474720" y="365760"/>
            <a:ext cx="1280160" cy="256032"/>
          </a:xfrm>
          <a:prstGeom prst="roundRect">
            <a:avLst>
              <a:gd name="adj" fmla="val 50000"/>
            </a:avLst>
          </a:prstGeom>
          <a:solidFill>
            <a:srgbClr val="059669">
              <a:alpha val="25000"/>
            </a:srgbClr>
          </a:solidFill>
          <a:ln/>
        </p:spPr>
      </p:sp>
      <p:sp>
        <p:nvSpPr>
          <p:cNvPr id="5" name="Text 3"/>
          <p:cNvSpPr/>
          <p:nvPr/>
        </p:nvSpPr>
        <p:spPr>
          <a:xfrm>
            <a:off x="3474720" y="365760"/>
            <a:ext cx="1280160" cy="256032"/>
          </a:xfrm>
          <a:prstGeom prst="rect">
            <a:avLst/>
          </a:prstGeom>
          <a:noFill/>
          <a:ln/>
        </p:spPr>
        <p:txBody>
          <a:bodyPr wrap="square" lIns="0" tIns="0" rIns="0" bIns="0" rtlCol="0" anchor="ctr"/>
          <a:lstStyle/>
          <a:p>
            <a:pPr marL="0" indent="0" algn="ctr">
              <a:buNone/>
            </a:pPr>
            <a:r>
              <a:rPr lang="en-US" sz="900" b="1" kern="0" spc="150" dirty="0">
                <a:solidFill>
                  <a:srgbClr val="059669"/>
                </a:solidFill>
              </a:rPr>
              <a:t>SUBMITTED</a:t>
            </a:r>
            <a:endParaRPr lang="en-US" sz="900" dirty="0"/>
          </a:p>
        </p:txBody>
      </p:sp>
      <p:sp>
        <p:nvSpPr>
          <p:cNvPr id="6" name="Text 4"/>
          <p:cNvSpPr/>
          <p:nvPr/>
        </p:nvSpPr>
        <p:spPr>
          <a:xfrm>
            <a:off x="91440" y="1275588"/>
            <a:ext cx="8229600" cy="731520"/>
          </a:xfrm>
          <a:prstGeom prst="rect">
            <a:avLst/>
          </a:prstGeom>
          <a:noFill/>
          <a:ln/>
        </p:spPr>
        <p:txBody>
          <a:bodyPr wrap="square" lIns="0" tIns="0" rIns="0" bIns="0" rtlCol="0" anchor="ctr"/>
          <a:lstStyle/>
          <a:p>
            <a:pPr marL="0" indent="0" algn="ctr">
              <a:buNone/>
            </a:pPr>
            <a:r>
              <a:rPr lang="en-US" sz="4800" b="1" dirty="0">
                <a:solidFill>
                  <a:srgbClr val="FFFFFF"/>
                </a:solidFill>
                <a:latin typeface="Cambria" pitchFamily="34" charset="0"/>
                <a:ea typeface="Cambria" pitchFamily="34" charset="-122"/>
                <a:cs typeface="Cambria" pitchFamily="34" charset="-120"/>
              </a:rPr>
              <a:t>Thank You</a:t>
            </a:r>
          </a:p>
          <a:p>
            <a:pPr algn="ctr"/>
            <a:r>
              <a:rPr lang="en-US" sz="2400" b="1" dirty="0">
                <a:solidFill>
                  <a:srgbClr val="FFFFFF"/>
                </a:solidFill>
                <a:latin typeface="Cambria" pitchFamily="34" charset="0"/>
                <a:ea typeface="Cambria" pitchFamily="34" charset="-122"/>
                <a:cs typeface="Cambria" pitchFamily="34" charset="-120"/>
              </a:rPr>
              <a:t>Questions &amp; Answers</a:t>
            </a:r>
            <a:endParaRPr lang="en-US" sz="2400" dirty="0"/>
          </a:p>
          <a:p>
            <a:pPr marL="0" indent="0" algn="ctr">
              <a:buNone/>
            </a:pPr>
            <a:endParaRPr lang="en-US" sz="4800" dirty="0"/>
          </a:p>
        </p:txBody>
      </p:sp>
      <p:sp>
        <p:nvSpPr>
          <p:cNvPr id="8" name="Shape 6"/>
          <p:cNvSpPr/>
          <p:nvPr/>
        </p:nvSpPr>
        <p:spPr>
          <a:xfrm>
            <a:off x="822960" y="2423160"/>
            <a:ext cx="3520440" cy="566928"/>
          </a:xfrm>
          <a:prstGeom prst="roundRect">
            <a:avLst>
              <a:gd name="adj" fmla="val 12903"/>
            </a:avLst>
          </a:prstGeom>
          <a:solidFill>
            <a:srgbClr val="162032"/>
          </a:solidFill>
          <a:ln/>
          <a:effectLst>
            <a:outerShdw blurRad="50800" dist="25400" dir="2700000" algn="bl" rotWithShape="0">
              <a:srgbClr val="000000">
                <a:alpha val="12000"/>
              </a:srgbClr>
            </a:outerShdw>
          </a:effectLst>
        </p:spPr>
      </p:sp>
      <p:sp>
        <p:nvSpPr>
          <p:cNvPr id="9" name="Text 7"/>
          <p:cNvSpPr/>
          <p:nvPr/>
        </p:nvSpPr>
        <p:spPr>
          <a:xfrm>
            <a:off x="1005840" y="2487168"/>
            <a:ext cx="1097280" cy="384048"/>
          </a:xfrm>
          <a:prstGeom prst="rect">
            <a:avLst/>
          </a:prstGeom>
          <a:noFill/>
          <a:ln/>
        </p:spPr>
        <p:txBody>
          <a:bodyPr wrap="square" lIns="0" tIns="0" rIns="0" bIns="0" rtlCol="0" anchor="ctr"/>
          <a:lstStyle/>
          <a:p>
            <a:pPr marL="0" indent="0">
              <a:buNone/>
            </a:pPr>
            <a:r>
              <a:rPr lang="en-US" sz="1000" b="1" dirty="0">
                <a:solidFill>
                  <a:srgbClr val="0891B2"/>
                </a:solidFill>
              </a:rPr>
              <a:t>🌐 Live App  </a:t>
            </a:r>
            <a:endParaRPr lang="en-US" sz="1000" dirty="0"/>
          </a:p>
        </p:txBody>
      </p:sp>
      <p:sp>
        <p:nvSpPr>
          <p:cNvPr id="10" name="Text 8"/>
          <p:cNvSpPr/>
          <p:nvPr/>
        </p:nvSpPr>
        <p:spPr>
          <a:xfrm>
            <a:off x="1920240" y="2487168"/>
            <a:ext cx="2286000" cy="384048"/>
          </a:xfrm>
          <a:prstGeom prst="rect">
            <a:avLst/>
          </a:prstGeom>
          <a:noFill/>
          <a:ln/>
        </p:spPr>
        <p:txBody>
          <a:bodyPr wrap="square" lIns="0" tIns="0" rIns="0" bIns="0" rtlCol="0" anchor="ctr"/>
          <a:lstStyle/>
          <a:p>
            <a:pPr marL="0" indent="0">
              <a:buNone/>
            </a:pPr>
            <a:r>
              <a:rPr lang="en-US" sz="950" dirty="0">
                <a:solidFill>
                  <a:srgbClr val="FFFFFF"/>
                </a:solidFill>
                <a:latin typeface="Courier New" pitchFamily="34" charset="0"/>
                <a:ea typeface="Courier New" pitchFamily="34" charset="-122"/>
                <a:cs typeface="Courier New" pitchFamily="34" charset="-120"/>
              </a:rPr>
              <a:t>creditriskplatform.azurewebsites.net</a:t>
            </a:r>
            <a:endParaRPr lang="en-US" sz="950" dirty="0"/>
          </a:p>
        </p:txBody>
      </p:sp>
      <p:sp>
        <p:nvSpPr>
          <p:cNvPr id="11" name="Shape 9"/>
          <p:cNvSpPr/>
          <p:nvPr/>
        </p:nvSpPr>
        <p:spPr>
          <a:xfrm>
            <a:off x="4663440" y="2423160"/>
            <a:ext cx="3520440" cy="566928"/>
          </a:xfrm>
          <a:prstGeom prst="roundRect">
            <a:avLst>
              <a:gd name="adj" fmla="val 12903"/>
            </a:avLst>
          </a:prstGeom>
          <a:solidFill>
            <a:srgbClr val="162032"/>
          </a:solidFill>
          <a:ln/>
          <a:effectLst>
            <a:outerShdw blurRad="50800" dist="25400" dir="2700000" algn="bl" rotWithShape="0">
              <a:srgbClr val="000000">
                <a:alpha val="12000"/>
              </a:srgbClr>
            </a:outerShdw>
          </a:effectLst>
        </p:spPr>
      </p:sp>
      <p:sp>
        <p:nvSpPr>
          <p:cNvPr id="12" name="Text 10"/>
          <p:cNvSpPr/>
          <p:nvPr/>
        </p:nvSpPr>
        <p:spPr>
          <a:xfrm>
            <a:off x="4846320" y="2487168"/>
            <a:ext cx="1097280" cy="384048"/>
          </a:xfrm>
          <a:prstGeom prst="rect">
            <a:avLst/>
          </a:prstGeom>
          <a:noFill/>
          <a:ln/>
        </p:spPr>
        <p:txBody>
          <a:bodyPr wrap="square" lIns="0" tIns="0" rIns="0" bIns="0" rtlCol="0" anchor="ctr"/>
          <a:lstStyle/>
          <a:p>
            <a:pPr marL="0" indent="0">
              <a:buNone/>
            </a:pPr>
            <a:r>
              <a:rPr lang="en-US" sz="1000" b="1" dirty="0">
                <a:solidFill>
                  <a:srgbClr val="2563EB"/>
                </a:solidFill>
              </a:rPr>
              <a:t>💻 GitHub  </a:t>
            </a:r>
            <a:endParaRPr lang="en-US" sz="1000" dirty="0"/>
          </a:p>
        </p:txBody>
      </p:sp>
      <p:sp>
        <p:nvSpPr>
          <p:cNvPr id="13" name="Text 11"/>
          <p:cNvSpPr/>
          <p:nvPr/>
        </p:nvSpPr>
        <p:spPr>
          <a:xfrm>
            <a:off x="5760720" y="2487168"/>
            <a:ext cx="2286000" cy="384048"/>
          </a:xfrm>
          <a:prstGeom prst="rect">
            <a:avLst/>
          </a:prstGeom>
          <a:noFill/>
          <a:ln/>
        </p:spPr>
        <p:txBody>
          <a:bodyPr wrap="square" lIns="0" tIns="0" rIns="0" bIns="0" rtlCol="0" anchor="ctr"/>
          <a:lstStyle/>
          <a:p>
            <a:pPr marL="0" indent="0">
              <a:buNone/>
            </a:pPr>
            <a:r>
              <a:rPr lang="en-US" sz="950" dirty="0">
                <a:solidFill>
                  <a:srgbClr val="FFFFFF"/>
                </a:solidFill>
                <a:latin typeface="Courier New" pitchFamily="34" charset="0"/>
                <a:ea typeface="Courier New" pitchFamily="34" charset="-122"/>
                <a:cs typeface="Courier New" pitchFamily="34" charset="-120"/>
              </a:rPr>
              <a:t>github.com/Chaurasiyakash0136/EY-Training-2026</a:t>
            </a:r>
            <a:endParaRPr lang="en-US" sz="950" dirty="0"/>
          </a:p>
        </p:txBody>
      </p:sp>
      <p:sp>
        <p:nvSpPr>
          <p:cNvPr id="14" name="Shape 12"/>
          <p:cNvSpPr/>
          <p:nvPr/>
        </p:nvSpPr>
        <p:spPr>
          <a:xfrm>
            <a:off x="822960" y="3136392"/>
            <a:ext cx="3520440" cy="566928"/>
          </a:xfrm>
          <a:prstGeom prst="roundRect">
            <a:avLst>
              <a:gd name="adj" fmla="val 12903"/>
            </a:avLst>
          </a:prstGeom>
          <a:solidFill>
            <a:srgbClr val="162032"/>
          </a:solidFill>
          <a:ln/>
          <a:effectLst>
            <a:outerShdw blurRad="50800" dist="25400" dir="2700000" algn="bl" rotWithShape="0">
              <a:srgbClr val="000000">
                <a:alpha val="12000"/>
              </a:srgbClr>
            </a:outerShdw>
          </a:effectLst>
        </p:spPr>
      </p:sp>
      <p:sp>
        <p:nvSpPr>
          <p:cNvPr id="15" name="Text 13"/>
          <p:cNvSpPr/>
          <p:nvPr/>
        </p:nvSpPr>
        <p:spPr>
          <a:xfrm>
            <a:off x="1005840" y="3200400"/>
            <a:ext cx="1097280" cy="384048"/>
          </a:xfrm>
          <a:prstGeom prst="rect">
            <a:avLst/>
          </a:prstGeom>
          <a:noFill/>
          <a:ln/>
        </p:spPr>
        <p:txBody>
          <a:bodyPr wrap="square" lIns="0" tIns="0" rIns="0" bIns="0" rtlCol="0" anchor="ctr"/>
          <a:lstStyle/>
          <a:p>
            <a:pPr marL="0" indent="0">
              <a:buNone/>
            </a:pPr>
            <a:r>
              <a:rPr lang="en-US" sz="1000" b="1" dirty="0">
                <a:solidFill>
                  <a:srgbClr val="D97706"/>
                </a:solidFill>
              </a:rPr>
              <a:t>🔍 LangSmith  </a:t>
            </a:r>
            <a:endParaRPr lang="en-US" sz="1000" dirty="0"/>
          </a:p>
        </p:txBody>
      </p:sp>
      <p:sp>
        <p:nvSpPr>
          <p:cNvPr id="16" name="Text 14"/>
          <p:cNvSpPr/>
          <p:nvPr/>
        </p:nvSpPr>
        <p:spPr>
          <a:xfrm>
            <a:off x="1920240" y="3200400"/>
            <a:ext cx="2286000" cy="384048"/>
          </a:xfrm>
          <a:prstGeom prst="rect">
            <a:avLst/>
          </a:prstGeom>
          <a:noFill/>
          <a:ln/>
        </p:spPr>
        <p:txBody>
          <a:bodyPr wrap="square" lIns="0" tIns="0" rIns="0" bIns="0" rtlCol="0" anchor="ctr"/>
          <a:lstStyle/>
          <a:p>
            <a:pPr marL="0" indent="0">
              <a:buNone/>
            </a:pPr>
            <a:r>
              <a:rPr lang="en-US" sz="950" dirty="0">
                <a:solidFill>
                  <a:srgbClr val="FFFFFF"/>
                </a:solidFill>
                <a:latin typeface="Courier New" pitchFamily="34" charset="0"/>
                <a:ea typeface="Courier New" pitchFamily="34" charset="-122"/>
                <a:cs typeface="Courier New" pitchFamily="34" charset="-120"/>
              </a:rPr>
              <a:t>smith.langchain.com → credit-risk-platform</a:t>
            </a:r>
            <a:endParaRPr lang="en-US" sz="950" dirty="0"/>
          </a:p>
        </p:txBody>
      </p:sp>
      <p:sp>
        <p:nvSpPr>
          <p:cNvPr id="17" name="Shape 15"/>
          <p:cNvSpPr/>
          <p:nvPr/>
        </p:nvSpPr>
        <p:spPr>
          <a:xfrm>
            <a:off x="4663440" y="3136392"/>
            <a:ext cx="3520440" cy="566928"/>
          </a:xfrm>
          <a:prstGeom prst="roundRect">
            <a:avLst>
              <a:gd name="adj" fmla="val 12903"/>
            </a:avLst>
          </a:prstGeom>
          <a:solidFill>
            <a:srgbClr val="162032"/>
          </a:solidFill>
          <a:ln/>
          <a:effectLst>
            <a:outerShdw blurRad="50800" dist="25400" dir="2700000" algn="bl" rotWithShape="0">
              <a:srgbClr val="000000">
                <a:alpha val="12000"/>
              </a:srgbClr>
            </a:outerShdw>
          </a:effectLst>
        </p:spPr>
      </p:sp>
      <p:sp>
        <p:nvSpPr>
          <p:cNvPr id="18" name="Text 16"/>
          <p:cNvSpPr/>
          <p:nvPr/>
        </p:nvSpPr>
        <p:spPr>
          <a:xfrm>
            <a:off x="4846320" y="3200400"/>
            <a:ext cx="1097280" cy="384048"/>
          </a:xfrm>
          <a:prstGeom prst="rect">
            <a:avLst/>
          </a:prstGeom>
          <a:noFill/>
          <a:ln/>
        </p:spPr>
        <p:txBody>
          <a:bodyPr wrap="square" lIns="0" tIns="0" rIns="0" bIns="0" rtlCol="0" anchor="ctr"/>
          <a:lstStyle/>
          <a:p>
            <a:pPr marL="0" indent="0">
              <a:buNone/>
            </a:pPr>
            <a:r>
              <a:rPr lang="en-US" sz="1000" b="1" dirty="0">
                <a:solidFill>
                  <a:srgbClr val="059669"/>
                </a:solidFill>
              </a:rPr>
              <a:t>🏷️ Version  </a:t>
            </a:r>
            <a:endParaRPr lang="en-US" sz="1000" dirty="0"/>
          </a:p>
        </p:txBody>
      </p:sp>
      <p:sp>
        <p:nvSpPr>
          <p:cNvPr id="19" name="Text 17"/>
          <p:cNvSpPr/>
          <p:nvPr/>
        </p:nvSpPr>
        <p:spPr>
          <a:xfrm>
            <a:off x="5760720" y="3200400"/>
            <a:ext cx="2286000" cy="384048"/>
          </a:xfrm>
          <a:prstGeom prst="rect">
            <a:avLst/>
          </a:prstGeom>
          <a:noFill/>
          <a:ln/>
        </p:spPr>
        <p:txBody>
          <a:bodyPr wrap="square" lIns="0" tIns="0" rIns="0" bIns="0" rtlCol="0" anchor="ctr"/>
          <a:lstStyle/>
          <a:p>
            <a:pPr marL="0" indent="0">
              <a:buNone/>
            </a:pPr>
            <a:r>
              <a:rPr lang="en-US" sz="950" dirty="0">
                <a:solidFill>
                  <a:srgbClr val="FFFFFF"/>
                </a:solidFill>
                <a:latin typeface="Courier New" pitchFamily="34" charset="0"/>
                <a:ea typeface="Courier New" pitchFamily="34" charset="-122"/>
                <a:cs typeface="Courier New" pitchFamily="34" charset="-120"/>
              </a:rPr>
              <a:t>git tag v1.0 — main branch</a:t>
            </a:r>
            <a:endParaRPr lang="en-US" sz="950" dirty="0"/>
          </a:p>
        </p:txBody>
      </p:sp>
      <p:sp>
        <p:nvSpPr>
          <p:cNvPr id="20" name="Text 18"/>
          <p:cNvSpPr/>
          <p:nvPr/>
        </p:nvSpPr>
        <p:spPr>
          <a:xfrm>
            <a:off x="457200" y="4378495"/>
            <a:ext cx="8229600" cy="475874"/>
          </a:xfrm>
          <a:prstGeom prst="rect">
            <a:avLst/>
          </a:prstGeom>
          <a:noFill/>
          <a:ln/>
        </p:spPr>
        <p:txBody>
          <a:bodyPr wrap="square" lIns="0" tIns="0" rIns="0" bIns="0" rtlCol="0" anchor="ctr"/>
          <a:lstStyle/>
          <a:p>
            <a:pPr marL="0" indent="0" algn="ctr">
              <a:buNone/>
            </a:pPr>
            <a:r>
              <a:rPr lang="en-US" sz="1100" dirty="0">
                <a:solidFill>
                  <a:srgbClr val="94A3B8"/>
                </a:solidFill>
              </a:rPr>
              <a:t>Akash Chaurasiya  ·  Ashu Sharma  ·  EY Training 2026  </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284</TotalTime>
  <Words>2270</Words>
  <Application>Microsoft Office PowerPoint</Application>
  <PresentationFormat>On-screen Show (16:9)</PresentationFormat>
  <Paragraphs>394</Paragraphs>
  <Slides>19</Slides>
  <Notes>11</Notes>
  <HiddenSlides>0</HiddenSlides>
  <MMClips>0</MMClips>
  <ScaleCrop>false</ScaleCrop>
  <HeadingPairs>
    <vt:vector size="6" baseType="variant">
      <vt:variant>
        <vt:lpstr>Fonts Used</vt:lpstr>
      </vt:variant>
      <vt:variant>
        <vt:i4>4</vt:i4>
      </vt:variant>
      <vt:variant>
        <vt:lpstr>Theme</vt:lpstr>
      </vt:variant>
      <vt:variant>
        <vt:i4>2</vt:i4>
      </vt:variant>
      <vt:variant>
        <vt:lpstr>Slide Titles</vt:lpstr>
      </vt:variant>
      <vt:variant>
        <vt:i4>19</vt:i4>
      </vt:variant>
    </vt:vector>
  </HeadingPairs>
  <TitlesOfParts>
    <vt:vector size="25" baseType="lpstr">
      <vt:lpstr>Arial</vt:lpstr>
      <vt:lpstr>Calibri</vt:lpstr>
      <vt:lpstr>Cambria</vt:lpstr>
      <vt:lpstr>Courier New</vt:lpstr>
      <vt:lpstr>Office Theme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Credit Risk Intelligence Platform</dc:title>
  <dc:subject>EY Training 2026 Capstone</dc:subject>
  <dc:creator>Akash Chaurasiya &amp; Ashu Sharma</dc:creator>
  <cp:lastModifiedBy>azuser7270_mml.local</cp:lastModifiedBy>
  <cp:revision>63</cp:revision>
  <dcterms:created xsi:type="dcterms:W3CDTF">2026-07-02T07:39:23Z</dcterms:created>
  <dcterms:modified xsi:type="dcterms:W3CDTF">2026-07-08T11:53:07Z</dcterms:modified>
</cp:coreProperties>
</file>