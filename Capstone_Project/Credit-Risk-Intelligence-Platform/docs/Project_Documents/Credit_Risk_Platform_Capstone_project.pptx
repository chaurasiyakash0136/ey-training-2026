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760" r:id="rId2"/>
  </p:sldMasterIdLst>
  <p:notesMasterIdLst>
    <p:notesMasterId r:id="rId22"/>
  </p:notesMasterIdLst>
  <p:sldIdLst>
    <p:sldId id="256" r:id="rId3"/>
    <p:sldId id="311" r:id="rId4"/>
    <p:sldId id="312" r:id="rId5"/>
    <p:sldId id="313" r:id="rId6"/>
    <p:sldId id="314" r:id="rId7"/>
    <p:sldId id="308" r:id="rId8"/>
    <p:sldId id="257" r:id="rId9"/>
    <p:sldId id="259" r:id="rId10"/>
    <p:sldId id="260" r:id="rId11"/>
    <p:sldId id="272" r:id="rId12"/>
    <p:sldId id="262" r:id="rId13"/>
    <p:sldId id="263" r:id="rId14"/>
    <p:sldId id="316" r:id="rId15"/>
    <p:sldId id="317" r:id="rId16"/>
    <p:sldId id="266" r:id="rId17"/>
    <p:sldId id="318" r:id="rId18"/>
    <p:sldId id="269" r:id="rId19"/>
    <p:sldId id="310" r:id="rId20"/>
    <p:sldId id="271"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9" d="100"/>
          <a:sy n="139" d="100"/>
        </p:scale>
        <p:origin x="70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435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team and the platform. Mention it is live on Azure.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manual bottleneck. Banks receive hundreds of loan applications. Human review is slow and inconsistent.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five layers. PDF comes in at the top, risk decision comes out at the bottom.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customer journey from login to recommendations. Mention loan gating feature.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9-step pipeline. Emphasise the hybrid search and year-aware re-ranking as the key innovation for reducing hallucination.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reduction in hallucination. Explain that DeepEval gives us proof the AI is not making things 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940150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workflows run on every push. main.yml is the quality gate. The Azure workflow only runs if tests pass.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hardest one and explain it in depth. The hallucination problem is the most impressive technically.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1497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Offer to show the live app and LangSmith traces.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ditriskplatform.azurewebsites.ne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7132320" y="-1097280"/>
            <a:ext cx="3657600" cy="3657600"/>
          </a:xfrm>
          <a:prstGeom prst="ellipse">
            <a:avLst/>
          </a:prstGeom>
          <a:solidFill>
            <a:srgbClr val="2563EB">
              <a:alpha val="12000"/>
            </a:srgbClr>
          </a:solidFill>
          <a:ln/>
        </p:spPr>
      </p:sp>
      <p:sp>
        <p:nvSpPr>
          <p:cNvPr id="3" name="Shape 1"/>
          <p:cNvSpPr/>
          <p:nvPr/>
        </p:nvSpPr>
        <p:spPr>
          <a:xfrm>
            <a:off x="7772400" y="-457200"/>
            <a:ext cx="2286000" cy="2286000"/>
          </a:xfrm>
          <a:prstGeom prst="ellipse">
            <a:avLst/>
          </a:prstGeom>
          <a:solidFill>
            <a:srgbClr val="0891B2">
              <a:alpha val="20000"/>
            </a:srgbClr>
          </a:solidFill>
          <a:ln/>
        </p:spPr>
      </p:sp>
      <p:sp>
        <p:nvSpPr>
          <p:cNvPr id="4" name="Shape 2"/>
          <p:cNvSpPr/>
          <p:nvPr/>
        </p:nvSpPr>
        <p:spPr>
          <a:xfrm>
            <a:off x="-731520" y="3474720"/>
            <a:ext cx="2560320" cy="2560320"/>
          </a:xfrm>
          <a:prstGeom prst="ellipse">
            <a:avLst/>
          </a:prstGeom>
          <a:solidFill>
            <a:srgbClr val="2563EB">
              <a:alpha val="10000"/>
            </a:srgbClr>
          </a:solidFill>
          <a:ln/>
        </p:spPr>
      </p:sp>
      <p:sp>
        <p:nvSpPr>
          <p:cNvPr id="5" name="Shape 3"/>
          <p:cNvSpPr/>
          <p:nvPr/>
        </p:nvSpPr>
        <p:spPr>
          <a:xfrm>
            <a:off x="640080" y="822960"/>
            <a:ext cx="1280160" cy="256032"/>
          </a:xfrm>
          <a:prstGeom prst="roundRect">
            <a:avLst>
              <a:gd name="adj" fmla="val 50000"/>
            </a:avLst>
          </a:prstGeom>
          <a:solidFill>
            <a:srgbClr val="0891B2">
              <a:alpha val="25000"/>
            </a:srgbClr>
          </a:solidFill>
          <a:ln/>
        </p:spPr>
      </p:sp>
      <p:sp>
        <p:nvSpPr>
          <p:cNvPr id="6" name="Text 4"/>
          <p:cNvSpPr/>
          <p:nvPr/>
        </p:nvSpPr>
        <p:spPr>
          <a:xfrm>
            <a:off x="640080" y="82296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EY TRAINING 2026</a:t>
            </a:r>
            <a:endParaRPr lang="en-US" sz="900" dirty="0"/>
          </a:p>
        </p:txBody>
      </p:sp>
      <p:sp>
        <p:nvSpPr>
          <p:cNvPr id="7" name="Text 5"/>
          <p:cNvSpPr/>
          <p:nvPr/>
        </p:nvSpPr>
        <p:spPr>
          <a:xfrm>
            <a:off x="640080" y="1188720"/>
            <a:ext cx="7772400" cy="82296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Credit Risk</a:t>
            </a:r>
            <a:endParaRPr lang="en-US" sz="5200" dirty="0"/>
          </a:p>
        </p:txBody>
      </p:sp>
      <p:sp>
        <p:nvSpPr>
          <p:cNvPr id="8" name="Text 6"/>
          <p:cNvSpPr/>
          <p:nvPr/>
        </p:nvSpPr>
        <p:spPr>
          <a:xfrm>
            <a:off x="640080" y="1965960"/>
            <a:ext cx="7772400" cy="822960"/>
          </a:xfrm>
          <a:prstGeom prst="rect">
            <a:avLst/>
          </a:prstGeom>
          <a:noFill/>
          <a:ln/>
        </p:spPr>
        <p:txBody>
          <a:bodyPr wrap="square" lIns="0" tIns="0" rIns="0" bIns="0" rtlCol="0" anchor="ctr"/>
          <a:lstStyle/>
          <a:p>
            <a:pPr marL="0" indent="0">
              <a:buNone/>
            </a:pPr>
            <a:r>
              <a:rPr lang="en-US" sz="5200" b="1" dirty="0">
                <a:solidFill>
                  <a:srgbClr val="2563EB"/>
                </a:solidFill>
                <a:latin typeface="Cambria" pitchFamily="34" charset="0"/>
                <a:ea typeface="Cambria" pitchFamily="34" charset="-122"/>
                <a:cs typeface="Cambria" pitchFamily="34" charset="-120"/>
              </a:rPr>
              <a:t>Intelligence Platform</a:t>
            </a:r>
            <a:endParaRPr lang="en-US" sz="5200" dirty="0"/>
          </a:p>
        </p:txBody>
      </p:sp>
      <p:sp>
        <p:nvSpPr>
          <p:cNvPr id="9" name="Text 7"/>
          <p:cNvSpPr/>
          <p:nvPr/>
        </p:nvSpPr>
        <p:spPr>
          <a:xfrm>
            <a:off x="640080" y="2926080"/>
            <a:ext cx="7772400" cy="411480"/>
          </a:xfrm>
          <a:prstGeom prst="rect">
            <a:avLst/>
          </a:prstGeom>
          <a:noFill/>
          <a:ln/>
        </p:spPr>
        <p:txBody>
          <a:bodyPr wrap="square" lIns="0" tIns="0" rIns="0" bIns="0" rtlCol="0" anchor="ctr"/>
          <a:lstStyle/>
          <a:p>
            <a:pPr marL="0" indent="0">
              <a:buNone/>
            </a:pPr>
            <a:r>
              <a:rPr lang="en-US" sz="1500" dirty="0">
                <a:solidFill>
                  <a:srgbClr val="94A3B8"/>
                </a:solidFill>
                <a:latin typeface="Calibri" pitchFamily="34" charset="0"/>
                <a:ea typeface="Calibri" pitchFamily="34" charset="-122"/>
                <a:cs typeface="Calibri" pitchFamily="34" charset="-120"/>
              </a:rPr>
              <a:t>AI-Powered Credit Risk Assessment &amp; Financial Document Analysis</a:t>
            </a:r>
            <a:endParaRPr lang="en-US" sz="1500" dirty="0"/>
          </a:p>
        </p:txBody>
      </p:sp>
      <p:sp>
        <p:nvSpPr>
          <p:cNvPr id="10" name="Shape 8"/>
          <p:cNvSpPr/>
          <p:nvPr/>
        </p:nvSpPr>
        <p:spPr>
          <a:xfrm>
            <a:off x="640080" y="3703320"/>
            <a:ext cx="3840480" cy="594360"/>
          </a:xfrm>
          <a:prstGeom prst="roundRect">
            <a:avLst>
              <a:gd name="adj" fmla="val 12308"/>
            </a:avLst>
          </a:prstGeom>
          <a:solidFill>
            <a:srgbClr val="162032"/>
          </a:solidFill>
          <a:ln/>
          <a:effectLst>
            <a:outerShdw blurRad="50800" dist="25400" dir="2700000" algn="bl" rotWithShape="0">
              <a:srgbClr val="000000">
                <a:alpha val="12000"/>
              </a:srgbClr>
            </a:outerShdw>
          </a:effectLst>
        </p:spPr>
      </p:sp>
      <p:sp>
        <p:nvSpPr>
          <p:cNvPr id="11" name="Text 9"/>
          <p:cNvSpPr/>
          <p:nvPr/>
        </p:nvSpPr>
        <p:spPr>
          <a:xfrm>
            <a:off x="640080" y="3703320"/>
            <a:ext cx="3840480" cy="594360"/>
          </a:xfrm>
          <a:prstGeom prst="rect">
            <a:avLst/>
          </a:prstGeom>
          <a:noFill/>
          <a:ln/>
        </p:spPr>
        <p:txBody>
          <a:bodyPr wrap="square" lIns="0" tIns="0" rIns="0" bIns="0" rtlCol="0" anchor="ctr"/>
          <a:lstStyle/>
          <a:p>
            <a:pPr marL="0" indent="0" algn="ctr">
              <a:buNone/>
            </a:pPr>
            <a:r>
              <a:rPr lang="en-US" sz="1200" b="1" dirty="0">
                <a:solidFill>
                  <a:srgbClr val="FFFFFF"/>
                </a:solidFill>
              </a:rPr>
              <a:t>Akash Chaurasiya   </a:t>
            </a:r>
          </a:p>
          <a:p>
            <a:pPr marL="0" indent="0" algn="ctr">
              <a:buNone/>
            </a:pPr>
            <a:r>
              <a:rPr lang="en-US" sz="1200" b="1" dirty="0">
                <a:solidFill>
                  <a:srgbClr val="FFFFFF"/>
                </a:solidFill>
              </a:rPr>
              <a:t> Ashu Sharma</a:t>
            </a:r>
            <a:endParaRPr lang="en-US" sz="1200" dirty="0"/>
          </a:p>
        </p:txBody>
      </p:sp>
      <p:sp>
        <p:nvSpPr>
          <p:cNvPr id="12" name="Text 10">
            <a:hlinkClick r:id="rId3"/>
          </p:cNvPr>
          <p:cNvSpPr/>
          <p:nvPr/>
        </p:nvSpPr>
        <p:spPr>
          <a:xfrm>
            <a:off x="640080" y="4434840"/>
            <a:ext cx="4572000" cy="274320"/>
          </a:xfrm>
          <a:prstGeom prst="rect">
            <a:avLst/>
          </a:prstGeom>
          <a:noFill/>
          <a:ln/>
        </p:spPr>
        <p:txBody>
          <a:bodyPr wrap="square" lIns="0" tIns="0" rIns="0" bIns="0" rtlCol="0" anchor="ctr"/>
          <a:lstStyle/>
          <a:p>
            <a:pPr marL="0" indent="0">
              <a:buNone/>
            </a:pPr>
            <a:r>
              <a:rPr lang="en-US" sz="1000" u="sng" dirty="0">
                <a:solidFill>
                  <a:srgbClr val="0891B2"/>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  creditriskplatform.azurewebsites.net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D97757"/>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OLD WAY</a:t>
            </a:r>
            <a:endParaRPr lang="en-US" sz="862" dirty="0"/>
          </a:p>
        </p:txBody>
      </p:sp>
      <p:sp>
        <p:nvSpPr>
          <p:cNvPr id="4" name="Shape 2"/>
          <p:cNvSpPr/>
          <p:nvPr/>
        </p:nvSpPr>
        <p:spPr>
          <a:xfrm>
            <a:off x="7317486" y="411480"/>
            <a:ext cx="109728" cy="109728"/>
          </a:xfrm>
          <a:prstGeom prst="ellipse">
            <a:avLst/>
          </a:prstGeom>
          <a:solidFill>
            <a:srgbClr val="D97757"/>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D97757"/>
                </a:solidFill>
                <a:latin typeface="Calibri" pitchFamily="34" charset="0"/>
                <a:ea typeface="Calibri" pitchFamily="34" charset="-122"/>
                <a:cs typeface="Calibri" pitchFamily="34" charset="-120"/>
              </a:rPr>
              <a:t>THE APPLICATION</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Rohan asked for a loan. Then he waited four days.</a:t>
            </a:r>
            <a:endParaRPr lang="en-US" sz="2025" dirty="0"/>
          </a:p>
        </p:txBody>
      </p:sp>
      <p:sp>
        <p:nvSpPr>
          <p:cNvPr id="15" name="Shape 12"/>
          <p:cNvSpPr/>
          <p:nvPr/>
        </p:nvSpPr>
        <p:spPr>
          <a:xfrm>
            <a:off x="4629150" y="2023110"/>
            <a:ext cx="822960" cy="0"/>
          </a:xfrm>
          <a:prstGeom prst="line">
            <a:avLst/>
          </a:prstGeom>
          <a:noFill/>
          <a:ln w="28575">
            <a:solidFill>
              <a:srgbClr val="D97757"/>
            </a:solidFill>
            <a:prstDash val="solid"/>
          </a:ln>
        </p:spPr>
      </p:sp>
      <p:sp>
        <p:nvSpPr>
          <p:cNvPr id="16" name="Text 13"/>
          <p:cNvSpPr/>
          <p:nvPr/>
        </p:nvSpPr>
        <p:spPr>
          <a:xfrm>
            <a:off x="4615434" y="202311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owns a small electronics shop. A big festival is coming, and he needs a loan to buy new products to sell before demand goes up. He applies for the loan, feeling hopeful. But one day turns into four. No one tells him what is happening. He has no idea if he will get the loan or not.</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OLD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C1583B"/>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WHERE IT BROKE</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C1583B"/>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C1583B"/>
                </a:solidFill>
                <a:latin typeface="Calibri" pitchFamily="34" charset="0"/>
                <a:ea typeface="Calibri" pitchFamily="34" charset="-122"/>
                <a:cs typeface="Calibri" pitchFamily="34" charset="-120"/>
              </a:rPr>
              <a:t>THE ANSWER HE GOT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Loan Application Rejected — No Reason Given by the Bank</a:t>
            </a:r>
            <a:endParaRPr lang="en-US" sz="2025" dirty="0"/>
          </a:p>
        </p:txBody>
      </p:sp>
      <p:sp>
        <p:nvSpPr>
          <p:cNvPr id="15" name="Shape 12"/>
          <p:cNvSpPr/>
          <p:nvPr/>
        </p:nvSpPr>
        <p:spPr>
          <a:xfrm>
            <a:off x="4629150" y="2023110"/>
            <a:ext cx="822960" cy="0"/>
          </a:xfrm>
          <a:prstGeom prst="line">
            <a:avLst/>
          </a:prstGeom>
          <a:noFill/>
          <a:ln w="28575">
            <a:solidFill>
              <a:srgbClr val="C1583B"/>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After four days of waiting, the answer is just one word: rejected. No one tells him why, and no one tells him what to fix. The festival does not wait for anyone. Rohan cannot buy new stock in time, and he loses more than a loan — he loses his best sales season of the year.</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WHERE IT BROKE</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5C7A54"/>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TURNING POINT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The same documents. This time, read in minutes.</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This time, before he applies again, Rohan uploads his documents to the Credit Risk Intelligence Platform recommended by his friend. In minutes, it shows him exactly why he was rejected — and what he needs to fix. He fixes it, then applies again, feeling sure this time.</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7.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5C7A54"/>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NEW NORMAL</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Approved. And this time, he knows why.</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gets his inventory in time for the festival. The bank keeps a happy customer instead of losing one. Same papers, read the right way this time — by the bank and by Rohan. Rohan is just one person. But this platform is built to give every person a clear answer, not just a yes or no.</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9.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name="Slide 9">
    <p:bg>
      <p:bgPr>
        <a:solidFill>
          <a:srgbClr val="12213A"/>
        </a:solidFill>
        <a:effectLst/>
      </p:bgPr>
    </p:bg>
    <p:spTree>
      <p:nvGrpSpPr>
        <p:cNvPr id="1" name=""/>
        <p:cNvGrpSpPr/>
        <p:nvPr/>
      </p:nvGrpSpPr>
      <p:grpSpPr>
        <a:xfrm>
          <a:off x="0" y="0"/>
          <a:ext cx="0" cy="0"/>
          <a:chOff x="0" y="0"/>
          <a:chExt cx="0" cy="0"/>
        </a:xfrm>
      </p:grpSpPr>
      <p:sp>
        <p:nvSpPr>
          <p:cNvPr id="2" name="Shape 0"/>
          <p:cNvSpPr/>
          <p:nvPr/>
        </p:nvSpPr>
        <p:spPr>
          <a:xfrm>
            <a:off x="0" y="0"/>
            <a:ext cx="9141714" cy="5143500"/>
          </a:xfrm>
          <a:prstGeom prst="rect">
            <a:avLst/>
          </a:prstGeom>
          <a:solidFill>
            <a:srgbClr val="12213A"/>
          </a:solidFill>
          <a:ln/>
        </p:spPr>
      </p:sp>
      <p:sp>
        <p:nvSpPr>
          <p:cNvPr id="3" name="Text 1"/>
          <p:cNvSpPr/>
          <p:nvPr/>
        </p:nvSpPr>
        <p:spPr>
          <a:xfrm>
            <a:off x="0" y="1028700"/>
            <a:ext cx="9141714" cy="274320"/>
          </a:xfrm>
          <a:prstGeom prst="rect">
            <a:avLst/>
          </a:prstGeom>
          <a:noFill/>
          <a:ln/>
        </p:spPr>
        <p:txBody>
          <a:bodyPr wrap="square" lIns="0" tIns="0" rIns="0" bIns="0" rtlCol="0" anchor="ctr"/>
          <a:lstStyle/>
          <a:p>
            <a:pPr marL="0" indent="0" algn="ctr">
              <a:buNone/>
            </a:pPr>
            <a:r>
              <a:rPr lang="en-US" sz="975" b="1" kern="0" spc="250" dirty="0">
                <a:solidFill>
                  <a:srgbClr val="7C8CE8"/>
                </a:solidFill>
                <a:latin typeface="Calibri" pitchFamily="34" charset="0"/>
                <a:ea typeface="Calibri" pitchFamily="34" charset="-122"/>
                <a:cs typeface="Calibri" pitchFamily="34" charset="-120"/>
              </a:rPr>
              <a:t>IN ONE SENTENCE</a:t>
            </a:r>
            <a:endParaRPr lang="en-US" sz="975" dirty="0"/>
          </a:p>
        </p:txBody>
      </p:sp>
      <p:sp>
        <p:nvSpPr>
          <p:cNvPr id="4" name="Text 2"/>
          <p:cNvSpPr/>
          <p:nvPr/>
        </p:nvSpPr>
        <p:spPr>
          <a:xfrm>
            <a:off x="1028700" y="1440180"/>
            <a:ext cx="7084314" cy="1508760"/>
          </a:xfrm>
          <a:prstGeom prst="rect">
            <a:avLst/>
          </a:prstGeom>
          <a:noFill/>
          <a:ln/>
        </p:spPr>
        <p:txBody>
          <a:bodyPr wrap="square" lIns="0" tIns="0" rIns="0" bIns="0" rtlCol="0" anchor="ctr"/>
          <a:lstStyle/>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 loan decision that used to take days</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still felt unfair now takes minutes —</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finally explains itself.</a:t>
            </a:r>
            <a:endParaRPr lang="en-US" sz="2400" dirty="0"/>
          </a:p>
        </p:txBody>
      </p:sp>
      <p:sp>
        <p:nvSpPr>
          <p:cNvPr id="5" name="Shape 3"/>
          <p:cNvSpPr/>
          <p:nvPr/>
        </p:nvSpPr>
        <p:spPr>
          <a:xfrm>
            <a:off x="3888486" y="3086100"/>
            <a:ext cx="1371600" cy="0"/>
          </a:xfrm>
          <a:prstGeom prst="line">
            <a:avLst/>
          </a:prstGeom>
          <a:noFill/>
          <a:ln w="9525">
            <a:solidFill>
              <a:srgbClr val="2E3D5E"/>
            </a:solidFill>
            <a:prstDash val="solid"/>
          </a:ln>
        </p:spPr>
      </p:sp>
      <p:sp>
        <p:nvSpPr>
          <p:cNvPr id="6" name="Text 4"/>
          <p:cNvSpPr/>
          <p:nvPr/>
        </p:nvSpPr>
        <p:spPr>
          <a:xfrm>
            <a:off x="1714500" y="3257550"/>
            <a:ext cx="5712714" cy="685800"/>
          </a:xfrm>
          <a:prstGeom prst="rect">
            <a:avLst/>
          </a:prstGeom>
          <a:noFill/>
          <a:ln/>
        </p:spPr>
        <p:txBody>
          <a:bodyPr wrap="square" lIns="0" tIns="0" rIns="0" bIns="0" rtlCol="0" anchor="ctr"/>
          <a:lstStyle/>
          <a:p>
            <a:pPr marL="0" indent="0" algn="ctr">
              <a:lnSpc>
                <a:spcPct val="135000"/>
              </a:lnSpc>
              <a:buNone/>
            </a:pPr>
            <a:r>
              <a:rPr lang="en-US" sz="1012" i="1" dirty="0">
                <a:solidFill>
                  <a:srgbClr val="C9D2E8"/>
                </a:solidFill>
                <a:latin typeface="Calibri" pitchFamily="34" charset="0"/>
                <a:ea typeface="Calibri" pitchFamily="34" charset="-122"/>
                <a:cs typeface="Calibri" pitchFamily="34" charset="-120"/>
              </a:rPr>
              <a:t>Rohan's story is one applicant. The platform behind it — built on real documents, real risk scoring, and a mandatory human sign-off — is built to give every applicant an answer, not just a stamp.</a:t>
            </a:r>
            <a:endParaRPr lang="en-US" sz="1012" dirty="0"/>
          </a:p>
        </p:txBody>
      </p:sp>
      <p:sp>
        <p:nvSpPr>
          <p:cNvPr id="7" name="Text 5"/>
          <p:cNvSpPr/>
          <p:nvPr/>
        </p:nvSpPr>
        <p:spPr>
          <a:xfrm>
            <a:off x="0" y="4217670"/>
            <a:ext cx="9141714" cy="274320"/>
          </a:xfrm>
          <a:prstGeom prst="rect">
            <a:avLst/>
          </a:prstGeom>
          <a:noFill/>
          <a:ln/>
        </p:spPr>
        <p:txBody>
          <a:bodyPr wrap="square" lIns="0" tIns="0" rIns="0" bIns="0" rtlCol="0" anchor="ctr"/>
          <a:lstStyle/>
          <a:p>
            <a:pPr marL="0" indent="0" algn="ctr">
              <a:buNone/>
            </a:pPr>
            <a:r>
              <a:rPr lang="en-US" sz="900" dirty="0">
                <a:solidFill>
                  <a:srgbClr val="7C8CE8"/>
                </a:solidFill>
                <a:latin typeface="Calibri" pitchFamily="34" charset="0"/>
                <a:ea typeface="Calibri" pitchFamily="34" charset="-122"/>
                <a:cs typeface="Calibri" pitchFamily="34" charset="-120"/>
              </a:rPr>
              <a:t>Credit Risk Intelligence Platform · Ashu Sharma &amp; Akash Chaurasiya</a:t>
            </a:r>
            <a:endParaRPr lang="en-US" sz="900" dirty="0"/>
          </a:p>
        </p:txBody>
      </p:sp>
      <p:sp>
        <p:nvSpPr>
          <p:cNvPr id="8" name="Text 6"/>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Close</a:t>
            </a:r>
            <a:endParaRPr lang="en-US" sz="712" dirty="0"/>
          </a:p>
        </p:txBody>
      </p:sp>
      <p:sp>
        <p:nvSpPr>
          <p:cNvPr id="9" name="Text 7"/>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name="Problem and Solution">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700000" cy="256032"/>
          </a:xfrm>
          <a:prstGeom prst="roundRect">
            <a:avLst>
              <a:gd name="adj" fmla="val 50000"/>
            </a:avLst>
          </a:prstGeom>
          <a:solidFill>
            <a:srgbClr val="2563EB">
              <a:alpha val="25000"/>
            </a:srgbClr>
          </a:solidFill>
          <a:ln/>
        </p:spPr>
      </p:sp>
      <p:sp>
        <p:nvSpPr>
          <p:cNvPr id="102" name="BadgeText"/>
          <p:cNvSpPr/>
          <p:nvPr/>
        </p:nvSpPr>
        <p:spPr>
          <a:xfrm>
            <a:off x="457200" y="274320"/>
            <a:ext cx="170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OVERVIEW</a:t>
            </a:r>
          </a:p>
        </p:txBody>
      </p:sp>
      <p:sp>
        <p:nvSpPr>
          <p:cNvPr id="103" name="Title"/>
          <p:cNvSpPr/>
          <p:nvPr/>
        </p:nvSpPr>
        <p:spPr>
          <a:xfrm>
            <a:off x="457200" y="590000"/>
            <a:ext cx="8229600" cy="50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Why We Built It — And What We Built</a:t>
            </a:r>
          </a:p>
        </p:txBody>
      </p:sp>
      <p:sp>
        <p:nvSpPr>
          <p:cNvPr id="104" name="Badge"/>
          <p:cNvSpPr/>
          <p:nvPr/>
        </p:nvSpPr>
        <p:spPr>
          <a:xfrm>
            <a:off x="457200" y="1230000"/>
            <a:ext cx="1450000" cy="230000"/>
          </a:xfrm>
          <a:prstGeom prst="roundRect">
            <a:avLst>
              <a:gd name="adj" fmla="val 50000"/>
            </a:avLst>
          </a:prstGeom>
          <a:solidFill>
            <a:srgbClr val="DC2626">
              <a:alpha val="25000"/>
            </a:srgbClr>
          </a:solidFill>
          <a:ln/>
        </p:spPr>
      </p:sp>
      <p:sp>
        <p:nvSpPr>
          <p:cNvPr id="105" name="BadgeText"/>
          <p:cNvSpPr/>
          <p:nvPr/>
        </p:nvSpPr>
        <p:spPr>
          <a:xfrm>
            <a:off x="457200" y="1230000"/>
            <a:ext cx="145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THE PROBLEM</a:t>
            </a:r>
          </a:p>
        </p:txBody>
      </p:sp>
      <p:sp>
        <p:nvSpPr>
          <p:cNvPr id="106" name="Text"/>
          <p:cNvSpPr/>
          <p:nvPr/>
        </p:nvSpPr>
        <p:spPr>
          <a:xfrm>
            <a:off x="457200" y="156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07" name="Text"/>
          <p:cNvSpPr/>
          <p:nvPr/>
        </p:nvSpPr>
        <p:spPr>
          <a:xfrm>
            <a:off x="857200" y="156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Manual Review</a:t>
            </a:r>
          </a:p>
        </p:txBody>
      </p:sp>
      <p:sp>
        <p:nvSpPr>
          <p:cNvPr id="108" name="Text"/>
          <p:cNvSpPr/>
          <p:nvPr/>
        </p:nvSpPr>
        <p:spPr>
          <a:xfrm>
            <a:off x="857200" y="173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Officers read 50-100 page PDFs by hand — 3-5 days per application.</a:t>
            </a:r>
          </a:p>
        </p:txBody>
      </p:sp>
      <p:sp>
        <p:nvSpPr>
          <p:cNvPr id="109" name="Text"/>
          <p:cNvSpPr/>
          <p:nvPr/>
        </p:nvSpPr>
        <p:spPr>
          <a:xfrm>
            <a:off x="457200" y="203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0" name="Text"/>
          <p:cNvSpPr/>
          <p:nvPr/>
        </p:nvSpPr>
        <p:spPr>
          <a:xfrm>
            <a:off x="857200" y="203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Human Error</a:t>
            </a:r>
          </a:p>
        </p:txBody>
      </p:sp>
      <p:sp>
        <p:nvSpPr>
          <p:cNvPr id="111" name="Text"/>
          <p:cNvSpPr/>
          <p:nvPr/>
        </p:nvSpPr>
        <p:spPr>
          <a:xfrm>
            <a:off x="857200" y="220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Same applicant gets different risk ratings from different officers.</a:t>
            </a:r>
          </a:p>
        </p:txBody>
      </p:sp>
      <p:sp>
        <p:nvSpPr>
          <p:cNvPr id="112" name="Text"/>
          <p:cNvSpPr/>
          <p:nvPr/>
        </p:nvSpPr>
        <p:spPr>
          <a:xfrm>
            <a:off x="457200" y="250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3" name="Text"/>
          <p:cNvSpPr/>
          <p:nvPr/>
        </p:nvSpPr>
        <p:spPr>
          <a:xfrm>
            <a:off x="857200" y="250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Slow Decisions</a:t>
            </a:r>
          </a:p>
        </p:txBody>
      </p:sp>
      <p:sp>
        <p:nvSpPr>
          <p:cNvPr id="114" name="Text"/>
          <p:cNvSpPr/>
          <p:nvPr/>
        </p:nvSpPr>
        <p:spPr>
          <a:xfrm>
            <a:off x="857200" y="267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Customers wait weeks while documents sit in a processing queue.</a:t>
            </a:r>
          </a:p>
        </p:txBody>
      </p:sp>
      <p:sp>
        <p:nvSpPr>
          <p:cNvPr id="115" name="Text"/>
          <p:cNvSpPr/>
          <p:nvPr/>
        </p:nvSpPr>
        <p:spPr>
          <a:xfrm>
            <a:off x="457200" y="297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6" name="Text"/>
          <p:cNvSpPr/>
          <p:nvPr/>
        </p:nvSpPr>
        <p:spPr>
          <a:xfrm>
            <a:off x="857200" y="297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Revenue Loss</a:t>
            </a:r>
          </a:p>
        </p:txBody>
      </p:sp>
      <p:sp>
        <p:nvSpPr>
          <p:cNvPr id="117" name="Text"/>
          <p:cNvSpPr/>
          <p:nvPr/>
        </p:nvSpPr>
        <p:spPr>
          <a:xfrm>
            <a:off x="857200" y="314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Banks lose creditworthy customers to faster competitors.</a:t>
            </a:r>
          </a:p>
        </p:txBody>
      </p:sp>
      <p:sp>
        <p:nvSpPr>
          <p:cNvPr id="118" name="Badge"/>
          <p:cNvSpPr/>
          <p:nvPr/>
        </p:nvSpPr>
        <p:spPr>
          <a:xfrm>
            <a:off x="4686300" y="1230000"/>
            <a:ext cx="1550000" cy="230000"/>
          </a:xfrm>
          <a:prstGeom prst="roundRect">
            <a:avLst>
              <a:gd name="adj" fmla="val 50000"/>
            </a:avLst>
          </a:prstGeom>
          <a:solidFill>
            <a:srgbClr val="059669">
              <a:alpha val="25000"/>
            </a:srgbClr>
          </a:solidFill>
          <a:ln/>
        </p:spPr>
      </p:sp>
      <p:sp>
        <p:nvSpPr>
          <p:cNvPr id="119" name="BadgeText"/>
          <p:cNvSpPr/>
          <p:nvPr/>
        </p:nvSpPr>
        <p:spPr>
          <a:xfrm>
            <a:off x="4686300" y="1230000"/>
            <a:ext cx="155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OUR SOLUTION</a:t>
            </a:r>
          </a:p>
        </p:txBody>
      </p:sp>
      <p:sp>
        <p:nvSpPr>
          <p:cNvPr id="120" name="Text"/>
          <p:cNvSpPr/>
          <p:nvPr/>
        </p:nvSpPr>
        <p:spPr>
          <a:xfrm>
            <a:off x="4686300" y="1560000"/>
            <a:ext cx="4000500" cy="620000"/>
          </a:xfrm>
          <a:prstGeom prst="rect">
            <a:avLst/>
          </a:prstGeom>
          <a:noFill/>
          <a:ln/>
        </p:spPr>
        <p:txBody>
          <a:bodyPr wrap="square" lIns="0" tIns="0" rIns="0" bIns="0" rtlCol="0" anchor="t"/>
          <a:lstStyle/>
          <a:p>
            <a:pPr marL="0" indent="0" algn="l">
              <a:lnSpc>
                <a:spcPct val="125000"/>
              </a:lnSpc>
              <a:buNone/>
            </a:pPr>
            <a:r>
              <a:rPr lang="en-US" sz="950" b="0" dirty="0">
                <a:solidFill>
                  <a:srgbClr val="CBD5E1"/>
                </a:solidFill>
              </a:rPr>
              <a:t>An AI platform that extracts key financial data from uploaded PDFs, generates explainable credit risk scores, and gives AI-powered loan recommendations — for both individual customers and financial institutions.</a:t>
            </a:r>
          </a:p>
        </p:txBody>
      </p:sp>
      <p:sp>
        <p:nvSpPr>
          <p:cNvPr id="121" name="Text"/>
          <p:cNvSpPr/>
          <p:nvPr/>
        </p:nvSpPr>
        <p:spPr>
          <a:xfrm>
            <a:off x="4686300" y="226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2" name="Text"/>
          <p:cNvSpPr/>
          <p:nvPr/>
        </p:nvSpPr>
        <p:spPr>
          <a:xfrm>
            <a:off x="4906300" y="226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Automatic PDF data extraction</a:t>
            </a:r>
          </a:p>
        </p:txBody>
      </p:sp>
      <p:sp>
        <p:nvSpPr>
          <p:cNvPr id="123" name="Text"/>
          <p:cNvSpPr/>
          <p:nvPr/>
        </p:nvSpPr>
        <p:spPr>
          <a:xfrm>
            <a:off x="4686300" y="252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4" name="Text"/>
          <p:cNvSpPr/>
          <p:nvPr/>
        </p:nvSpPr>
        <p:spPr>
          <a:xfrm>
            <a:off x="4906300" y="252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Explainable risk scores, not black-box numbers</a:t>
            </a:r>
          </a:p>
        </p:txBody>
      </p:sp>
      <p:sp>
        <p:nvSpPr>
          <p:cNvPr id="125" name="Text"/>
          <p:cNvSpPr/>
          <p:nvPr/>
        </p:nvSpPr>
        <p:spPr>
          <a:xfrm>
            <a:off x="4686300" y="278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6" name="Text"/>
          <p:cNvSpPr/>
          <p:nvPr/>
        </p:nvSpPr>
        <p:spPr>
          <a:xfrm>
            <a:off x="4906300" y="278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Safer loan amounts, better rates, next steps</a:t>
            </a:r>
          </a:p>
        </p:txBody>
      </p:sp>
      <p:sp>
        <p:nvSpPr>
          <p:cNvPr id="127" name="Text"/>
          <p:cNvSpPr/>
          <p:nvPr/>
        </p:nvSpPr>
        <p:spPr>
          <a:xfrm>
            <a:off x="4686300" y="304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8" name="Text"/>
          <p:cNvSpPr/>
          <p:nvPr/>
        </p:nvSpPr>
        <p:spPr>
          <a:xfrm>
            <a:off x="4906300" y="304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Full CI/CD deploy pipeline on Azure</a:t>
            </a:r>
          </a:p>
        </p:txBody>
      </p:sp>
      <p:sp>
        <p:nvSpPr>
          <p:cNvPr id="129" name="Pill"/>
          <p:cNvSpPr/>
          <p:nvPr/>
        </p:nvSpPr>
        <p:spPr>
          <a:xfrm>
            <a:off x="4686300" y="3420000"/>
            <a:ext cx="75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Streamlit</a:t>
            </a:r>
          </a:p>
        </p:txBody>
      </p:sp>
      <p:sp>
        <p:nvSpPr>
          <p:cNvPr id="130" name="Pill"/>
          <p:cNvSpPr/>
          <p:nvPr/>
        </p:nvSpPr>
        <p:spPr>
          <a:xfrm>
            <a:off x="5516300" y="34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LangChain</a:t>
            </a:r>
          </a:p>
        </p:txBody>
      </p:sp>
      <p:sp>
        <p:nvSpPr>
          <p:cNvPr id="131" name="Pill"/>
          <p:cNvSpPr/>
          <p:nvPr/>
        </p:nvSpPr>
        <p:spPr>
          <a:xfrm>
            <a:off x="6346300" y="3420000"/>
            <a:ext cx="690000" cy="250000"/>
          </a:xfrm>
          <a:prstGeom prst="roundRect">
            <a:avLst>
              <a:gd name="adj" fmla="val 50000"/>
            </a:avLst>
          </a:prstGeom>
          <a:solidFill>
            <a:srgbClr val="059669">
              <a:alpha val="20000"/>
            </a:srgbClr>
          </a:solidFill>
          <a:ln/>
        </p:spPr>
        <p:txBody>
          <a:bodyPr wrap="square" lIns="0" tIns="0" rIns="0" bIns="0" rtlCol="0" anchor="ctr"/>
          <a:lstStyle/>
          <a:p>
            <a:pPr marL="0" indent="0" algn="ctr">
              <a:buNone/>
            </a:pPr>
            <a:r>
              <a:rPr lang="en-US" sz="750" b="1" dirty="0">
                <a:solidFill>
                  <a:srgbClr val="FFFFFF"/>
                </a:solidFill>
              </a:rPr>
              <a:t>Pinecone</a:t>
            </a:r>
          </a:p>
        </p:txBody>
      </p:sp>
      <p:sp>
        <p:nvSpPr>
          <p:cNvPr id="132" name="Pill"/>
          <p:cNvSpPr/>
          <p:nvPr/>
        </p:nvSpPr>
        <p:spPr>
          <a:xfrm>
            <a:off x="7116300" y="3420000"/>
            <a:ext cx="570000" cy="25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a:t>
            </a:r>
          </a:p>
        </p:txBody>
      </p:sp>
      <p:sp>
        <p:nvSpPr>
          <p:cNvPr id="133" name="Pill"/>
          <p:cNvSpPr/>
          <p:nvPr/>
        </p:nvSpPr>
        <p:spPr>
          <a:xfrm>
            <a:off x="7766300" y="3420000"/>
            <a:ext cx="51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Azure</a:t>
            </a:r>
          </a:p>
        </p:txBody>
      </p:sp>
      <p:sp>
        <p:nvSpPr>
          <p:cNvPr id="134" name="Pill"/>
          <p:cNvSpPr/>
          <p:nvPr/>
        </p:nvSpPr>
        <p:spPr>
          <a:xfrm>
            <a:off x="4686300" y="37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LangSmith</a:t>
            </a:r>
          </a:p>
        </p:txBody>
      </p:sp>
      <p:sp>
        <p:nvSpPr>
          <p:cNvPr id="135" name="Pill"/>
          <p:cNvSpPr/>
          <p:nvPr/>
        </p:nvSpPr>
        <p:spPr>
          <a:xfrm>
            <a:off x="5516300" y="3720000"/>
            <a:ext cx="570000" cy="250000"/>
          </a:xfrm>
          <a:prstGeom prst="roundRect">
            <a:avLst>
              <a:gd name="adj" fmla="val 50000"/>
            </a:avLst>
          </a:prstGeom>
          <a:solidFill>
            <a:srgbClr val="94A3B8">
              <a:alpha val="20000"/>
            </a:srgbClr>
          </a:solidFill>
          <a:ln/>
        </p:spPr>
        <p:txBody>
          <a:bodyPr wrap="square" lIns="0" tIns="0" rIns="0" bIns="0" rtlCol="0" anchor="ctr"/>
          <a:lstStyle/>
          <a:p>
            <a:pPr marL="0" indent="0" algn="ctr">
              <a:buNone/>
            </a:pPr>
            <a:r>
              <a:rPr lang="en-US" sz="750" b="1" dirty="0">
                <a:solidFill>
                  <a:srgbClr val="FFFFFF"/>
                </a:solidFill>
              </a:rPr>
              <a:t>OpenAI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2563EB">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ARCHITECTURE</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System Architecture</a:t>
            </a:r>
            <a:endParaRPr lang="en-US" sz="3000" dirty="0"/>
          </a:p>
        </p:txBody>
      </p:sp>
      <p:sp>
        <p:nvSpPr>
          <p:cNvPr id="5" name="Shape 3"/>
          <p:cNvSpPr/>
          <p:nvPr/>
        </p:nvSpPr>
        <p:spPr>
          <a:xfrm>
            <a:off x="365760"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365760" y="1325880"/>
            <a:ext cx="1572768" cy="347472"/>
          </a:xfrm>
          <a:prstGeom prst="roundRect">
            <a:avLst>
              <a:gd name="adj" fmla="val 26316"/>
            </a:avLst>
          </a:prstGeom>
          <a:solidFill>
            <a:srgbClr val="0891B2">
              <a:alpha val="75000"/>
            </a:srgbClr>
          </a:solidFill>
          <a:ln/>
        </p:spPr>
      </p:sp>
      <p:sp>
        <p:nvSpPr>
          <p:cNvPr id="7" name="Text 5"/>
          <p:cNvSpPr/>
          <p:nvPr/>
        </p:nvSpPr>
        <p:spPr>
          <a:xfrm>
            <a:off x="365760"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UI Layer</a:t>
            </a:r>
            <a:endParaRPr lang="en-US" sz="1000" dirty="0"/>
          </a:p>
        </p:txBody>
      </p:sp>
      <p:sp>
        <p:nvSpPr>
          <p:cNvPr id="8" name="Text 6"/>
          <p:cNvSpPr/>
          <p:nvPr/>
        </p:nvSpPr>
        <p:spPr>
          <a:xfrm>
            <a:off x="457200"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Streamlit Web App</a:t>
            </a:r>
            <a:endParaRPr lang="en-US" sz="900" dirty="0"/>
          </a:p>
        </p:txBody>
      </p:sp>
      <p:sp>
        <p:nvSpPr>
          <p:cNvPr id="9" name="Text 7"/>
          <p:cNvSpPr/>
          <p:nvPr/>
        </p:nvSpPr>
        <p:spPr>
          <a:xfrm>
            <a:off x="457200"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Auth (JWT + bcrypt)</a:t>
            </a:r>
            <a:endParaRPr lang="en-US" sz="900" dirty="0"/>
          </a:p>
        </p:txBody>
      </p:sp>
      <p:sp>
        <p:nvSpPr>
          <p:cNvPr id="10" name="Text 8"/>
          <p:cNvSpPr/>
          <p:nvPr/>
        </p:nvSpPr>
        <p:spPr>
          <a:xfrm>
            <a:off x="457200"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Customer + Institution Views</a:t>
            </a:r>
            <a:endParaRPr lang="en-US" sz="900" dirty="0"/>
          </a:p>
        </p:txBody>
      </p:sp>
      <p:sp>
        <p:nvSpPr>
          <p:cNvPr id="11" name="Shape 9"/>
          <p:cNvSpPr/>
          <p:nvPr/>
        </p:nvSpPr>
        <p:spPr>
          <a:xfrm>
            <a:off x="1938528" y="2651760"/>
            <a:ext cx="146304" cy="0"/>
          </a:xfrm>
          <a:prstGeom prst="line">
            <a:avLst/>
          </a:prstGeom>
          <a:noFill/>
          <a:ln w="19050">
            <a:solidFill>
              <a:srgbClr val="0891B2"/>
            </a:solidFill>
            <a:prstDash val="sysDash"/>
          </a:ln>
        </p:spPr>
      </p:sp>
      <p:sp>
        <p:nvSpPr>
          <p:cNvPr id="12" name="Shape 10"/>
          <p:cNvSpPr/>
          <p:nvPr/>
        </p:nvSpPr>
        <p:spPr>
          <a:xfrm>
            <a:off x="2084832"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13" name="Shape 11"/>
          <p:cNvSpPr/>
          <p:nvPr/>
        </p:nvSpPr>
        <p:spPr>
          <a:xfrm>
            <a:off x="2084832" y="1325880"/>
            <a:ext cx="1572768" cy="347472"/>
          </a:xfrm>
          <a:prstGeom prst="roundRect">
            <a:avLst>
              <a:gd name="adj" fmla="val 26316"/>
            </a:avLst>
          </a:prstGeom>
          <a:solidFill>
            <a:srgbClr val="2563EB">
              <a:alpha val="75000"/>
            </a:srgbClr>
          </a:solidFill>
          <a:ln/>
        </p:spPr>
      </p:sp>
      <p:sp>
        <p:nvSpPr>
          <p:cNvPr id="14" name="Text 12"/>
          <p:cNvSpPr/>
          <p:nvPr/>
        </p:nvSpPr>
        <p:spPr>
          <a:xfrm>
            <a:off x="2084832"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Orchestrator</a:t>
            </a:r>
            <a:endParaRPr lang="en-US" sz="1000" dirty="0"/>
          </a:p>
        </p:txBody>
      </p:sp>
      <p:sp>
        <p:nvSpPr>
          <p:cNvPr id="15" name="Text 13"/>
          <p:cNvSpPr/>
          <p:nvPr/>
        </p:nvSpPr>
        <p:spPr>
          <a:xfrm>
            <a:off x="2176272"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Chat Agent</a:t>
            </a:r>
            <a:endParaRPr lang="en-US" sz="900" dirty="0"/>
          </a:p>
        </p:txBody>
      </p:sp>
      <p:sp>
        <p:nvSpPr>
          <p:cNvPr id="16" name="Text 14"/>
          <p:cNvSpPr/>
          <p:nvPr/>
        </p:nvSpPr>
        <p:spPr>
          <a:xfrm>
            <a:off x="2176272"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Document Agent</a:t>
            </a:r>
            <a:endParaRPr lang="en-US" sz="900" dirty="0"/>
          </a:p>
        </p:txBody>
      </p:sp>
      <p:sp>
        <p:nvSpPr>
          <p:cNvPr id="17" name="Text 15"/>
          <p:cNvSpPr/>
          <p:nvPr/>
        </p:nvSpPr>
        <p:spPr>
          <a:xfrm>
            <a:off x="2176272"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Retrieval Agent</a:t>
            </a:r>
            <a:endParaRPr lang="en-US" sz="900" dirty="0"/>
          </a:p>
        </p:txBody>
      </p:sp>
      <p:sp>
        <p:nvSpPr>
          <p:cNvPr id="18" name="Shape 16"/>
          <p:cNvSpPr/>
          <p:nvPr/>
        </p:nvSpPr>
        <p:spPr>
          <a:xfrm>
            <a:off x="3657600" y="2651760"/>
            <a:ext cx="146304" cy="0"/>
          </a:xfrm>
          <a:prstGeom prst="line">
            <a:avLst/>
          </a:prstGeom>
          <a:noFill/>
          <a:ln w="19050">
            <a:solidFill>
              <a:srgbClr val="2563EB"/>
            </a:solidFill>
            <a:prstDash val="sysDash"/>
          </a:ln>
        </p:spPr>
      </p:sp>
      <p:sp>
        <p:nvSpPr>
          <p:cNvPr id="19" name="Shape 17"/>
          <p:cNvSpPr/>
          <p:nvPr/>
        </p:nvSpPr>
        <p:spPr>
          <a:xfrm>
            <a:off x="3803904"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0" name="Shape 18"/>
          <p:cNvSpPr/>
          <p:nvPr/>
        </p:nvSpPr>
        <p:spPr>
          <a:xfrm>
            <a:off x="3803904" y="1325880"/>
            <a:ext cx="1572768" cy="347472"/>
          </a:xfrm>
          <a:prstGeom prst="roundRect">
            <a:avLst>
              <a:gd name="adj" fmla="val 26316"/>
            </a:avLst>
          </a:prstGeom>
          <a:solidFill>
            <a:srgbClr val="D97706">
              <a:alpha val="75000"/>
            </a:srgbClr>
          </a:solidFill>
          <a:ln/>
        </p:spPr>
      </p:sp>
      <p:sp>
        <p:nvSpPr>
          <p:cNvPr id="21" name="Text 19"/>
          <p:cNvSpPr/>
          <p:nvPr/>
        </p:nvSpPr>
        <p:spPr>
          <a:xfrm>
            <a:off x="3803904"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AI / LLM</a:t>
            </a:r>
            <a:endParaRPr lang="en-US" sz="1000" dirty="0"/>
          </a:p>
        </p:txBody>
      </p:sp>
      <p:sp>
        <p:nvSpPr>
          <p:cNvPr id="22" name="Text 20"/>
          <p:cNvSpPr/>
          <p:nvPr/>
        </p:nvSpPr>
        <p:spPr>
          <a:xfrm>
            <a:off x="3895344"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OpenAI → Groq → Gemini</a:t>
            </a:r>
            <a:endParaRPr lang="en-US" sz="900" dirty="0"/>
          </a:p>
        </p:txBody>
      </p:sp>
      <p:sp>
        <p:nvSpPr>
          <p:cNvPr id="23" name="Text 21"/>
          <p:cNvSpPr/>
          <p:nvPr/>
        </p:nvSpPr>
        <p:spPr>
          <a:xfrm>
            <a:off x="3895344"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3-tier fallback chain</a:t>
            </a:r>
            <a:endParaRPr lang="en-US" sz="900" dirty="0"/>
          </a:p>
        </p:txBody>
      </p:sp>
      <p:sp>
        <p:nvSpPr>
          <p:cNvPr id="24" name="Text 22"/>
          <p:cNvSpPr/>
          <p:nvPr/>
        </p:nvSpPr>
        <p:spPr>
          <a:xfrm>
            <a:off x="3895344"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LangSmith tracing</a:t>
            </a:r>
            <a:endParaRPr lang="en-US" sz="900" dirty="0"/>
          </a:p>
        </p:txBody>
      </p:sp>
      <p:sp>
        <p:nvSpPr>
          <p:cNvPr id="25" name="Shape 23"/>
          <p:cNvSpPr/>
          <p:nvPr/>
        </p:nvSpPr>
        <p:spPr>
          <a:xfrm>
            <a:off x="5376672" y="2651760"/>
            <a:ext cx="146304" cy="0"/>
          </a:xfrm>
          <a:prstGeom prst="line">
            <a:avLst/>
          </a:prstGeom>
          <a:noFill/>
          <a:ln w="19050">
            <a:solidFill>
              <a:srgbClr val="D97706"/>
            </a:solidFill>
            <a:prstDash val="sysDash"/>
          </a:ln>
        </p:spPr>
      </p:sp>
      <p:sp>
        <p:nvSpPr>
          <p:cNvPr id="26" name="Shape 24"/>
          <p:cNvSpPr/>
          <p:nvPr/>
        </p:nvSpPr>
        <p:spPr>
          <a:xfrm>
            <a:off x="5522976"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7" name="Shape 25"/>
          <p:cNvSpPr/>
          <p:nvPr/>
        </p:nvSpPr>
        <p:spPr>
          <a:xfrm>
            <a:off x="5522976" y="1325880"/>
            <a:ext cx="1572768" cy="347472"/>
          </a:xfrm>
          <a:prstGeom prst="roundRect">
            <a:avLst>
              <a:gd name="adj" fmla="val 26316"/>
            </a:avLst>
          </a:prstGeom>
          <a:solidFill>
            <a:srgbClr val="059669">
              <a:alpha val="75000"/>
            </a:srgbClr>
          </a:solidFill>
          <a:ln/>
        </p:spPr>
      </p:sp>
      <p:sp>
        <p:nvSpPr>
          <p:cNvPr id="28" name="Text 26"/>
          <p:cNvSpPr/>
          <p:nvPr/>
        </p:nvSpPr>
        <p:spPr>
          <a:xfrm>
            <a:off x="5522976"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Data Layer</a:t>
            </a:r>
            <a:endParaRPr lang="en-US" sz="1000" dirty="0"/>
          </a:p>
        </p:txBody>
      </p:sp>
      <p:sp>
        <p:nvSpPr>
          <p:cNvPr id="29" name="Text 27"/>
          <p:cNvSpPr/>
          <p:nvPr/>
        </p:nvSpPr>
        <p:spPr>
          <a:xfrm>
            <a:off x="5614416"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Pinecone Vector DB</a:t>
            </a:r>
            <a:endParaRPr lang="en-US" sz="900" dirty="0"/>
          </a:p>
        </p:txBody>
      </p:sp>
      <p:sp>
        <p:nvSpPr>
          <p:cNvPr id="30" name="Text 28"/>
          <p:cNvSpPr/>
          <p:nvPr/>
        </p:nvSpPr>
        <p:spPr>
          <a:xfrm>
            <a:off x="5614416"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BM25 Hybrid Search</a:t>
            </a:r>
            <a:endParaRPr lang="en-US" sz="900" dirty="0"/>
          </a:p>
        </p:txBody>
      </p:sp>
      <p:sp>
        <p:nvSpPr>
          <p:cNvPr id="31" name="Text 29"/>
          <p:cNvSpPr/>
          <p:nvPr/>
        </p:nvSpPr>
        <p:spPr>
          <a:xfrm>
            <a:off x="5614416"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SQLite User Auth</a:t>
            </a:r>
            <a:endParaRPr lang="en-US" sz="900" dirty="0"/>
          </a:p>
        </p:txBody>
      </p:sp>
      <p:sp>
        <p:nvSpPr>
          <p:cNvPr id="32" name="Shape 30"/>
          <p:cNvSpPr/>
          <p:nvPr/>
        </p:nvSpPr>
        <p:spPr>
          <a:xfrm>
            <a:off x="7095744" y="2651760"/>
            <a:ext cx="146304" cy="0"/>
          </a:xfrm>
          <a:prstGeom prst="line">
            <a:avLst/>
          </a:prstGeom>
          <a:noFill/>
          <a:ln w="19050">
            <a:solidFill>
              <a:srgbClr val="059669"/>
            </a:solidFill>
            <a:prstDash val="sysDash"/>
          </a:ln>
        </p:spPr>
      </p:sp>
      <p:sp>
        <p:nvSpPr>
          <p:cNvPr id="33" name="Shape 31"/>
          <p:cNvSpPr/>
          <p:nvPr/>
        </p:nvSpPr>
        <p:spPr>
          <a:xfrm>
            <a:off x="7242048"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34" name="Shape 32"/>
          <p:cNvSpPr/>
          <p:nvPr/>
        </p:nvSpPr>
        <p:spPr>
          <a:xfrm>
            <a:off x="7242048" y="1325880"/>
            <a:ext cx="1572768" cy="347472"/>
          </a:xfrm>
          <a:prstGeom prst="roundRect">
            <a:avLst>
              <a:gd name="adj" fmla="val 26316"/>
            </a:avLst>
          </a:prstGeom>
          <a:solidFill>
            <a:srgbClr val="DC2626">
              <a:alpha val="75000"/>
            </a:srgbClr>
          </a:solidFill>
          <a:ln/>
        </p:spPr>
      </p:sp>
      <p:sp>
        <p:nvSpPr>
          <p:cNvPr id="35" name="Text 33"/>
          <p:cNvSpPr/>
          <p:nvPr/>
        </p:nvSpPr>
        <p:spPr>
          <a:xfrm>
            <a:off x="7242048"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Cloud</a:t>
            </a:r>
            <a:endParaRPr lang="en-US" sz="1000" dirty="0"/>
          </a:p>
        </p:txBody>
      </p:sp>
      <p:sp>
        <p:nvSpPr>
          <p:cNvPr id="36" name="Text 34"/>
          <p:cNvSpPr/>
          <p:nvPr/>
        </p:nvSpPr>
        <p:spPr>
          <a:xfrm>
            <a:off x="7333488"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Azure App Service</a:t>
            </a:r>
            <a:endParaRPr lang="en-US" sz="900" dirty="0"/>
          </a:p>
        </p:txBody>
      </p:sp>
      <p:sp>
        <p:nvSpPr>
          <p:cNvPr id="38" name="Text 36"/>
          <p:cNvSpPr/>
          <p:nvPr/>
        </p:nvSpPr>
        <p:spPr>
          <a:xfrm>
            <a:off x="7296912" y="22768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GitHub Actions CI/CD</a:t>
            </a:r>
            <a:endParaRPr lang="en-US" sz="900" dirty="0"/>
          </a:p>
        </p:txBody>
      </p:sp>
      <p:sp>
        <p:nvSpPr>
          <p:cNvPr id="39" name="Text 37"/>
          <p:cNvSpPr/>
          <p:nvPr/>
        </p:nvSpPr>
        <p:spPr>
          <a:xfrm>
            <a:off x="365760" y="4160520"/>
            <a:ext cx="8412480" cy="320040"/>
          </a:xfrm>
          <a:prstGeom prst="rect">
            <a:avLst/>
          </a:prstGeom>
          <a:noFill/>
          <a:ln/>
        </p:spPr>
        <p:txBody>
          <a:bodyPr wrap="square" lIns="0" tIns="0" rIns="0" bIns="0" rtlCol="0" anchor="ctr"/>
          <a:lstStyle/>
          <a:p>
            <a:pPr marL="0" indent="0" algn="ctr">
              <a:buNone/>
            </a:pPr>
            <a:r>
              <a:rPr lang="en-US" sz="950" i="1" dirty="0">
                <a:solidFill>
                  <a:srgbClr val="94A3B8"/>
                </a:solidFill>
              </a:rPr>
              <a:t>← User uploads PDF → Chunks → Vectors → LLM → Risk Score + Recommendations →</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Features and View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550000" cy="256032"/>
          </a:xfrm>
          <a:prstGeom prst="roundRect">
            <a:avLst>
              <a:gd name="adj" fmla="val 50000"/>
            </a:avLst>
          </a:prstGeom>
          <a:solidFill>
            <a:srgbClr val="2563EB">
              <a:alpha val="25000"/>
            </a:srgbClr>
          </a:solidFill>
          <a:ln/>
        </p:spPr>
      </p:sp>
      <p:sp>
        <p:nvSpPr>
          <p:cNvPr id="102" name="BadgeText"/>
          <p:cNvSpPr/>
          <p:nvPr/>
        </p:nvSpPr>
        <p:spPr>
          <a:xfrm>
            <a:off x="457200" y="274320"/>
            <a:ext cx="155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Everything Inside The Platform</a:t>
            </a:r>
          </a:p>
        </p:txBody>
      </p:sp>
      <p:sp>
        <p:nvSpPr>
          <p:cNvPr id="104" name="Card"/>
          <p:cNvSpPr/>
          <p:nvPr/>
        </p:nvSpPr>
        <p:spPr>
          <a:xfrm>
            <a:off x="4572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5972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06" name="Text"/>
          <p:cNvSpPr/>
          <p:nvPr/>
        </p:nvSpPr>
        <p:spPr>
          <a:xfrm>
            <a:off x="10172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Secure Login</a:t>
            </a:r>
          </a:p>
        </p:txBody>
      </p:sp>
      <p:sp>
        <p:nvSpPr>
          <p:cNvPr id="107" name="Text"/>
          <p:cNvSpPr/>
          <p:nvPr/>
        </p:nvSpPr>
        <p:spPr>
          <a:xfrm>
            <a:off x="10172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JWT + bcrypt auth</a:t>
            </a:r>
          </a:p>
        </p:txBody>
      </p:sp>
      <p:sp>
        <p:nvSpPr>
          <p:cNvPr id="108" name="Card"/>
          <p:cNvSpPr/>
          <p:nvPr/>
        </p:nvSpPr>
        <p:spPr>
          <a:xfrm>
            <a:off x="31720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33120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0" name="Text"/>
          <p:cNvSpPr/>
          <p:nvPr/>
        </p:nvSpPr>
        <p:spPr>
          <a:xfrm>
            <a:off x="37320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Upload PDFs</a:t>
            </a:r>
          </a:p>
        </p:txBody>
      </p:sp>
      <p:sp>
        <p:nvSpPr>
          <p:cNvPr id="111" name="Text"/>
          <p:cNvSpPr/>
          <p:nvPr/>
        </p:nvSpPr>
        <p:spPr>
          <a:xfrm>
            <a:off x="37320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Salary slips, statements, ITR</a:t>
            </a:r>
          </a:p>
        </p:txBody>
      </p:sp>
      <p:sp>
        <p:nvSpPr>
          <p:cNvPr id="112" name="Card"/>
          <p:cNvSpPr/>
          <p:nvPr/>
        </p:nvSpPr>
        <p:spPr>
          <a:xfrm>
            <a:off x="58868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3" name="Text"/>
          <p:cNvSpPr/>
          <p:nvPr/>
        </p:nvSpPr>
        <p:spPr>
          <a:xfrm>
            <a:off x="60268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4" name="Text"/>
          <p:cNvSpPr/>
          <p:nvPr/>
        </p:nvSpPr>
        <p:spPr>
          <a:xfrm>
            <a:off x="64468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Risk Analysis</a:t>
            </a:r>
          </a:p>
        </p:txBody>
      </p:sp>
      <p:sp>
        <p:nvSpPr>
          <p:cNvPr id="115" name="Text"/>
          <p:cNvSpPr/>
          <p:nvPr/>
        </p:nvSpPr>
        <p:spPr>
          <a:xfrm>
            <a:off x="64468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AI credit score + red flags</a:t>
            </a:r>
          </a:p>
        </p:txBody>
      </p:sp>
      <p:sp>
        <p:nvSpPr>
          <p:cNvPr id="116" name="Card"/>
          <p:cNvSpPr/>
          <p:nvPr/>
        </p:nvSpPr>
        <p:spPr>
          <a:xfrm>
            <a:off x="4572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5972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8" name="Text"/>
          <p:cNvSpPr/>
          <p:nvPr/>
        </p:nvSpPr>
        <p:spPr>
          <a:xfrm>
            <a:off x="10172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Recommendations</a:t>
            </a:r>
          </a:p>
        </p:txBody>
      </p:sp>
      <p:sp>
        <p:nvSpPr>
          <p:cNvPr id="119" name="Text"/>
          <p:cNvSpPr/>
          <p:nvPr/>
        </p:nvSpPr>
        <p:spPr>
          <a:xfrm>
            <a:off x="10172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Urgency-sorted action plan</a:t>
            </a:r>
          </a:p>
        </p:txBody>
      </p:sp>
      <p:sp>
        <p:nvSpPr>
          <p:cNvPr id="120" name="Card"/>
          <p:cNvSpPr/>
          <p:nvPr/>
        </p:nvSpPr>
        <p:spPr>
          <a:xfrm>
            <a:off x="31720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1" name="Text"/>
          <p:cNvSpPr/>
          <p:nvPr/>
        </p:nvSpPr>
        <p:spPr>
          <a:xfrm>
            <a:off x="33120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2" name="Text"/>
          <p:cNvSpPr/>
          <p:nvPr/>
        </p:nvSpPr>
        <p:spPr>
          <a:xfrm>
            <a:off x="37320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Chat</a:t>
            </a:r>
          </a:p>
        </p:txBody>
      </p:sp>
      <p:sp>
        <p:nvSpPr>
          <p:cNvPr id="123" name="Text"/>
          <p:cNvSpPr/>
          <p:nvPr/>
        </p:nvSpPr>
        <p:spPr>
          <a:xfrm>
            <a:off x="37320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Ask about your own documents</a:t>
            </a:r>
          </a:p>
        </p:txBody>
      </p:sp>
      <p:sp>
        <p:nvSpPr>
          <p:cNvPr id="124" name="Card"/>
          <p:cNvSpPr/>
          <p:nvPr/>
        </p:nvSpPr>
        <p:spPr>
          <a:xfrm>
            <a:off x="58868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5" name="Text"/>
          <p:cNvSpPr/>
          <p:nvPr/>
        </p:nvSpPr>
        <p:spPr>
          <a:xfrm>
            <a:off x="60268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6" name="Text"/>
          <p:cNvSpPr/>
          <p:nvPr/>
        </p:nvSpPr>
        <p:spPr>
          <a:xfrm>
            <a:off x="64468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Retirement Planner</a:t>
            </a:r>
          </a:p>
        </p:txBody>
      </p:sp>
      <p:sp>
        <p:nvSpPr>
          <p:cNvPr id="127" name="Text"/>
          <p:cNvSpPr/>
          <p:nvPr/>
        </p:nvSpPr>
        <p:spPr>
          <a:xfrm>
            <a:off x="64468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40-city cost of living</a:t>
            </a:r>
          </a:p>
        </p:txBody>
      </p:sp>
      <p:sp>
        <p:nvSpPr>
          <p:cNvPr id="128" name="Pill"/>
          <p:cNvSpPr/>
          <p:nvPr/>
        </p:nvSpPr>
        <p:spPr>
          <a:xfrm>
            <a:off x="457200" y="2709600"/>
            <a:ext cx="1750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900" b="1" dirty="0">
                <a:solidFill>
                  <a:srgbClr val="FFFFFF"/>
                </a:solidFill>
              </a:rPr>
              <a:t>👤  CUSTOMER SEES</a:t>
            </a:r>
          </a:p>
        </p:txBody>
      </p:sp>
      <p:sp>
        <p:nvSpPr>
          <p:cNvPr id="129" name="Pill"/>
          <p:cNvSpPr/>
          <p:nvPr/>
        </p:nvSpPr>
        <p:spPr>
          <a:xfrm>
            <a:off x="4686300" y="2709600"/>
            <a:ext cx="1750000" cy="26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900" b="1" dirty="0">
                <a:solidFill>
                  <a:srgbClr val="FFFFFF"/>
                </a:solidFill>
              </a:rPr>
              <a:t>🏦  BANK OFFICER SEES</a:t>
            </a:r>
          </a:p>
        </p:txBody>
      </p:sp>
      <p:sp>
        <p:nvSpPr>
          <p:cNvPr id="130" name="Text"/>
          <p:cNvSpPr/>
          <p:nvPr/>
        </p:nvSpPr>
        <p:spPr>
          <a:xfrm>
            <a:off x="457200" y="3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1" name="Text"/>
          <p:cNvSpPr/>
          <p:nvPr/>
        </p:nvSpPr>
        <p:spPr>
          <a:xfrm>
            <a:off x="6572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Personal risk score (0-100)</a:t>
            </a:r>
          </a:p>
        </p:txBody>
      </p:sp>
      <p:sp>
        <p:nvSpPr>
          <p:cNvPr id="132" name="Text"/>
          <p:cNvSpPr/>
          <p:nvPr/>
        </p:nvSpPr>
        <p:spPr>
          <a:xfrm>
            <a:off x="457200" y="3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3" name="Text"/>
          <p:cNvSpPr/>
          <p:nvPr/>
        </p:nvSpPr>
        <p:spPr>
          <a:xfrm>
            <a:off x="6572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approval probability</a:t>
            </a:r>
          </a:p>
        </p:txBody>
      </p:sp>
      <p:sp>
        <p:nvSpPr>
          <p:cNvPr id="134" name="Text"/>
          <p:cNvSpPr/>
          <p:nvPr/>
        </p:nvSpPr>
        <p:spPr>
          <a:xfrm>
            <a:off x="457200" y="35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5" name="Text"/>
          <p:cNvSpPr/>
          <p:nvPr/>
        </p:nvSpPr>
        <p:spPr>
          <a:xfrm>
            <a:off x="6572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Safe borrowing amount</a:t>
            </a:r>
          </a:p>
        </p:txBody>
      </p:sp>
      <p:sp>
        <p:nvSpPr>
          <p:cNvPr id="136" name="Text"/>
          <p:cNvSpPr/>
          <p:nvPr/>
        </p:nvSpPr>
        <p:spPr>
          <a:xfrm>
            <a:off x="457200" y="37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7" name="Text"/>
          <p:cNvSpPr/>
          <p:nvPr/>
        </p:nvSpPr>
        <p:spPr>
          <a:xfrm>
            <a:off x="6572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Recommended banks &amp; rates</a:t>
            </a:r>
          </a:p>
        </p:txBody>
      </p:sp>
      <p:sp>
        <p:nvSpPr>
          <p:cNvPr id="138" name="Text"/>
          <p:cNvSpPr/>
          <p:nvPr/>
        </p:nvSpPr>
        <p:spPr>
          <a:xfrm>
            <a:off x="457200" y="4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9" name="Text"/>
          <p:cNvSpPr/>
          <p:nvPr/>
        </p:nvSpPr>
        <p:spPr>
          <a:xfrm>
            <a:off x="6572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Debt-to-income ratio (DTI)</a:t>
            </a:r>
          </a:p>
        </p:txBody>
      </p:sp>
      <p:sp>
        <p:nvSpPr>
          <p:cNvPr id="140" name="Text"/>
          <p:cNvSpPr/>
          <p:nvPr/>
        </p:nvSpPr>
        <p:spPr>
          <a:xfrm>
            <a:off x="457200" y="4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41" name="Text"/>
          <p:cNvSpPr/>
          <p:nvPr/>
        </p:nvSpPr>
        <p:spPr>
          <a:xfrm>
            <a:off x="6572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Improvement action plan</a:t>
            </a:r>
          </a:p>
        </p:txBody>
      </p:sp>
      <p:sp>
        <p:nvSpPr>
          <p:cNvPr id="142" name="Text"/>
          <p:cNvSpPr/>
          <p:nvPr/>
        </p:nvSpPr>
        <p:spPr>
          <a:xfrm>
            <a:off x="4686300" y="3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3" name="Text"/>
          <p:cNvSpPr/>
          <p:nvPr/>
        </p:nvSpPr>
        <p:spPr>
          <a:xfrm>
            <a:off x="48863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NPA risk &amp; CRAR indicators</a:t>
            </a:r>
          </a:p>
        </p:txBody>
      </p:sp>
      <p:sp>
        <p:nvSpPr>
          <p:cNvPr id="144" name="Text"/>
          <p:cNvSpPr/>
          <p:nvPr/>
        </p:nvSpPr>
        <p:spPr>
          <a:xfrm>
            <a:off x="4686300" y="3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5" name="Text"/>
          <p:cNvSpPr/>
          <p:nvPr/>
        </p:nvSpPr>
        <p:spPr>
          <a:xfrm>
            <a:off x="48863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Fraud detection flags</a:t>
            </a:r>
          </a:p>
        </p:txBody>
      </p:sp>
      <p:sp>
        <p:nvSpPr>
          <p:cNvPr id="146" name="Text"/>
          <p:cNvSpPr/>
          <p:nvPr/>
        </p:nvSpPr>
        <p:spPr>
          <a:xfrm>
            <a:off x="4686300" y="35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7" name="Text"/>
          <p:cNvSpPr/>
          <p:nvPr/>
        </p:nvSpPr>
        <p:spPr>
          <a:xfrm>
            <a:off x="48863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Applicant financial summary</a:t>
            </a:r>
          </a:p>
        </p:txBody>
      </p:sp>
      <p:sp>
        <p:nvSpPr>
          <p:cNvPr id="148" name="Text"/>
          <p:cNvSpPr/>
          <p:nvPr/>
        </p:nvSpPr>
        <p:spPr>
          <a:xfrm>
            <a:off x="4686300" y="37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9" name="Text"/>
          <p:cNvSpPr/>
          <p:nvPr/>
        </p:nvSpPr>
        <p:spPr>
          <a:xfrm>
            <a:off x="48863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approve / reject decision</a:t>
            </a:r>
          </a:p>
        </p:txBody>
      </p:sp>
      <p:sp>
        <p:nvSpPr>
          <p:cNvPr id="150" name="Text"/>
          <p:cNvSpPr/>
          <p:nvPr/>
        </p:nvSpPr>
        <p:spPr>
          <a:xfrm>
            <a:off x="4686300" y="4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1" name="Text"/>
          <p:cNvSpPr/>
          <p:nvPr/>
        </p:nvSpPr>
        <p:spPr>
          <a:xfrm>
            <a:off x="48863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Capital adequacy assessment</a:t>
            </a:r>
          </a:p>
        </p:txBody>
      </p:sp>
      <p:sp>
        <p:nvSpPr>
          <p:cNvPr id="152" name="Text"/>
          <p:cNvSpPr/>
          <p:nvPr/>
        </p:nvSpPr>
        <p:spPr>
          <a:xfrm>
            <a:off x="4686300" y="4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3" name="Text"/>
          <p:cNvSpPr/>
          <p:nvPr/>
        </p:nvSpPr>
        <p:spPr>
          <a:xfrm>
            <a:off x="48863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Structured executive report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80060" y="377190"/>
            <a:ext cx="4114800" cy="240030"/>
          </a:xfrm>
          <a:prstGeom prst="rect">
            <a:avLst/>
          </a:prstGeom>
          <a:noFill/>
          <a:ln/>
        </p:spPr>
        <p:txBody>
          <a:bodyPr wrap="square" lIns="0" tIns="0" rIns="0" bIns="0" rtlCol="0" anchor="ctr"/>
          <a:lstStyle/>
          <a:p>
            <a:r>
              <a:rPr lang="en-US" sz="938" b="1" kern="0" spc="150" dirty="0">
                <a:solidFill>
                  <a:srgbClr val="EF6156"/>
                </a:solidFill>
                <a:latin typeface="Calibri" pitchFamily="34" charset="0"/>
                <a:ea typeface="Calibri" pitchFamily="34" charset="-122"/>
                <a:cs typeface="Calibri" pitchFamily="34" charset="-120"/>
              </a:rPr>
              <a:t>CORE FEATURE</a:t>
            </a:r>
            <a:endParaRPr lang="en-US" sz="938" dirty="0"/>
          </a:p>
        </p:txBody>
      </p:sp>
      <p:sp>
        <p:nvSpPr>
          <p:cNvPr id="3" name="Text 1"/>
          <p:cNvSpPr/>
          <p:nvPr/>
        </p:nvSpPr>
        <p:spPr>
          <a:xfrm>
            <a:off x="480060" y="617220"/>
            <a:ext cx="7886700" cy="480060"/>
          </a:xfrm>
          <a:prstGeom prst="rect">
            <a:avLst/>
          </a:prstGeom>
          <a:noFill/>
          <a:ln/>
        </p:spPr>
        <p:txBody>
          <a:bodyPr wrap="square" lIns="0" tIns="0" rIns="0" bIns="0" rtlCol="0" anchor="ctr"/>
          <a:lstStyle/>
          <a:p>
            <a:r>
              <a:rPr lang="en-US" sz="2025" b="1" dirty="0">
                <a:solidFill>
                  <a:schemeClr val="bg1"/>
                </a:solidFill>
                <a:latin typeface="Cambria" pitchFamily="34" charset="0"/>
                <a:ea typeface="Cambria" pitchFamily="34" charset="-122"/>
                <a:cs typeface="Cambria" pitchFamily="34" charset="-120"/>
              </a:rPr>
              <a:t>Understanding the documents, then scoring the risk</a:t>
            </a:r>
            <a:endParaRPr lang="en-US" sz="2025" dirty="0">
              <a:solidFill>
                <a:schemeClr val="bg1"/>
              </a:solidFill>
            </a:endParaRPr>
          </a:p>
        </p:txBody>
      </p:sp>
      <p:sp>
        <p:nvSpPr>
          <p:cNvPr id="4" name="Shape 2"/>
          <p:cNvSpPr/>
          <p:nvPr/>
        </p:nvSpPr>
        <p:spPr>
          <a:xfrm>
            <a:off x="480060" y="1200150"/>
            <a:ext cx="3954666" cy="3360420"/>
          </a:xfrm>
          <a:prstGeom prst="roundRect">
            <a:avLst>
              <a:gd name="adj" fmla="val 1837"/>
            </a:avLst>
          </a:prstGeom>
          <a:solidFill>
            <a:srgbClr val="F5F6FA"/>
          </a:solidFill>
          <a:ln/>
        </p:spPr>
      </p:sp>
      <p:sp>
        <p:nvSpPr>
          <p:cNvPr id="5" name="Shape 3"/>
          <p:cNvSpPr/>
          <p:nvPr/>
        </p:nvSpPr>
        <p:spPr>
          <a:xfrm>
            <a:off x="685800" y="1405890"/>
            <a:ext cx="411480" cy="41148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788670" y="1508760"/>
            <a:ext cx="205740" cy="205740"/>
          </a:xfrm>
          <a:prstGeom prst="rect">
            <a:avLst/>
          </a:prstGeom>
        </p:spPr>
      </p:pic>
      <p:sp>
        <p:nvSpPr>
          <p:cNvPr id="7" name="Text 4"/>
          <p:cNvSpPr/>
          <p:nvPr/>
        </p:nvSpPr>
        <p:spPr>
          <a:xfrm>
            <a:off x="1200150"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Document Summary</a:t>
            </a:r>
            <a:endParaRPr lang="en-US" sz="1275" dirty="0"/>
          </a:p>
        </p:txBody>
      </p:sp>
      <p:sp>
        <p:nvSpPr>
          <p:cNvPr id="8" name="Text 5"/>
          <p:cNvSpPr/>
          <p:nvPr/>
        </p:nvSpPr>
        <p:spPr>
          <a:xfrm>
            <a:off x="685800"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The AI reads every uploaded PDF and pulls out the numbers that actually matter — income, expenses, existing loans, balances — and lays them out in plain language instead of raw pages.</a:t>
            </a:r>
            <a:endParaRPr lang="en-US" sz="900" dirty="0"/>
          </a:p>
        </p:txBody>
      </p:sp>
      <p:sp>
        <p:nvSpPr>
          <p:cNvPr id="9" name="Shape 6"/>
          <p:cNvSpPr/>
          <p:nvPr/>
        </p:nvSpPr>
        <p:spPr>
          <a:xfrm>
            <a:off x="685800" y="2811780"/>
            <a:ext cx="3543186" cy="1611630"/>
          </a:xfrm>
          <a:prstGeom prst="roundRect">
            <a:avLst>
              <a:gd name="adj" fmla="val 3404"/>
            </a:avLst>
          </a:prstGeom>
          <a:solidFill>
            <a:srgbClr val="FBFBFD"/>
          </a:solidFill>
          <a:ln w="19050">
            <a:solidFill>
              <a:srgbClr val="C7CCE0"/>
            </a:solidFill>
            <a:prstDash val="dash"/>
          </a:ln>
        </p:spPr>
      </p:sp>
      <p:pic>
        <p:nvPicPr>
          <p:cNvPr id="10" name="Image 1" descr="preencoded.png"/>
          <p:cNvPicPr>
            <a:picLocks noChangeAspect="1"/>
          </p:cNvPicPr>
          <p:nvPr/>
        </p:nvPicPr>
        <p:blipFill>
          <a:blip r:embed="rId4"/>
          <a:stretch>
            <a:fillRect/>
          </a:stretch>
        </p:blipFill>
        <p:spPr>
          <a:xfrm>
            <a:off x="2268798" y="3116961"/>
            <a:ext cx="377190" cy="377190"/>
          </a:xfrm>
          <a:prstGeom prst="rect">
            <a:avLst/>
          </a:prstGeom>
        </p:spPr>
      </p:pic>
      <p:sp>
        <p:nvSpPr>
          <p:cNvPr id="11" name="Text 7"/>
          <p:cNvSpPr/>
          <p:nvPr/>
        </p:nvSpPr>
        <p:spPr>
          <a:xfrm>
            <a:off x="822960"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Document Summary Screen</a:t>
            </a:r>
            <a:endParaRPr lang="en-US" sz="863" dirty="0"/>
          </a:p>
        </p:txBody>
      </p:sp>
      <p:sp>
        <p:nvSpPr>
          <p:cNvPr id="12" name="Text 8"/>
          <p:cNvSpPr/>
          <p:nvPr/>
        </p:nvSpPr>
        <p:spPr>
          <a:xfrm>
            <a:off x="822960"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13" name="Shape 9"/>
          <p:cNvSpPr/>
          <p:nvPr/>
        </p:nvSpPr>
        <p:spPr>
          <a:xfrm>
            <a:off x="4709046" y="1200150"/>
            <a:ext cx="3954666" cy="3360420"/>
          </a:xfrm>
          <a:prstGeom prst="roundRect">
            <a:avLst>
              <a:gd name="adj" fmla="val 1837"/>
            </a:avLst>
          </a:prstGeom>
          <a:solidFill>
            <a:srgbClr val="F5F6FA"/>
          </a:solidFill>
          <a:ln/>
        </p:spPr>
      </p:sp>
      <p:sp>
        <p:nvSpPr>
          <p:cNvPr id="14" name="Shape 10"/>
          <p:cNvSpPr/>
          <p:nvPr/>
        </p:nvSpPr>
        <p:spPr>
          <a:xfrm>
            <a:off x="4914786" y="1405890"/>
            <a:ext cx="411480" cy="411480"/>
          </a:xfrm>
          <a:prstGeom prst="ellipse">
            <a:avLst/>
          </a:prstGeom>
          <a:solidFill>
            <a:srgbClr val="FFFFFF"/>
          </a:solidFill>
          <a:ln/>
        </p:spPr>
      </p:sp>
      <p:pic>
        <p:nvPicPr>
          <p:cNvPr id="15" name="Image 2" descr="preencoded.png"/>
          <p:cNvPicPr>
            <a:picLocks noChangeAspect="1"/>
          </p:cNvPicPr>
          <p:nvPr/>
        </p:nvPicPr>
        <p:blipFill>
          <a:blip r:embed="rId5"/>
          <a:stretch>
            <a:fillRect/>
          </a:stretch>
        </p:blipFill>
        <p:spPr>
          <a:xfrm>
            <a:off x="5017656" y="1508760"/>
            <a:ext cx="205740" cy="205740"/>
          </a:xfrm>
          <a:prstGeom prst="rect">
            <a:avLst/>
          </a:prstGeom>
        </p:spPr>
      </p:pic>
      <p:sp>
        <p:nvSpPr>
          <p:cNvPr id="16" name="Text 11"/>
          <p:cNvSpPr/>
          <p:nvPr/>
        </p:nvSpPr>
        <p:spPr>
          <a:xfrm>
            <a:off x="5429136"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Risk Analysis</a:t>
            </a:r>
            <a:endParaRPr lang="en-US" sz="1275" dirty="0"/>
          </a:p>
        </p:txBody>
      </p:sp>
      <p:sp>
        <p:nvSpPr>
          <p:cNvPr id="17" name="Text 12"/>
          <p:cNvSpPr/>
          <p:nvPr/>
        </p:nvSpPr>
        <p:spPr>
          <a:xfrm>
            <a:off x="4914786"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From that summary, the app calculates a credit risk score out of 100, and explains it — what's working in the applicant's favor, what the red flags are, and how much of their income already goes toward debt.</a:t>
            </a:r>
            <a:endParaRPr lang="en-US" sz="900" dirty="0"/>
          </a:p>
        </p:txBody>
      </p:sp>
      <p:sp>
        <p:nvSpPr>
          <p:cNvPr id="18" name="Shape 13"/>
          <p:cNvSpPr/>
          <p:nvPr/>
        </p:nvSpPr>
        <p:spPr>
          <a:xfrm>
            <a:off x="4914786" y="2811780"/>
            <a:ext cx="3543186" cy="1611630"/>
          </a:xfrm>
          <a:prstGeom prst="roundRect">
            <a:avLst>
              <a:gd name="adj" fmla="val 3404"/>
            </a:avLst>
          </a:prstGeom>
          <a:solidFill>
            <a:srgbClr val="FBFBFD"/>
          </a:solidFill>
          <a:ln w="19050">
            <a:solidFill>
              <a:srgbClr val="C7CCE0"/>
            </a:solidFill>
            <a:prstDash val="dash"/>
          </a:ln>
        </p:spPr>
      </p:sp>
      <p:pic>
        <p:nvPicPr>
          <p:cNvPr id="19" name="Image 3" descr="preencoded.png"/>
          <p:cNvPicPr>
            <a:picLocks noChangeAspect="1"/>
          </p:cNvPicPr>
          <p:nvPr/>
        </p:nvPicPr>
        <p:blipFill>
          <a:blip r:embed="rId4"/>
          <a:stretch>
            <a:fillRect/>
          </a:stretch>
        </p:blipFill>
        <p:spPr>
          <a:xfrm>
            <a:off x="6497783" y="3116961"/>
            <a:ext cx="377190" cy="377190"/>
          </a:xfrm>
          <a:prstGeom prst="rect">
            <a:avLst/>
          </a:prstGeom>
        </p:spPr>
      </p:pic>
      <p:sp>
        <p:nvSpPr>
          <p:cNvPr id="20" name="Text 14"/>
          <p:cNvSpPr/>
          <p:nvPr/>
        </p:nvSpPr>
        <p:spPr>
          <a:xfrm>
            <a:off x="5051946"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Risk Analysis Screen</a:t>
            </a:r>
            <a:endParaRPr lang="en-US" sz="863" dirty="0"/>
          </a:p>
        </p:txBody>
      </p:sp>
      <p:sp>
        <p:nvSpPr>
          <p:cNvPr id="21" name="Text 15"/>
          <p:cNvSpPr/>
          <p:nvPr/>
        </p:nvSpPr>
        <p:spPr>
          <a:xfrm>
            <a:off x="5051946"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22" name="Text 16"/>
          <p:cNvSpPr/>
          <p:nvPr/>
        </p:nvSpPr>
        <p:spPr>
          <a:xfrm>
            <a:off x="480060" y="4800600"/>
            <a:ext cx="3429000" cy="205740"/>
          </a:xfrm>
          <a:prstGeom prst="rect">
            <a:avLst/>
          </a:prstGeom>
          <a:noFill/>
          <a:ln/>
        </p:spPr>
        <p:txBody>
          <a:bodyPr wrap="square" lIns="0" tIns="0" rIns="0" bIns="0" rtlCol="0" anchor="ctr"/>
          <a:lstStyle/>
          <a:p>
            <a:r>
              <a:rPr lang="en-US" sz="750" dirty="0">
                <a:solidFill>
                  <a:srgbClr val="667085"/>
                </a:solidFill>
                <a:latin typeface="Calibri" pitchFamily="34" charset="0"/>
                <a:ea typeface="Calibri" pitchFamily="34" charset="-122"/>
                <a:cs typeface="Calibri" pitchFamily="34" charset="-120"/>
              </a:rPr>
              <a:t>Credit Risk Intelligence Platform</a:t>
            </a:r>
            <a:endParaRPr lang="en-US" sz="750" dirty="0"/>
          </a:p>
        </p:txBody>
      </p:sp>
      <p:sp>
        <p:nvSpPr>
          <p:cNvPr id="23" name="Text 17"/>
          <p:cNvSpPr/>
          <p:nvPr/>
        </p:nvSpPr>
        <p:spPr>
          <a:xfrm>
            <a:off x="8526551" y="4800600"/>
            <a:ext cx="411480" cy="205740"/>
          </a:xfrm>
          <a:prstGeom prst="rect">
            <a:avLst/>
          </a:prstGeom>
          <a:noFill/>
          <a:ln/>
        </p:spPr>
        <p:txBody>
          <a:bodyPr wrap="square" lIns="0" tIns="0" rIns="0" bIns="0" rtlCol="0" anchor="ctr"/>
          <a:lstStyle/>
          <a:p>
            <a:pPr algn="r"/>
            <a:r>
              <a:rPr lang="en-US" sz="750" dirty="0">
                <a:solidFill>
                  <a:srgbClr val="667085"/>
                </a:solidFill>
                <a:latin typeface="Calibri" pitchFamily="34" charset="0"/>
                <a:ea typeface="Calibri" pitchFamily="34" charset="-122"/>
                <a:cs typeface="Calibri" pitchFamily="34" charset="-120"/>
              </a:rPr>
              <a:t>07</a:t>
            </a:r>
            <a:endParaRPr lang="en-US" sz="750" dirty="0"/>
          </a:p>
        </p:txBody>
      </p:sp>
      <p:pic>
        <p:nvPicPr>
          <p:cNvPr id="25" name="Picture 24">
            <a:extLst>
              <a:ext uri="{FF2B5EF4-FFF2-40B4-BE49-F238E27FC236}">
                <a16:creationId xmlns:a16="http://schemas.microsoft.com/office/drawing/2014/main" id="{59C93F49-5CBB-6A40-7F34-5B986D725910}"/>
              </a:ext>
            </a:extLst>
          </p:cNvPr>
          <p:cNvPicPr>
            <a:picLocks noChangeAspect="1"/>
          </p:cNvPicPr>
          <p:nvPr/>
        </p:nvPicPr>
        <p:blipFill>
          <a:blip r:embed="rId6"/>
          <a:stretch>
            <a:fillRect/>
          </a:stretch>
        </p:blipFill>
        <p:spPr>
          <a:xfrm>
            <a:off x="696074" y="2811781"/>
            <a:ext cx="3567201" cy="1611629"/>
          </a:xfrm>
          <a:prstGeom prst="rect">
            <a:avLst/>
          </a:prstGeom>
        </p:spPr>
      </p:pic>
      <p:pic>
        <p:nvPicPr>
          <p:cNvPr id="27" name="Picture 26">
            <a:extLst>
              <a:ext uri="{FF2B5EF4-FFF2-40B4-BE49-F238E27FC236}">
                <a16:creationId xmlns:a16="http://schemas.microsoft.com/office/drawing/2014/main" id="{30E07E07-A533-5DD9-13AD-7FA66E087458}"/>
              </a:ext>
            </a:extLst>
          </p:cNvPr>
          <p:cNvPicPr>
            <a:picLocks noChangeAspect="1"/>
          </p:cNvPicPr>
          <p:nvPr/>
        </p:nvPicPr>
        <p:blipFill>
          <a:blip r:embed="rId7"/>
          <a:stretch>
            <a:fillRect/>
          </a:stretch>
        </p:blipFill>
        <p:spPr>
          <a:xfrm>
            <a:off x="4953476" y="2811780"/>
            <a:ext cx="3504495" cy="16116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Core Feature Showcase">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650000" cy="256032"/>
          </a:xfrm>
          <a:prstGeom prst="roundRect">
            <a:avLst>
              <a:gd name="adj" fmla="val 50000"/>
            </a:avLst>
          </a:prstGeom>
          <a:solidFill>
            <a:srgbClr val="0891B2">
              <a:alpha val="25000"/>
            </a:srgbClr>
          </a:solidFill>
          <a:ln/>
        </p:spPr>
      </p:sp>
      <p:sp>
        <p:nvSpPr>
          <p:cNvPr id="102" name="BadgeText"/>
          <p:cNvSpPr/>
          <p:nvPr/>
        </p:nvSpPr>
        <p:spPr>
          <a:xfrm>
            <a:off x="457200" y="274320"/>
            <a:ext cx="165000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CORE 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Recommendations · Retirement · Chat</a:t>
            </a:r>
          </a:p>
        </p:txBody>
      </p:sp>
      <p:sp>
        <p:nvSpPr>
          <p:cNvPr id="104" name="Text"/>
          <p:cNvSpPr/>
          <p:nvPr/>
        </p:nvSpPr>
        <p:spPr>
          <a:xfrm>
            <a:off x="4572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Recommendations</a:t>
            </a:r>
          </a:p>
        </p:txBody>
      </p:sp>
      <p:sp>
        <p:nvSpPr>
          <p:cNvPr id="105" name="Text"/>
          <p:cNvSpPr/>
          <p:nvPr/>
        </p:nvSpPr>
        <p:spPr>
          <a:xfrm>
            <a:off x="4572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Personalised action plan from your risk profile.</a:t>
            </a:r>
          </a:p>
        </p:txBody>
      </p:sp>
      <p:pic>
        <p:nvPicPr>
          <p:cNvPr id="106" name="Shot_rIdImg1"/>
          <p:cNvPicPr>
            <a:picLocks noChangeAspect="1"/>
          </p:cNvPicPr>
          <p:nvPr/>
        </p:nvPicPr>
        <p:blipFill>
          <a:blip r:embed="rId2"/>
          <a:stretch>
            <a:fillRect/>
          </a:stretch>
        </p:blipFill>
        <p:spPr>
          <a:xfrm>
            <a:off x="1003388" y="1750000"/>
            <a:ext cx="1550823" cy="1150000"/>
          </a:xfrm>
          <a:prstGeom prst="roundRect">
            <a:avLst>
              <a:gd name="adj" fmla="val 3000"/>
            </a:avLst>
          </a:prstGeom>
          <a:ln w="12700">
            <a:solidFill>
              <a:srgbClr val="2A3B52"/>
            </a:solidFill>
          </a:ln>
        </p:spPr>
      </p:pic>
      <p:sp>
        <p:nvSpPr>
          <p:cNvPr id="107" name="Text"/>
          <p:cNvSpPr/>
          <p:nvPr/>
        </p:nvSpPr>
        <p:spPr>
          <a:xfrm>
            <a:off x="4572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08" name="Text"/>
          <p:cNvSpPr/>
          <p:nvPr/>
        </p:nvSpPr>
        <p:spPr>
          <a:xfrm>
            <a:off x="6472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Approve / Review / Reject with reasons</a:t>
            </a:r>
          </a:p>
        </p:txBody>
      </p:sp>
      <p:sp>
        <p:nvSpPr>
          <p:cNvPr id="109" name="Text"/>
          <p:cNvSpPr/>
          <p:nvPr/>
        </p:nvSpPr>
        <p:spPr>
          <a:xfrm>
            <a:off x="4572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0" name="Text"/>
          <p:cNvSpPr/>
          <p:nvPr/>
        </p:nvSpPr>
        <p:spPr>
          <a:xfrm>
            <a:off x="6472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Alternative financing suggestions</a:t>
            </a:r>
          </a:p>
        </p:txBody>
      </p:sp>
      <p:sp>
        <p:nvSpPr>
          <p:cNvPr id="111" name="Text"/>
          <p:cNvSpPr/>
          <p:nvPr/>
        </p:nvSpPr>
        <p:spPr>
          <a:xfrm>
            <a:off x="4572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2" name="Text"/>
          <p:cNvSpPr/>
          <p:nvPr/>
        </p:nvSpPr>
        <p:spPr>
          <a:xfrm>
            <a:off x="6472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Steps to improve approval odds</a:t>
            </a:r>
          </a:p>
        </p:txBody>
      </p:sp>
      <p:sp>
        <p:nvSpPr>
          <p:cNvPr id="113" name="Text"/>
          <p:cNvSpPr/>
          <p:nvPr/>
        </p:nvSpPr>
        <p:spPr>
          <a:xfrm>
            <a:off x="32504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Retirement Planner</a:t>
            </a:r>
          </a:p>
        </p:txBody>
      </p:sp>
      <p:sp>
        <p:nvSpPr>
          <p:cNvPr id="114" name="Text"/>
          <p:cNvSpPr/>
          <p:nvPr/>
        </p:nvSpPr>
        <p:spPr>
          <a:xfrm>
            <a:off x="32504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City-aware corpus calculator, 40 Indian cities.</a:t>
            </a:r>
          </a:p>
        </p:txBody>
      </p:sp>
      <p:pic>
        <p:nvPicPr>
          <p:cNvPr id="115" name="Shot_rIdImg2"/>
          <p:cNvPicPr>
            <a:picLocks noChangeAspect="1"/>
          </p:cNvPicPr>
          <p:nvPr/>
        </p:nvPicPr>
        <p:blipFill>
          <a:blip r:embed="rId3"/>
          <a:stretch>
            <a:fillRect/>
          </a:stretch>
        </p:blipFill>
        <p:spPr>
          <a:xfrm>
            <a:off x="3566114" y="1750000"/>
            <a:ext cx="2011772" cy="1150000"/>
          </a:xfrm>
          <a:prstGeom prst="roundRect">
            <a:avLst>
              <a:gd name="adj" fmla="val 3000"/>
            </a:avLst>
          </a:prstGeom>
          <a:ln w="12700">
            <a:solidFill>
              <a:srgbClr val="2A3B52"/>
            </a:solidFill>
          </a:ln>
        </p:spPr>
      </p:pic>
      <p:sp>
        <p:nvSpPr>
          <p:cNvPr id="116" name="Text"/>
          <p:cNvSpPr/>
          <p:nvPr/>
        </p:nvSpPr>
        <p:spPr>
          <a:xfrm>
            <a:off x="32504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7" name="Text"/>
          <p:cNvSpPr/>
          <p:nvPr/>
        </p:nvSpPr>
        <p:spPr>
          <a:xfrm>
            <a:off x="34404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Retirement corpus required</a:t>
            </a:r>
          </a:p>
        </p:txBody>
      </p:sp>
      <p:sp>
        <p:nvSpPr>
          <p:cNvPr id="118" name="Text"/>
          <p:cNvSpPr/>
          <p:nvPr/>
        </p:nvSpPr>
        <p:spPr>
          <a:xfrm>
            <a:off x="32504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9" name="Text"/>
          <p:cNvSpPr/>
          <p:nvPr/>
        </p:nvSpPr>
        <p:spPr>
          <a:xfrm>
            <a:off x="34404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Monthly SIP needed to close the gap</a:t>
            </a:r>
          </a:p>
        </p:txBody>
      </p:sp>
      <p:sp>
        <p:nvSpPr>
          <p:cNvPr id="120" name="Text"/>
          <p:cNvSpPr/>
          <p:nvPr/>
        </p:nvSpPr>
        <p:spPr>
          <a:xfrm>
            <a:off x="32504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1" name="Text"/>
          <p:cNvSpPr/>
          <p:nvPr/>
        </p:nvSpPr>
        <p:spPr>
          <a:xfrm>
            <a:off x="34404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Feasibility check vs income</a:t>
            </a:r>
          </a:p>
        </p:txBody>
      </p:sp>
      <p:sp>
        <p:nvSpPr>
          <p:cNvPr id="122" name="Text"/>
          <p:cNvSpPr/>
          <p:nvPr/>
        </p:nvSpPr>
        <p:spPr>
          <a:xfrm>
            <a:off x="60436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Chat</a:t>
            </a:r>
          </a:p>
        </p:txBody>
      </p:sp>
      <p:sp>
        <p:nvSpPr>
          <p:cNvPr id="123" name="Text"/>
          <p:cNvSpPr/>
          <p:nvPr/>
        </p:nvSpPr>
        <p:spPr>
          <a:xfrm>
            <a:off x="60436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Ask questions about your own documents.</a:t>
            </a:r>
          </a:p>
        </p:txBody>
      </p:sp>
      <p:pic>
        <p:nvPicPr>
          <p:cNvPr id="124" name="Shot_rIdImg3"/>
          <p:cNvPicPr>
            <a:picLocks noChangeAspect="1"/>
          </p:cNvPicPr>
          <p:nvPr/>
        </p:nvPicPr>
        <p:blipFill>
          <a:blip r:embed="rId4"/>
          <a:stretch>
            <a:fillRect/>
          </a:stretch>
        </p:blipFill>
        <p:spPr>
          <a:xfrm>
            <a:off x="6164625" y="1750000"/>
            <a:ext cx="2401150" cy="1150000"/>
          </a:xfrm>
          <a:prstGeom prst="roundRect">
            <a:avLst>
              <a:gd name="adj" fmla="val 3000"/>
            </a:avLst>
          </a:prstGeom>
          <a:ln w="12700">
            <a:solidFill>
              <a:srgbClr val="2A3B52"/>
            </a:solidFill>
          </a:ln>
        </p:spPr>
      </p:pic>
      <p:sp>
        <p:nvSpPr>
          <p:cNvPr id="125" name="Text"/>
          <p:cNvSpPr/>
          <p:nvPr/>
        </p:nvSpPr>
        <p:spPr>
          <a:xfrm>
            <a:off x="60436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6" name="Text"/>
          <p:cNvSpPr/>
          <p:nvPr/>
        </p:nvSpPr>
        <p:spPr>
          <a:xfrm>
            <a:off x="62336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Answers grounded only in your documents</a:t>
            </a:r>
          </a:p>
        </p:txBody>
      </p:sp>
      <p:sp>
        <p:nvSpPr>
          <p:cNvPr id="127" name="Text"/>
          <p:cNvSpPr/>
          <p:nvPr/>
        </p:nvSpPr>
        <p:spPr>
          <a:xfrm>
            <a:off x="60436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8" name="Text"/>
          <p:cNvSpPr/>
          <p:nvPr/>
        </p:nvSpPr>
        <p:spPr>
          <a:xfrm>
            <a:off x="62336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Hybrid BM25 + vector retrieval</a:t>
            </a:r>
          </a:p>
        </p:txBody>
      </p:sp>
      <p:sp>
        <p:nvSpPr>
          <p:cNvPr id="129" name="Text"/>
          <p:cNvSpPr/>
          <p:nvPr/>
        </p:nvSpPr>
        <p:spPr>
          <a:xfrm>
            <a:off x="60436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30" name="Text"/>
          <p:cNvSpPr/>
          <p:nvPr/>
        </p:nvSpPr>
        <p:spPr>
          <a:xfrm>
            <a:off x="62336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Year-aware re-ranking prevents mixups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0891B2">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HOW IT WORKS</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The RAG Pipeline</a:t>
            </a:r>
            <a:endParaRPr lang="en-US" sz="2800" dirty="0"/>
          </a:p>
        </p:txBody>
      </p:sp>
      <p:sp>
        <p:nvSpPr>
          <p:cNvPr id="5" name="Shape 3"/>
          <p:cNvSpPr/>
          <p:nvPr/>
        </p:nvSpPr>
        <p:spPr>
          <a:xfrm>
            <a:off x="365760"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960120" y="1408176"/>
            <a:ext cx="384048" cy="384048"/>
          </a:xfrm>
          <a:prstGeom prst="ellipse">
            <a:avLst/>
          </a:prstGeom>
          <a:solidFill>
            <a:srgbClr val="2563EB"/>
          </a:solidFill>
          <a:ln/>
        </p:spPr>
      </p:sp>
      <p:sp>
        <p:nvSpPr>
          <p:cNvPr id="7" name="Text 5"/>
          <p:cNvSpPr/>
          <p:nvPr/>
        </p:nvSpPr>
        <p:spPr>
          <a:xfrm>
            <a:off x="960120"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457200"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Upload PDF</a:t>
            </a:r>
            <a:endParaRPr lang="en-US" sz="1000" dirty="0"/>
          </a:p>
        </p:txBody>
      </p:sp>
      <p:sp>
        <p:nvSpPr>
          <p:cNvPr id="9" name="Text 7"/>
          <p:cNvSpPr/>
          <p:nvPr/>
        </p:nvSpPr>
        <p:spPr>
          <a:xfrm>
            <a:off x="457200"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User uploads financial documents</a:t>
            </a:r>
            <a:endParaRPr lang="en-US" sz="850" dirty="0"/>
          </a:p>
        </p:txBody>
      </p:sp>
      <p:sp>
        <p:nvSpPr>
          <p:cNvPr id="10" name="Shape 8"/>
          <p:cNvSpPr/>
          <p:nvPr/>
        </p:nvSpPr>
        <p:spPr>
          <a:xfrm>
            <a:off x="1965960" y="1920240"/>
            <a:ext cx="164592" cy="0"/>
          </a:xfrm>
          <a:prstGeom prst="line">
            <a:avLst/>
          </a:prstGeom>
          <a:noFill/>
          <a:ln w="19050">
            <a:solidFill>
              <a:srgbClr val="94A3B8"/>
            </a:solidFill>
            <a:prstDash val="solid"/>
          </a:ln>
        </p:spPr>
      </p:sp>
      <p:sp>
        <p:nvSpPr>
          <p:cNvPr id="11" name="Shape 9"/>
          <p:cNvSpPr/>
          <p:nvPr/>
        </p:nvSpPr>
        <p:spPr>
          <a:xfrm>
            <a:off x="2130552"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2" name="Shape 10"/>
          <p:cNvSpPr/>
          <p:nvPr/>
        </p:nvSpPr>
        <p:spPr>
          <a:xfrm>
            <a:off x="2724912" y="1408176"/>
            <a:ext cx="384048" cy="384048"/>
          </a:xfrm>
          <a:prstGeom prst="ellipse">
            <a:avLst/>
          </a:prstGeom>
          <a:solidFill>
            <a:srgbClr val="0891B2"/>
          </a:solidFill>
          <a:ln/>
        </p:spPr>
      </p:sp>
      <p:sp>
        <p:nvSpPr>
          <p:cNvPr id="13" name="Text 11"/>
          <p:cNvSpPr/>
          <p:nvPr/>
        </p:nvSpPr>
        <p:spPr>
          <a:xfrm>
            <a:off x="2724912"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4" name="Text 12"/>
          <p:cNvSpPr/>
          <p:nvPr/>
        </p:nvSpPr>
        <p:spPr>
          <a:xfrm>
            <a:off x="2221992"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Extract Text</a:t>
            </a:r>
            <a:endParaRPr lang="en-US" sz="1000" dirty="0"/>
          </a:p>
        </p:txBody>
      </p:sp>
      <p:sp>
        <p:nvSpPr>
          <p:cNvPr id="15" name="Text 13"/>
          <p:cNvSpPr/>
          <p:nvPr/>
        </p:nvSpPr>
        <p:spPr>
          <a:xfrm>
            <a:off x="2221992"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PyMuPDF extracts content by page</a:t>
            </a:r>
            <a:endParaRPr lang="en-US" sz="850" dirty="0"/>
          </a:p>
        </p:txBody>
      </p:sp>
      <p:sp>
        <p:nvSpPr>
          <p:cNvPr id="16" name="Shape 14"/>
          <p:cNvSpPr/>
          <p:nvPr/>
        </p:nvSpPr>
        <p:spPr>
          <a:xfrm>
            <a:off x="3730752" y="1920240"/>
            <a:ext cx="164592" cy="0"/>
          </a:xfrm>
          <a:prstGeom prst="line">
            <a:avLst/>
          </a:prstGeom>
          <a:noFill/>
          <a:ln w="19050">
            <a:solidFill>
              <a:srgbClr val="94A3B8"/>
            </a:solidFill>
            <a:prstDash val="solid"/>
          </a:ln>
        </p:spPr>
      </p:sp>
      <p:sp>
        <p:nvSpPr>
          <p:cNvPr id="17" name="Shape 15"/>
          <p:cNvSpPr/>
          <p:nvPr/>
        </p:nvSpPr>
        <p:spPr>
          <a:xfrm>
            <a:off x="3895344"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8" name="Shape 16"/>
          <p:cNvSpPr/>
          <p:nvPr/>
        </p:nvSpPr>
        <p:spPr>
          <a:xfrm>
            <a:off x="4489704" y="1408176"/>
            <a:ext cx="384048" cy="384048"/>
          </a:xfrm>
          <a:prstGeom prst="ellipse">
            <a:avLst/>
          </a:prstGeom>
          <a:solidFill>
            <a:srgbClr val="059669"/>
          </a:solidFill>
          <a:ln/>
        </p:spPr>
      </p:sp>
      <p:sp>
        <p:nvSpPr>
          <p:cNvPr id="19" name="Text 17"/>
          <p:cNvSpPr/>
          <p:nvPr/>
        </p:nvSpPr>
        <p:spPr>
          <a:xfrm>
            <a:off x="4489704"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20" name="Text 18"/>
          <p:cNvSpPr/>
          <p:nvPr/>
        </p:nvSpPr>
        <p:spPr>
          <a:xfrm>
            <a:off x="3986784"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Chunk + Embed</a:t>
            </a:r>
            <a:endParaRPr lang="en-US" sz="1000" dirty="0"/>
          </a:p>
        </p:txBody>
      </p:sp>
      <p:sp>
        <p:nvSpPr>
          <p:cNvPr id="21" name="Text 19"/>
          <p:cNvSpPr/>
          <p:nvPr/>
        </p:nvSpPr>
        <p:spPr>
          <a:xfrm>
            <a:off x="3986784"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Split into chunks, create vectors</a:t>
            </a:r>
            <a:endParaRPr lang="en-US" sz="850" dirty="0"/>
          </a:p>
        </p:txBody>
      </p:sp>
      <p:sp>
        <p:nvSpPr>
          <p:cNvPr id="22" name="Shape 20"/>
          <p:cNvSpPr/>
          <p:nvPr/>
        </p:nvSpPr>
        <p:spPr>
          <a:xfrm>
            <a:off x="5495544" y="1920240"/>
            <a:ext cx="164592" cy="0"/>
          </a:xfrm>
          <a:prstGeom prst="line">
            <a:avLst/>
          </a:prstGeom>
          <a:noFill/>
          <a:ln w="19050">
            <a:solidFill>
              <a:srgbClr val="94A3B8"/>
            </a:solidFill>
            <a:prstDash val="solid"/>
          </a:ln>
        </p:spPr>
      </p:sp>
      <p:sp>
        <p:nvSpPr>
          <p:cNvPr id="23" name="Shape 21"/>
          <p:cNvSpPr/>
          <p:nvPr/>
        </p:nvSpPr>
        <p:spPr>
          <a:xfrm>
            <a:off x="5660136"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24" name="Shape 22"/>
          <p:cNvSpPr/>
          <p:nvPr/>
        </p:nvSpPr>
        <p:spPr>
          <a:xfrm>
            <a:off x="6254496" y="1408176"/>
            <a:ext cx="384048" cy="384048"/>
          </a:xfrm>
          <a:prstGeom prst="ellipse">
            <a:avLst/>
          </a:prstGeom>
          <a:solidFill>
            <a:srgbClr val="D97706"/>
          </a:solidFill>
          <a:ln/>
        </p:spPr>
      </p:sp>
      <p:sp>
        <p:nvSpPr>
          <p:cNvPr id="25" name="Text 23"/>
          <p:cNvSpPr/>
          <p:nvPr/>
        </p:nvSpPr>
        <p:spPr>
          <a:xfrm>
            <a:off x="6254496"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6" name="Text 24"/>
          <p:cNvSpPr/>
          <p:nvPr/>
        </p:nvSpPr>
        <p:spPr>
          <a:xfrm>
            <a:off x="5751576"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Store Vectors</a:t>
            </a:r>
            <a:endParaRPr lang="en-US" sz="1000" dirty="0"/>
          </a:p>
        </p:txBody>
      </p:sp>
      <p:sp>
        <p:nvSpPr>
          <p:cNvPr id="27" name="Text 25"/>
          <p:cNvSpPr/>
          <p:nvPr/>
        </p:nvSpPr>
        <p:spPr>
          <a:xfrm>
            <a:off x="5751576"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Indexed in Pinecone cloud DB</a:t>
            </a:r>
            <a:endParaRPr lang="en-US" sz="850" dirty="0"/>
          </a:p>
        </p:txBody>
      </p:sp>
      <p:sp>
        <p:nvSpPr>
          <p:cNvPr id="28" name="Shape 26"/>
          <p:cNvSpPr/>
          <p:nvPr/>
        </p:nvSpPr>
        <p:spPr>
          <a:xfrm>
            <a:off x="7260336" y="1920240"/>
            <a:ext cx="164592" cy="0"/>
          </a:xfrm>
          <a:prstGeom prst="line">
            <a:avLst/>
          </a:prstGeom>
          <a:noFill/>
          <a:ln w="19050">
            <a:solidFill>
              <a:srgbClr val="94A3B8"/>
            </a:solidFill>
            <a:prstDash val="solid"/>
          </a:ln>
        </p:spPr>
      </p:sp>
      <p:sp>
        <p:nvSpPr>
          <p:cNvPr id="29" name="Shape 27"/>
          <p:cNvSpPr/>
          <p:nvPr/>
        </p:nvSpPr>
        <p:spPr>
          <a:xfrm>
            <a:off x="7424928"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0" name="Shape 28"/>
          <p:cNvSpPr/>
          <p:nvPr/>
        </p:nvSpPr>
        <p:spPr>
          <a:xfrm>
            <a:off x="8019288" y="1408176"/>
            <a:ext cx="384048" cy="384048"/>
          </a:xfrm>
          <a:prstGeom prst="ellipse">
            <a:avLst/>
          </a:prstGeom>
          <a:solidFill>
            <a:srgbClr val="2563EB"/>
          </a:solidFill>
          <a:ln/>
        </p:spPr>
      </p:sp>
      <p:sp>
        <p:nvSpPr>
          <p:cNvPr id="31" name="Text 29"/>
          <p:cNvSpPr/>
          <p:nvPr/>
        </p:nvSpPr>
        <p:spPr>
          <a:xfrm>
            <a:off x="8019288"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32" name="Text 30"/>
          <p:cNvSpPr/>
          <p:nvPr/>
        </p:nvSpPr>
        <p:spPr>
          <a:xfrm>
            <a:off x="7516368"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Retrieve</a:t>
            </a:r>
            <a:endParaRPr lang="en-US" sz="1000" dirty="0"/>
          </a:p>
        </p:txBody>
      </p:sp>
      <p:sp>
        <p:nvSpPr>
          <p:cNvPr id="33" name="Text 31"/>
          <p:cNvSpPr/>
          <p:nvPr/>
        </p:nvSpPr>
        <p:spPr>
          <a:xfrm>
            <a:off x="7516368"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BM25 + vector hybrid search</a:t>
            </a:r>
            <a:endParaRPr lang="en-US" sz="850" dirty="0"/>
          </a:p>
        </p:txBody>
      </p:sp>
      <p:sp>
        <p:nvSpPr>
          <p:cNvPr id="34" name="Shape 32"/>
          <p:cNvSpPr/>
          <p:nvPr/>
        </p:nvSpPr>
        <p:spPr>
          <a:xfrm>
            <a:off x="365760"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5" name="Shape 33"/>
          <p:cNvSpPr/>
          <p:nvPr/>
        </p:nvSpPr>
        <p:spPr>
          <a:xfrm>
            <a:off x="960120" y="2852928"/>
            <a:ext cx="384048" cy="384048"/>
          </a:xfrm>
          <a:prstGeom prst="ellipse">
            <a:avLst/>
          </a:prstGeom>
          <a:solidFill>
            <a:srgbClr val="0891B2"/>
          </a:solidFill>
          <a:ln/>
        </p:spPr>
      </p:sp>
      <p:sp>
        <p:nvSpPr>
          <p:cNvPr id="36" name="Text 34"/>
          <p:cNvSpPr/>
          <p:nvPr/>
        </p:nvSpPr>
        <p:spPr>
          <a:xfrm>
            <a:off x="960120"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37" name="Text 35"/>
          <p:cNvSpPr/>
          <p:nvPr/>
        </p:nvSpPr>
        <p:spPr>
          <a:xfrm>
            <a:off x="457200"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Re-rank</a:t>
            </a:r>
            <a:endParaRPr lang="en-US" sz="1000" dirty="0"/>
          </a:p>
        </p:txBody>
      </p:sp>
      <p:sp>
        <p:nvSpPr>
          <p:cNvPr id="38" name="Text 36"/>
          <p:cNvSpPr/>
          <p:nvPr/>
        </p:nvSpPr>
        <p:spPr>
          <a:xfrm>
            <a:off x="457200"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Year-aware re-ranking removes stale data</a:t>
            </a:r>
            <a:endParaRPr lang="en-US" sz="850" dirty="0"/>
          </a:p>
        </p:txBody>
      </p:sp>
      <p:sp>
        <p:nvSpPr>
          <p:cNvPr id="39" name="Shape 37"/>
          <p:cNvSpPr/>
          <p:nvPr/>
        </p:nvSpPr>
        <p:spPr>
          <a:xfrm>
            <a:off x="1965960" y="3364992"/>
            <a:ext cx="576072" cy="0"/>
          </a:xfrm>
          <a:prstGeom prst="line">
            <a:avLst/>
          </a:prstGeom>
          <a:noFill/>
          <a:ln w="19050">
            <a:solidFill>
              <a:srgbClr val="94A3B8"/>
            </a:solidFill>
            <a:prstDash val="solid"/>
          </a:ln>
        </p:spPr>
      </p:sp>
      <p:sp>
        <p:nvSpPr>
          <p:cNvPr id="40" name="Shape 38"/>
          <p:cNvSpPr/>
          <p:nvPr/>
        </p:nvSpPr>
        <p:spPr>
          <a:xfrm>
            <a:off x="2542032"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1" name="Shape 39"/>
          <p:cNvSpPr/>
          <p:nvPr/>
        </p:nvSpPr>
        <p:spPr>
          <a:xfrm>
            <a:off x="3136392" y="2852928"/>
            <a:ext cx="384048" cy="384048"/>
          </a:xfrm>
          <a:prstGeom prst="ellipse">
            <a:avLst/>
          </a:prstGeom>
          <a:solidFill>
            <a:srgbClr val="059669"/>
          </a:solidFill>
          <a:ln/>
        </p:spPr>
      </p:sp>
      <p:sp>
        <p:nvSpPr>
          <p:cNvPr id="42" name="Text 40"/>
          <p:cNvSpPr/>
          <p:nvPr/>
        </p:nvSpPr>
        <p:spPr>
          <a:xfrm>
            <a:off x="3136392"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7</a:t>
            </a:r>
            <a:endParaRPr lang="en-US" sz="1400" dirty="0"/>
          </a:p>
        </p:txBody>
      </p:sp>
      <p:sp>
        <p:nvSpPr>
          <p:cNvPr id="43" name="Text 41"/>
          <p:cNvSpPr/>
          <p:nvPr/>
        </p:nvSpPr>
        <p:spPr>
          <a:xfrm>
            <a:off x="2633472"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LLM Call</a:t>
            </a:r>
            <a:endParaRPr lang="en-US" sz="1000" dirty="0"/>
          </a:p>
        </p:txBody>
      </p:sp>
      <p:sp>
        <p:nvSpPr>
          <p:cNvPr id="44" name="Text 42"/>
          <p:cNvSpPr/>
          <p:nvPr/>
        </p:nvSpPr>
        <p:spPr>
          <a:xfrm>
            <a:off x="2633472"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OpenAI → Groq → Gemini fallback chain</a:t>
            </a:r>
            <a:endParaRPr lang="en-US" sz="850" dirty="0"/>
          </a:p>
        </p:txBody>
      </p:sp>
      <p:sp>
        <p:nvSpPr>
          <p:cNvPr id="45" name="Shape 43"/>
          <p:cNvSpPr/>
          <p:nvPr/>
        </p:nvSpPr>
        <p:spPr>
          <a:xfrm>
            <a:off x="4142232" y="3364992"/>
            <a:ext cx="576072" cy="0"/>
          </a:xfrm>
          <a:prstGeom prst="line">
            <a:avLst/>
          </a:prstGeom>
          <a:noFill/>
          <a:ln w="19050">
            <a:solidFill>
              <a:srgbClr val="94A3B8"/>
            </a:solidFill>
            <a:prstDash val="solid"/>
          </a:ln>
        </p:spPr>
      </p:sp>
      <p:sp>
        <p:nvSpPr>
          <p:cNvPr id="46" name="Shape 44"/>
          <p:cNvSpPr/>
          <p:nvPr/>
        </p:nvSpPr>
        <p:spPr>
          <a:xfrm>
            <a:off x="4718304"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7" name="Shape 45"/>
          <p:cNvSpPr/>
          <p:nvPr/>
        </p:nvSpPr>
        <p:spPr>
          <a:xfrm>
            <a:off x="5312664" y="2852928"/>
            <a:ext cx="384048" cy="384048"/>
          </a:xfrm>
          <a:prstGeom prst="ellipse">
            <a:avLst/>
          </a:prstGeom>
          <a:solidFill>
            <a:srgbClr val="D97706"/>
          </a:solidFill>
          <a:ln/>
        </p:spPr>
      </p:sp>
      <p:sp>
        <p:nvSpPr>
          <p:cNvPr id="48" name="Text 46"/>
          <p:cNvSpPr/>
          <p:nvPr/>
        </p:nvSpPr>
        <p:spPr>
          <a:xfrm>
            <a:off x="5312664"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8</a:t>
            </a:r>
            <a:endParaRPr lang="en-US" sz="1400" dirty="0"/>
          </a:p>
        </p:txBody>
      </p:sp>
      <p:sp>
        <p:nvSpPr>
          <p:cNvPr id="49" name="Text 47"/>
          <p:cNvSpPr/>
          <p:nvPr/>
        </p:nvSpPr>
        <p:spPr>
          <a:xfrm>
            <a:off x="4809744"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Validate</a:t>
            </a:r>
            <a:endParaRPr lang="en-US" sz="1000" dirty="0"/>
          </a:p>
        </p:txBody>
      </p:sp>
      <p:sp>
        <p:nvSpPr>
          <p:cNvPr id="50" name="Text 48"/>
          <p:cNvSpPr/>
          <p:nvPr/>
        </p:nvSpPr>
        <p:spPr>
          <a:xfrm>
            <a:off x="4809744"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DeepEval + RAGAS hallucination check</a:t>
            </a:r>
            <a:endParaRPr lang="en-US" sz="850" dirty="0"/>
          </a:p>
        </p:txBody>
      </p:sp>
      <p:sp>
        <p:nvSpPr>
          <p:cNvPr id="51" name="Shape 49"/>
          <p:cNvSpPr/>
          <p:nvPr/>
        </p:nvSpPr>
        <p:spPr>
          <a:xfrm>
            <a:off x="6318504" y="3364992"/>
            <a:ext cx="576072" cy="0"/>
          </a:xfrm>
          <a:prstGeom prst="line">
            <a:avLst/>
          </a:prstGeom>
          <a:noFill/>
          <a:ln w="19050">
            <a:solidFill>
              <a:srgbClr val="94A3B8"/>
            </a:solidFill>
            <a:prstDash val="solid"/>
          </a:ln>
        </p:spPr>
      </p:sp>
      <p:sp>
        <p:nvSpPr>
          <p:cNvPr id="52" name="Shape 50"/>
          <p:cNvSpPr/>
          <p:nvPr/>
        </p:nvSpPr>
        <p:spPr>
          <a:xfrm>
            <a:off x="6894576"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53" name="Shape 51"/>
          <p:cNvSpPr/>
          <p:nvPr/>
        </p:nvSpPr>
        <p:spPr>
          <a:xfrm>
            <a:off x="7488936" y="2852928"/>
            <a:ext cx="384048" cy="384048"/>
          </a:xfrm>
          <a:prstGeom prst="ellipse">
            <a:avLst/>
          </a:prstGeom>
          <a:solidFill>
            <a:srgbClr val="2563EB"/>
          </a:solidFill>
          <a:ln/>
        </p:spPr>
      </p:sp>
      <p:sp>
        <p:nvSpPr>
          <p:cNvPr id="54" name="Text 52"/>
          <p:cNvSpPr/>
          <p:nvPr/>
        </p:nvSpPr>
        <p:spPr>
          <a:xfrm>
            <a:off x="7488936"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9</a:t>
            </a:r>
            <a:endParaRPr lang="en-US" sz="1400" dirty="0"/>
          </a:p>
        </p:txBody>
      </p:sp>
      <p:sp>
        <p:nvSpPr>
          <p:cNvPr id="55" name="Text 53"/>
          <p:cNvSpPr/>
          <p:nvPr/>
        </p:nvSpPr>
        <p:spPr>
          <a:xfrm>
            <a:off x="6986016"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Display</a:t>
            </a:r>
            <a:endParaRPr lang="en-US" sz="1000" dirty="0"/>
          </a:p>
        </p:txBody>
      </p:sp>
      <p:sp>
        <p:nvSpPr>
          <p:cNvPr id="56" name="Text 54"/>
          <p:cNvSpPr/>
          <p:nvPr/>
        </p:nvSpPr>
        <p:spPr>
          <a:xfrm>
            <a:off x="6986016"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Risk score, recommendations, chat answer</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AI QUALITY</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Evaluation &amp; Testing Coverage</a:t>
            </a:r>
          </a:p>
        </p:txBody>
      </p:sp>
      <p:sp>
        <p:nvSpPr>
          <p:cNvPr id="104" name="Card"/>
          <p:cNvSpPr/>
          <p:nvPr/>
        </p:nvSpPr>
        <p:spPr>
          <a:xfrm>
            <a:off x="4572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717200" y="1290000"/>
            <a:ext cx="3486800" cy="24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anose="020F0502020204030204"/>
                <a:ea typeface="+mn-ea"/>
                <a:cs typeface="+mn-cs"/>
              </a:rPr>
              <a:t>DeepEval — Hallucination Detection</a:t>
            </a:r>
          </a:p>
        </p:txBody>
      </p:sp>
      <p:sp>
        <p:nvSpPr>
          <p:cNvPr id="106" name="Text"/>
          <p:cNvSpPr/>
          <p:nvPr/>
        </p:nvSpPr>
        <p:spPr>
          <a:xfrm>
            <a:off x="717200" y="1540000"/>
            <a:ext cx="900000" cy="46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59669"/>
                </a:solidFill>
                <a:effectLst/>
                <a:uLnTx/>
                <a:uFillTx/>
                <a:latin typeface="Calibri" panose="020F0502020204030204"/>
                <a:ea typeface="+mn-ea"/>
                <a:cs typeface="+mn-cs"/>
              </a:rPr>
              <a:t>0.22</a:t>
            </a:r>
          </a:p>
        </p:txBody>
      </p:sp>
      <p:sp>
        <p:nvSpPr>
          <p:cNvPr id="107" name="Text"/>
          <p:cNvSpPr/>
          <p:nvPr/>
        </p:nvSpPr>
        <p:spPr>
          <a:xfrm>
            <a:off x="1357200" y="1650000"/>
            <a:ext cx="2836800" cy="30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4A3B8"/>
                </a:solidFill>
                <a:effectLst/>
                <a:uLnTx/>
                <a:uFillTx/>
                <a:latin typeface="Calibri" panose="020F0502020204030204"/>
                <a:ea typeface="+mn-ea"/>
                <a:cs typeface="+mn-cs"/>
              </a:rPr>
              <a:t>avg. score, bad profile (under 0.5 = pass)</a:t>
            </a:r>
          </a:p>
        </p:txBody>
      </p:sp>
      <p:sp>
        <p:nvSpPr>
          <p:cNvPr id="108" name="Card"/>
          <p:cNvSpPr/>
          <p:nvPr/>
        </p:nvSpPr>
        <p:spPr>
          <a:xfrm>
            <a:off x="46863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4946300" y="1290000"/>
            <a:ext cx="3486800" cy="24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anose="020F0502020204030204"/>
                <a:ea typeface="+mn-ea"/>
                <a:cs typeface="+mn-cs"/>
              </a:rPr>
              <a:t>RAGAS — Faithfulness &amp; Relevancy</a:t>
            </a:r>
          </a:p>
        </p:txBody>
      </p:sp>
      <p:sp>
        <p:nvSpPr>
          <p:cNvPr id="110" name="Text"/>
          <p:cNvSpPr/>
          <p:nvPr/>
        </p:nvSpPr>
        <p:spPr>
          <a:xfrm>
            <a:off x="4946300" y="1540000"/>
            <a:ext cx="900000" cy="46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891B2"/>
                </a:solidFill>
                <a:effectLst/>
                <a:uLnTx/>
                <a:uFillTx/>
                <a:latin typeface="Calibri" panose="020F0502020204030204"/>
                <a:ea typeface="+mn-ea"/>
                <a:cs typeface="+mn-cs"/>
              </a:rPr>
              <a:t>0.88</a:t>
            </a:r>
          </a:p>
        </p:txBody>
      </p:sp>
      <p:sp>
        <p:nvSpPr>
          <p:cNvPr id="111" name="Text"/>
          <p:cNvSpPr/>
          <p:nvPr/>
        </p:nvSpPr>
        <p:spPr>
          <a:xfrm>
            <a:off x="5586300" y="1650000"/>
            <a:ext cx="2836800" cy="30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4A3B8"/>
                </a:solidFill>
                <a:effectLst/>
                <a:uLnTx/>
                <a:uFillTx/>
                <a:latin typeface="Calibri" panose="020F0502020204030204"/>
                <a:ea typeface="+mn-ea"/>
                <a:cs typeface="+mn-cs"/>
              </a:rPr>
              <a:t>avg. faithfulness score</a:t>
            </a:r>
          </a:p>
        </p:txBody>
      </p:sp>
      <p:sp>
        <p:nvSpPr>
          <p:cNvPr id="112" name="Text"/>
          <p:cNvSpPr/>
          <p:nvPr/>
        </p:nvSpPr>
        <p:spPr>
          <a:xfrm>
            <a:off x="457200" y="2210000"/>
            <a:ext cx="8229600" cy="22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FFFFFF"/>
                </a:solidFill>
                <a:effectLst/>
                <a:uLnTx/>
                <a:uFillTx/>
                <a:latin typeface="Calibri" panose="020F0502020204030204"/>
                <a:ea typeface="+mn-ea"/>
                <a:cs typeface="+mn-cs"/>
              </a:rPr>
              <a:t>96 Unit Tests — Every Module Covered</a:t>
            </a:r>
          </a:p>
        </p:txBody>
      </p:sp>
      <p:sp>
        <p:nvSpPr>
          <p:cNvPr id="113" name="Card"/>
          <p:cNvSpPr/>
          <p:nvPr/>
        </p:nvSpPr>
        <p:spPr>
          <a:xfrm>
            <a:off x="4572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4" name="Text"/>
          <p:cNvSpPr/>
          <p:nvPr/>
        </p:nvSpPr>
        <p:spPr>
          <a:xfrm>
            <a:off x="5672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13</a:t>
            </a:r>
          </a:p>
        </p:txBody>
      </p:sp>
      <p:sp>
        <p:nvSpPr>
          <p:cNvPr id="115" name="Text"/>
          <p:cNvSpPr/>
          <p:nvPr/>
        </p:nvSpPr>
        <p:spPr>
          <a:xfrm>
            <a:off x="10172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test_auth.py</a:t>
            </a:r>
          </a:p>
        </p:txBody>
      </p:sp>
      <p:sp>
        <p:nvSpPr>
          <p:cNvPr id="116" name="Card"/>
          <p:cNvSpPr/>
          <p:nvPr/>
        </p:nvSpPr>
        <p:spPr>
          <a:xfrm>
            <a:off x="24541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25641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16</a:t>
            </a:r>
          </a:p>
        </p:txBody>
      </p:sp>
      <p:sp>
        <p:nvSpPr>
          <p:cNvPr id="118" name="Text"/>
          <p:cNvSpPr/>
          <p:nvPr/>
        </p:nvSpPr>
        <p:spPr>
          <a:xfrm>
            <a:off x="30141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test_loan_workflow.py</a:t>
            </a:r>
          </a:p>
        </p:txBody>
      </p:sp>
      <p:sp>
        <p:nvSpPr>
          <p:cNvPr id="119" name="Card"/>
          <p:cNvSpPr/>
          <p:nvPr/>
        </p:nvSpPr>
        <p:spPr>
          <a:xfrm>
            <a:off x="44510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0" name="Text"/>
          <p:cNvSpPr/>
          <p:nvPr/>
        </p:nvSpPr>
        <p:spPr>
          <a:xfrm>
            <a:off x="45610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19</a:t>
            </a:r>
          </a:p>
        </p:txBody>
      </p:sp>
      <p:sp>
        <p:nvSpPr>
          <p:cNvPr id="121" name="Text"/>
          <p:cNvSpPr/>
          <p:nvPr/>
        </p:nvSpPr>
        <p:spPr>
          <a:xfrm>
            <a:off x="50110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test_entity_aware_fixes.py</a:t>
            </a:r>
          </a:p>
        </p:txBody>
      </p:sp>
      <p:sp>
        <p:nvSpPr>
          <p:cNvPr id="122" name="Card"/>
          <p:cNvSpPr/>
          <p:nvPr/>
        </p:nvSpPr>
        <p:spPr>
          <a:xfrm>
            <a:off x="64479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65579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14</a:t>
            </a:r>
          </a:p>
        </p:txBody>
      </p:sp>
      <p:sp>
        <p:nvSpPr>
          <p:cNvPr id="124" name="Text"/>
          <p:cNvSpPr/>
          <p:nvPr/>
        </p:nvSpPr>
        <p:spPr>
          <a:xfrm>
            <a:off x="70079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test_reranker.py</a:t>
            </a:r>
          </a:p>
        </p:txBody>
      </p:sp>
      <p:sp>
        <p:nvSpPr>
          <p:cNvPr id="125" name="Card"/>
          <p:cNvSpPr/>
          <p:nvPr/>
        </p:nvSpPr>
        <p:spPr>
          <a:xfrm>
            <a:off x="4572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6" name="Text"/>
          <p:cNvSpPr/>
          <p:nvPr/>
        </p:nvSpPr>
        <p:spPr>
          <a:xfrm>
            <a:off x="5672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13</a:t>
            </a:r>
          </a:p>
        </p:txBody>
      </p:sp>
      <p:sp>
        <p:nvSpPr>
          <p:cNvPr id="127" name="Text"/>
          <p:cNvSpPr/>
          <p:nvPr/>
        </p:nvSpPr>
        <p:spPr>
          <a:xfrm>
            <a:off x="10172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test_city_and_validator.py</a:t>
            </a:r>
          </a:p>
        </p:txBody>
      </p:sp>
      <p:sp>
        <p:nvSpPr>
          <p:cNvPr id="128" name="Card"/>
          <p:cNvSpPr/>
          <p:nvPr/>
        </p:nvSpPr>
        <p:spPr>
          <a:xfrm>
            <a:off x="24541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9" name="Text"/>
          <p:cNvSpPr/>
          <p:nvPr/>
        </p:nvSpPr>
        <p:spPr>
          <a:xfrm>
            <a:off x="25641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4</a:t>
            </a:r>
          </a:p>
        </p:txBody>
      </p:sp>
      <p:sp>
        <p:nvSpPr>
          <p:cNvPr id="130" name="Text"/>
          <p:cNvSpPr/>
          <p:nvPr/>
        </p:nvSpPr>
        <p:spPr>
          <a:xfrm>
            <a:off x="30141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test_retirement_calc.py</a:t>
            </a:r>
          </a:p>
        </p:txBody>
      </p:sp>
      <p:sp>
        <p:nvSpPr>
          <p:cNvPr id="131" name="Card"/>
          <p:cNvSpPr/>
          <p:nvPr/>
        </p:nvSpPr>
        <p:spPr>
          <a:xfrm>
            <a:off x="44510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2" name="Text"/>
          <p:cNvSpPr/>
          <p:nvPr/>
        </p:nvSpPr>
        <p:spPr>
          <a:xfrm>
            <a:off x="45610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5</a:t>
            </a:r>
          </a:p>
        </p:txBody>
      </p:sp>
      <p:sp>
        <p:nvSpPr>
          <p:cNvPr id="133" name="Text"/>
          <p:cNvSpPr/>
          <p:nvPr/>
        </p:nvSpPr>
        <p:spPr>
          <a:xfrm>
            <a:off x="50110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test_sampling.py</a:t>
            </a:r>
          </a:p>
        </p:txBody>
      </p:sp>
      <p:sp>
        <p:nvSpPr>
          <p:cNvPr id="134" name="Card"/>
          <p:cNvSpPr/>
          <p:nvPr/>
        </p:nvSpPr>
        <p:spPr>
          <a:xfrm>
            <a:off x="64479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5" name="Text"/>
          <p:cNvSpPr/>
          <p:nvPr/>
        </p:nvSpPr>
        <p:spPr>
          <a:xfrm>
            <a:off x="65579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6</a:t>
            </a:r>
          </a:p>
        </p:txBody>
      </p:sp>
      <p:sp>
        <p:nvSpPr>
          <p:cNvPr id="136" name="Text"/>
          <p:cNvSpPr/>
          <p:nvPr/>
        </p:nvSpPr>
        <p:spPr>
          <a:xfrm>
            <a:off x="70079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test_schemas.py</a:t>
            </a:r>
          </a:p>
        </p:txBody>
      </p:sp>
      <p:sp>
        <p:nvSpPr>
          <p:cNvPr id="137" name="Text"/>
          <p:cNvSpPr/>
          <p:nvPr/>
        </p:nvSpPr>
        <p:spPr>
          <a:xfrm>
            <a:off x="457200" y="3620400"/>
            <a:ext cx="8229600" cy="2200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94A3B8"/>
                </a:solidFill>
                <a:effectLst/>
                <a:uLnTx/>
                <a:uFillTx/>
                <a:latin typeface="Calibri" panose="020F0502020204030204"/>
                <a:ea typeface="+mn-ea"/>
                <a:cs typeface="+mn-cs"/>
              </a:rPr>
              <a:t>All 96 tests run automatically in GitHub Actions on every push — in 6 seconds, no API keys required.</a:t>
            </a:r>
          </a:p>
        </p:txBody>
      </p:sp>
      <p:sp>
        <p:nvSpPr>
          <p:cNvPr id="138" name="TextBox 137"/>
          <p:cNvSpPr txBox="1"/>
          <p:nvPr/>
        </p:nvSpPr>
        <p:spPr>
          <a:xfrm>
            <a:off x="457200" y="3900000"/>
            <a:ext cx="82296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50" b="1" i="0" u="none" strike="noStrike" kern="1200" cap="none" spc="0" normalizeH="0" baseline="0" noProof="0">
                <a:ln>
                  <a:noFill/>
                </a:ln>
                <a:solidFill>
                  <a:srgbClr val="FFFFFF"/>
                </a:solidFill>
                <a:effectLst/>
                <a:uLnTx/>
                <a:uFillTx/>
                <a:latin typeface="Calibri" panose="020F0502020204030204"/>
                <a:ea typeface="+mn-ea"/>
                <a:cs typeface="+mn-cs"/>
              </a:rPr>
              <a:t>Load Testing — 20 Concurrent Users × 3 Questions Each</a:t>
            </a:r>
          </a:p>
        </p:txBody>
      </p:sp>
      <p:sp>
        <p:nvSpPr>
          <p:cNvPr id="139" name="Rounded Rectangle 138"/>
          <p:cNvSpPr/>
          <p:nvPr/>
        </p:nvSpPr>
        <p:spPr>
          <a:xfrm>
            <a:off x="4572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TextBox 139"/>
          <p:cNvSpPr txBox="1"/>
          <p:nvPr/>
        </p:nvSpPr>
        <p:spPr>
          <a:xfrm>
            <a:off x="5672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60</a:t>
            </a:r>
          </a:p>
        </p:txBody>
      </p:sp>
      <p:sp>
        <p:nvSpPr>
          <p:cNvPr id="141" name="TextBox 140"/>
          <p:cNvSpPr txBox="1"/>
          <p:nvPr/>
        </p:nvSpPr>
        <p:spPr>
          <a:xfrm>
            <a:off x="12072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Total Requests</a:t>
            </a:r>
          </a:p>
        </p:txBody>
      </p:sp>
      <p:sp>
        <p:nvSpPr>
          <p:cNvPr id="142" name="Rounded Rectangle 141"/>
          <p:cNvSpPr/>
          <p:nvPr/>
        </p:nvSpPr>
        <p:spPr>
          <a:xfrm>
            <a:off x="24541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TextBox 142"/>
          <p:cNvSpPr txBox="1"/>
          <p:nvPr/>
        </p:nvSpPr>
        <p:spPr>
          <a:xfrm>
            <a:off x="25641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0%</a:t>
            </a:r>
          </a:p>
        </p:txBody>
      </p:sp>
      <p:sp>
        <p:nvSpPr>
          <p:cNvPr id="144" name="TextBox 143"/>
          <p:cNvSpPr txBox="1"/>
          <p:nvPr/>
        </p:nvSpPr>
        <p:spPr>
          <a:xfrm>
            <a:off x="32041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Failure Rate</a:t>
            </a:r>
          </a:p>
        </p:txBody>
      </p:sp>
      <p:sp>
        <p:nvSpPr>
          <p:cNvPr id="145" name="Rounded Rectangle 144"/>
          <p:cNvSpPr/>
          <p:nvPr/>
        </p:nvSpPr>
        <p:spPr>
          <a:xfrm>
            <a:off x="44510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 name="TextBox 145"/>
          <p:cNvSpPr txBox="1"/>
          <p:nvPr/>
        </p:nvSpPr>
        <p:spPr>
          <a:xfrm>
            <a:off x="45610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5.78s</a:t>
            </a:r>
          </a:p>
        </p:txBody>
      </p:sp>
      <p:sp>
        <p:nvSpPr>
          <p:cNvPr id="147" name="TextBox 146"/>
          <p:cNvSpPr txBox="1"/>
          <p:nvPr/>
        </p:nvSpPr>
        <p:spPr>
          <a:xfrm>
            <a:off x="52010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Avg Response</a:t>
            </a:r>
          </a:p>
        </p:txBody>
      </p:sp>
      <p:sp>
        <p:nvSpPr>
          <p:cNvPr id="148" name="Rounded Rectangle 147"/>
          <p:cNvSpPr/>
          <p:nvPr/>
        </p:nvSpPr>
        <p:spPr>
          <a:xfrm>
            <a:off x="64479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 name="TextBox 148"/>
          <p:cNvSpPr txBox="1"/>
          <p:nvPr/>
        </p:nvSpPr>
        <p:spPr>
          <a:xfrm>
            <a:off x="65579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1.79/s</a:t>
            </a:r>
          </a:p>
        </p:txBody>
      </p:sp>
      <p:sp>
        <p:nvSpPr>
          <p:cNvPr id="150" name="TextBox 149"/>
          <p:cNvSpPr txBox="1"/>
          <p:nvPr/>
        </p:nvSpPr>
        <p:spPr>
          <a:xfrm>
            <a:off x="71979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Throughput</a:t>
            </a:r>
          </a:p>
        </p:txBody>
      </p:sp>
      <p:sp>
        <p:nvSpPr>
          <p:cNvPr id="151" name="TextBox 150"/>
          <p:cNvSpPr txBox="1"/>
          <p:nvPr/>
        </p:nvSpPr>
        <p:spPr>
          <a:xfrm>
            <a:off x="457200" y="4690000"/>
            <a:ext cx="82296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E2E8F0"/>
                </a:solidFill>
                <a:effectLst/>
                <a:uLnTx/>
                <a:uFillTx/>
                <a:latin typeface="Calibri" panose="020F0502020204030204"/>
                <a:ea typeface="+mn-ea"/>
                <a:cs typeface="+mn-cs"/>
              </a:rPr>
              <a:t>60/60 requests succeeded (0% failure) — p95: 11.05s, max: 21.12s — tests/Load/load_test_orchestrator.py</a:t>
            </a:r>
          </a:p>
        </p:txBody>
      </p:sp>
    </p:spTree>
    <p:extLst>
      <p:ext uri="{BB962C8B-B14F-4D97-AF65-F5344CB8AC3E}">
        <p14:creationId xmlns:p14="http://schemas.microsoft.com/office/powerpoint/2010/main" val="853544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AI TOOLING</a:t>
            </a:r>
          </a:p>
        </p:txBody>
      </p:sp>
      <p:sp>
        <p:nvSpPr>
          <p:cNvPr id="103" name="Title"/>
          <p:cNvSpPr/>
          <p:nvPr/>
        </p:nvSpPr>
        <p:spPr>
          <a:xfrm>
            <a:off x="457200" y="527327"/>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Built With Kiro AI</a:t>
            </a:r>
          </a:p>
        </p:txBody>
      </p:sp>
      <p:sp>
        <p:nvSpPr>
          <p:cNvPr id="104" name="TextBox 103"/>
          <p:cNvSpPr txBox="1"/>
          <p:nvPr/>
        </p:nvSpPr>
        <p:spPr>
          <a:xfrm>
            <a:off x="457200" y="950000"/>
            <a:ext cx="822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0" i="0" u="none" strike="noStrike" kern="1200" cap="none" spc="0" normalizeH="0" baseline="0" noProof="0">
                <a:ln>
                  <a:noFill/>
                </a:ln>
                <a:solidFill>
                  <a:srgbClr val="9CA9BC"/>
                </a:solidFill>
                <a:effectLst/>
                <a:uLnTx/>
                <a:uFillTx/>
                <a:latin typeface="Calibri"/>
                <a:ea typeface="+mn-ea"/>
                <a:cs typeface="+mn-cs"/>
              </a:rPr>
              <a:t>We used Kiro AI (agentic IDE) to design and build the Retirement Planner feature, following a strict spec-driven planning process before writing code.</a:t>
            </a:r>
          </a:p>
        </p:txBody>
      </p:sp>
      <p:sp>
        <p:nvSpPr>
          <p:cNvPr id="105" name="Rounded Rectangle 104"/>
          <p:cNvSpPr/>
          <p:nvPr/>
        </p:nvSpPr>
        <p:spPr>
          <a:xfrm>
            <a:off x="457200" y="1500000"/>
            <a:ext cx="4550000" cy="3150000"/>
          </a:xfrm>
          <a:prstGeom prst="roundRect">
            <a:avLst>
              <a:gd name="adj" fmla="val 4000"/>
            </a:avLst>
          </a:prstGeom>
          <a:no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6" name="Rounded Rectangle 105"/>
          <p:cNvSpPr/>
          <p:nvPr/>
        </p:nvSpPr>
        <p:spPr>
          <a:xfrm>
            <a:off x="677200" y="1680000"/>
            <a:ext cx="4110000" cy="42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 name="TextBox 106"/>
          <p:cNvSpPr txBox="1"/>
          <p:nvPr/>
        </p:nvSpPr>
        <p:spPr>
          <a:xfrm>
            <a:off x="757200" y="1680000"/>
            <a:ext cx="3950000" cy="42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Calibri"/>
                <a:ea typeface="+mn-ea"/>
                <a:cs typeface="+mn-cs"/>
              </a:rPr>
              <a:t>User Prompt: "Build a retirement planner with
city-wise cost of living"</a:t>
            </a:r>
          </a:p>
        </p:txBody>
      </p:sp>
      <p:sp>
        <p:nvSpPr>
          <p:cNvPr id="108" name="Down Arrow 107"/>
          <p:cNvSpPr/>
          <p:nvPr/>
        </p:nvSpPr>
        <p:spPr>
          <a:xfrm>
            <a:off x="2642200" y="2130000"/>
            <a:ext cx="180000" cy="260000"/>
          </a:xfrm>
          <a:prstGeom prst="down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 name="Rounded Rectangle 108"/>
          <p:cNvSpPr/>
          <p:nvPr/>
        </p:nvSpPr>
        <p:spPr>
          <a:xfrm>
            <a:off x="677200" y="2380000"/>
            <a:ext cx="4110000" cy="900000"/>
          </a:xfrm>
          <a:prstGeom prst="roundRect">
            <a:avLst>
              <a:gd name="adj" fmla="val 6000"/>
            </a:avLst>
          </a:prstGeom>
          <a:noFill/>
          <a:ln w="12700">
            <a:solidFill>
              <a:srgbClr val="D9B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p:cNvSpPr txBox="1"/>
          <p:nvPr/>
        </p:nvSpPr>
        <p:spPr>
          <a:xfrm>
            <a:off x="677200" y="2460000"/>
            <a:ext cx="4110000" cy="26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D9B84A"/>
                </a:solidFill>
                <a:effectLst/>
                <a:uLnTx/>
                <a:uFillTx/>
                <a:latin typeface="Calibri"/>
                <a:ea typeface="+mn-ea"/>
                <a:cs typeface="+mn-cs"/>
              </a:rPr>
              <a:t>Kiro Spec-Driven Planning</a:t>
            </a:r>
          </a:p>
        </p:txBody>
      </p:sp>
      <p:sp>
        <p:nvSpPr>
          <p:cNvPr id="111" name="Rounded Rectangle 110"/>
          <p:cNvSpPr/>
          <p:nvPr/>
        </p:nvSpPr>
        <p:spPr>
          <a:xfrm>
            <a:off x="677200"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 name="TextBox 111"/>
          <p:cNvSpPr txBox="1"/>
          <p:nvPr/>
        </p:nvSpPr>
        <p:spPr>
          <a:xfrm>
            <a:off x="677200"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requirements.md</a:t>
            </a:r>
          </a:p>
        </p:txBody>
      </p:sp>
      <p:sp>
        <p:nvSpPr>
          <p:cNvPr id="113" name="Rounded Rectangle 112"/>
          <p:cNvSpPr/>
          <p:nvPr/>
        </p:nvSpPr>
        <p:spPr>
          <a:xfrm>
            <a:off x="2080533"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4" name="TextBox 113"/>
          <p:cNvSpPr txBox="1"/>
          <p:nvPr/>
        </p:nvSpPr>
        <p:spPr>
          <a:xfrm>
            <a:off x="2080533"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design.md</a:t>
            </a:r>
          </a:p>
        </p:txBody>
      </p:sp>
      <p:sp>
        <p:nvSpPr>
          <p:cNvPr id="115" name="Rounded Rectangle 114"/>
          <p:cNvSpPr/>
          <p:nvPr/>
        </p:nvSpPr>
        <p:spPr>
          <a:xfrm>
            <a:off x="3483866"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TextBox 115"/>
          <p:cNvSpPr txBox="1"/>
          <p:nvPr/>
        </p:nvSpPr>
        <p:spPr>
          <a:xfrm>
            <a:off x="3483866"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tasks.md</a:t>
            </a:r>
          </a:p>
        </p:txBody>
      </p:sp>
      <p:sp>
        <p:nvSpPr>
          <p:cNvPr id="117" name="Down Arrow 116"/>
          <p:cNvSpPr/>
          <p:nvPr/>
        </p:nvSpPr>
        <p:spPr>
          <a:xfrm>
            <a:off x="2642200" y="3310000"/>
            <a:ext cx="180000" cy="260000"/>
          </a:xfrm>
          <a:prstGeom prst="down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 name="Rounded Rectangle 117"/>
          <p:cNvSpPr/>
          <p:nvPr/>
        </p:nvSpPr>
        <p:spPr>
          <a:xfrm>
            <a:off x="677200" y="3560000"/>
            <a:ext cx="2005000" cy="420000"/>
          </a:xfrm>
          <a:prstGeom prst="roundRect">
            <a:avLst>
              <a:gd name="adj" fmla="val 8000"/>
            </a:avLst>
          </a:prstGeom>
          <a:solidFill>
            <a:srgbClr val="142A22"/>
          </a:solidFill>
          <a:ln w="952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TextBox 118"/>
          <p:cNvSpPr txBox="1"/>
          <p:nvPr/>
        </p:nvSpPr>
        <p:spPr>
          <a:xfrm>
            <a:off x="677200" y="3630000"/>
            <a:ext cx="2005000" cy="28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59669"/>
                </a:solidFill>
                <a:effectLst/>
                <a:uLnTx/>
                <a:uFillTx/>
                <a:latin typeface="Calibri"/>
                <a:ea typeface="+mn-ea"/>
                <a:cs typeface="+mn-cs"/>
              </a:rPr>
              <a:t>Implementation
city_data.py</a:t>
            </a:r>
          </a:p>
        </p:txBody>
      </p:sp>
      <p:sp>
        <p:nvSpPr>
          <p:cNvPr id="120" name="Rounded Rectangle 119"/>
          <p:cNvSpPr/>
          <p:nvPr/>
        </p:nvSpPr>
        <p:spPr>
          <a:xfrm>
            <a:off x="2782200" y="3560000"/>
            <a:ext cx="2005000" cy="420000"/>
          </a:xfrm>
          <a:prstGeom prst="roundRect">
            <a:avLst>
              <a:gd name="adj" fmla="val 8000"/>
            </a:avLst>
          </a:prstGeom>
          <a:solidFill>
            <a:srgbClr val="182238"/>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 name="TextBox 120"/>
          <p:cNvSpPr txBox="1"/>
          <p:nvPr/>
        </p:nvSpPr>
        <p:spPr>
          <a:xfrm>
            <a:off x="2782200" y="3630000"/>
            <a:ext cx="2005000" cy="28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5B8DEF"/>
                </a:solidFill>
                <a:effectLst/>
                <a:uLnTx/>
                <a:uFillTx/>
                <a:latin typeface="Calibri"/>
                <a:ea typeface="+mn-ea"/>
                <a:cs typeface="+mn-cs"/>
              </a:rPr>
              <a:t>Validation
test_retirement_calc.py</a:t>
            </a:r>
          </a:p>
        </p:txBody>
      </p:sp>
      <p:sp>
        <p:nvSpPr>
          <p:cNvPr id="122" name="Rectangle 121"/>
          <p:cNvSpPr/>
          <p:nvPr/>
        </p:nvSpPr>
        <p:spPr>
          <a:xfrm>
            <a:off x="5357200" y="1560000"/>
            <a:ext cx="60000" cy="900000"/>
          </a:xfrm>
          <a:prstGeom prst="rect">
            <a:avLst/>
          </a:prstGeom>
          <a:solidFill>
            <a:srgbClr val="D9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TextBox 122"/>
          <p:cNvSpPr txBox="1"/>
          <p:nvPr/>
        </p:nvSpPr>
        <p:spPr>
          <a:xfrm>
            <a:off x="5577200" y="1560000"/>
            <a:ext cx="310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D9B84A"/>
                </a:solidFill>
                <a:effectLst/>
                <a:uLnTx/>
                <a:uFillTx/>
                <a:latin typeface="Calibri"/>
                <a:ea typeface="+mn-ea"/>
                <a:cs typeface="+mn-cs"/>
              </a:rPr>
              <a:t>Spec-First, Not "Vibe Coded"</a:t>
            </a:r>
          </a:p>
        </p:txBody>
      </p:sp>
      <p:sp>
        <p:nvSpPr>
          <p:cNvPr id="124" name="TextBox 123"/>
          <p:cNvSpPr txBox="1"/>
          <p:nvPr/>
        </p:nvSpPr>
        <p:spPr>
          <a:xfrm>
            <a:off x="5577200" y="1960000"/>
            <a:ext cx="31096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Forcing a planning phase (requirements -&gt; design -&gt; tasks) before coding ensured the inflation-adjusted retirement-corpus formula matched the exact financial logic needed — not a rough approximation.</a:t>
            </a:r>
          </a:p>
        </p:txBody>
      </p:sp>
      <p:sp>
        <p:nvSpPr>
          <p:cNvPr id="125" name="Rectangle 124"/>
          <p:cNvSpPr/>
          <p:nvPr/>
        </p:nvSpPr>
        <p:spPr>
          <a:xfrm>
            <a:off x="5357200" y="2810000"/>
            <a:ext cx="60000" cy="90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 name="TextBox 125"/>
          <p:cNvSpPr txBox="1"/>
          <p:nvPr/>
        </p:nvSpPr>
        <p:spPr>
          <a:xfrm>
            <a:off x="5577200" y="2810000"/>
            <a:ext cx="310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a:ea typeface="+mn-ea"/>
                <a:cs typeface="+mn-cs"/>
              </a:rPr>
              <a:t>Validated Before Shipping</a:t>
            </a:r>
          </a:p>
        </p:txBody>
      </p:sp>
      <p:sp>
        <p:nvSpPr>
          <p:cNvPr id="127" name="TextBox 126"/>
          <p:cNvSpPr txBox="1"/>
          <p:nvPr/>
        </p:nvSpPr>
        <p:spPr>
          <a:xfrm>
            <a:off x="5577200" y="3210000"/>
            <a:ext cx="31096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4 dedicated unit tests (test_retirement_calc.py) verify the SIP and corpus math — including edge cases like zero current savings — before the feature ever reached the UI.</a:t>
            </a:r>
          </a:p>
        </p:txBody>
      </p:sp>
      <p:sp>
        <p:nvSpPr>
          <p:cNvPr id="128" name="TextBox 127"/>
          <p:cNvSpPr txBox="1"/>
          <p:nvPr/>
        </p:nvSpPr>
        <p:spPr>
          <a:xfrm>
            <a:off x="457200" y="4830000"/>
            <a:ext cx="50000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9CA9BC"/>
                </a:solidFill>
                <a:effectLst/>
                <a:uLnTx/>
                <a:uFillTx/>
                <a:latin typeface="Calibri"/>
                <a:ea typeface="+mn-ea"/>
                <a:cs typeface="+mn-cs"/>
              </a:rPr>
              <a:t>Credit Risk Intelligence Platform — Technical Deep-Dive</a:t>
            </a:r>
          </a:p>
        </p:txBody>
      </p:sp>
    </p:spTree>
    <p:extLst>
      <p:ext uri="{BB962C8B-B14F-4D97-AF65-F5344CB8AC3E}">
        <p14:creationId xmlns:p14="http://schemas.microsoft.com/office/powerpoint/2010/main" val="233317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evOp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9770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97706"/>
                </a:solidFill>
              </a:rPr>
              <a:t>DEVOPS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CI/CD, Observability &amp; Cloud Deployment</a:t>
            </a:r>
          </a:p>
        </p:txBody>
      </p:sp>
      <p:sp>
        <p:nvSpPr>
          <p:cNvPr id="104" name="Text"/>
          <p:cNvSpPr/>
          <p:nvPr/>
        </p:nvSpPr>
        <p:spPr>
          <a:xfrm>
            <a:off x="457200" y="11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Automated CI/CD Pipeline</a:t>
            </a:r>
          </a:p>
        </p:txBody>
      </p:sp>
      <p:sp>
        <p:nvSpPr>
          <p:cNvPr id="105" name="Pill"/>
          <p:cNvSpPr/>
          <p:nvPr/>
        </p:nvSpPr>
        <p:spPr>
          <a:xfrm>
            <a:off x="457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git push</a:t>
            </a:r>
          </a:p>
        </p:txBody>
      </p:sp>
      <p:sp>
        <p:nvSpPr>
          <p:cNvPr id="106" name="Pill"/>
          <p:cNvSpPr/>
          <p:nvPr/>
        </p:nvSpPr>
        <p:spPr>
          <a:xfrm>
            <a:off x="17988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96 tests</a:t>
            </a:r>
          </a:p>
        </p:txBody>
      </p:sp>
      <p:sp>
        <p:nvSpPr>
          <p:cNvPr id="107" name="Pill"/>
          <p:cNvSpPr/>
          <p:nvPr/>
        </p:nvSpPr>
        <p:spPr>
          <a:xfrm>
            <a:off x="31404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 build</a:t>
            </a:r>
          </a:p>
        </p:txBody>
      </p:sp>
      <p:sp>
        <p:nvSpPr>
          <p:cNvPr id="108" name="Pill"/>
          <p:cNvSpPr/>
          <p:nvPr/>
        </p:nvSpPr>
        <p:spPr>
          <a:xfrm>
            <a:off x="44820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Push to ACR</a:t>
            </a:r>
          </a:p>
        </p:txBody>
      </p:sp>
      <p:sp>
        <p:nvSpPr>
          <p:cNvPr id="109" name="Pill"/>
          <p:cNvSpPr/>
          <p:nvPr/>
        </p:nvSpPr>
        <p:spPr>
          <a:xfrm>
            <a:off x="58236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Deploy</a:t>
            </a:r>
          </a:p>
        </p:txBody>
      </p:sp>
      <p:sp>
        <p:nvSpPr>
          <p:cNvPr id="110" name="Pill"/>
          <p:cNvSpPr/>
          <p:nvPr/>
        </p:nvSpPr>
        <p:spPr>
          <a:xfrm>
            <a:off x="7165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Live on Azure</a:t>
            </a:r>
          </a:p>
        </p:txBody>
      </p:sp>
      <p:sp>
        <p:nvSpPr>
          <p:cNvPr id="111" name="Text"/>
          <p:cNvSpPr/>
          <p:nvPr/>
        </p:nvSpPr>
        <p:spPr>
          <a:xfrm>
            <a:off x="457200" y="18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LangSmith — Full Request Tracing</a:t>
            </a:r>
          </a:p>
        </p:txBody>
      </p:sp>
      <p:sp>
        <p:nvSpPr>
          <p:cNvPr id="112" name="Pill"/>
          <p:cNvSpPr/>
          <p:nvPr/>
        </p:nvSpPr>
        <p:spPr>
          <a:xfrm>
            <a:off x="457200" y="2140000"/>
            <a:ext cx="1376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auth.login_attempt</a:t>
            </a:r>
          </a:p>
        </p:txBody>
      </p:sp>
      <p:sp>
        <p:nvSpPr>
          <p:cNvPr id="113" name="Pill"/>
          <p:cNvSpPr/>
          <p:nvPr/>
        </p:nvSpPr>
        <p:spPr>
          <a:xfrm>
            <a:off x="1893200" y="2140000"/>
            <a:ext cx="143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document_processing</a:t>
            </a:r>
          </a:p>
        </p:txBody>
      </p:sp>
      <p:sp>
        <p:nvSpPr>
          <p:cNvPr id="114" name="Pill"/>
          <p:cNvSpPr/>
          <p:nvPr/>
        </p:nvSpPr>
        <p:spPr>
          <a:xfrm>
            <a:off x="3391200" y="2140000"/>
            <a:ext cx="1314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run_risk_analysis</a:t>
            </a:r>
          </a:p>
        </p:txBody>
      </p:sp>
      <p:sp>
        <p:nvSpPr>
          <p:cNvPr id="115" name="Pill"/>
          <p:cNvSpPr/>
          <p:nvPr/>
        </p:nvSpPr>
        <p:spPr>
          <a:xfrm>
            <a:off x="4765200" y="2140000"/>
            <a:ext cx="174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retrieval_agent.retrieve</a:t>
            </a:r>
          </a:p>
        </p:txBody>
      </p:sp>
      <p:sp>
        <p:nvSpPr>
          <p:cNvPr id="116" name="Pill"/>
          <p:cNvSpPr/>
          <p:nvPr/>
        </p:nvSpPr>
        <p:spPr>
          <a:xfrm>
            <a:off x="6573200" y="2140000"/>
            <a:ext cx="1872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chat_agent.answer_question</a:t>
            </a:r>
          </a:p>
        </p:txBody>
      </p:sp>
      <p:sp>
        <p:nvSpPr>
          <p:cNvPr id="117" name="Text"/>
          <p:cNvSpPr/>
          <p:nvPr/>
        </p:nvSpPr>
        <p:spPr>
          <a:xfrm>
            <a:off x="457200" y="27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Live on Azure App Service</a:t>
            </a:r>
          </a:p>
        </p:txBody>
      </p:sp>
      <p:sp>
        <p:nvSpPr>
          <p:cNvPr id="118" name="Card"/>
          <p:cNvSpPr/>
          <p:nvPr/>
        </p:nvSpPr>
        <p:spPr>
          <a:xfrm>
            <a:off x="4572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19" name="Text"/>
          <p:cNvSpPr/>
          <p:nvPr/>
        </p:nvSpPr>
        <p:spPr>
          <a:xfrm>
            <a:off x="5872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0" name="Text"/>
          <p:cNvSpPr/>
          <p:nvPr/>
        </p:nvSpPr>
        <p:spPr>
          <a:xfrm>
            <a:off x="5872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Container Registry</a:t>
            </a:r>
          </a:p>
        </p:txBody>
      </p:sp>
      <p:sp>
        <p:nvSpPr>
          <p:cNvPr id="121" name="Text"/>
          <p:cNvSpPr/>
          <p:nvPr/>
        </p:nvSpPr>
        <p:spPr>
          <a:xfrm>
            <a:off x="5872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creditriskakash7272.azurecr.io</a:t>
            </a:r>
          </a:p>
        </p:txBody>
      </p:sp>
      <p:sp>
        <p:nvSpPr>
          <p:cNvPr id="122" name="Card"/>
          <p:cNvSpPr/>
          <p:nvPr/>
        </p:nvSpPr>
        <p:spPr>
          <a:xfrm>
            <a:off x="24541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25841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4" name="Text"/>
          <p:cNvSpPr/>
          <p:nvPr/>
        </p:nvSpPr>
        <p:spPr>
          <a:xfrm>
            <a:off x="25841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App Service Plan</a:t>
            </a:r>
          </a:p>
        </p:txBody>
      </p:sp>
      <p:sp>
        <p:nvSpPr>
          <p:cNvPr id="125" name="Text"/>
          <p:cNvSpPr/>
          <p:nvPr/>
        </p:nvSpPr>
        <p:spPr>
          <a:xfrm>
            <a:off x="25841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B2 — 2 CPU, 3.5GB RAM</a:t>
            </a:r>
          </a:p>
        </p:txBody>
      </p:sp>
      <p:sp>
        <p:nvSpPr>
          <p:cNvPr id="126" name="Card"/>
          <p:cNvSpPr/>
          <p:nvPr/>
        </p:nvSpPr>
        <p:spPr>
          <a:xfrm>
            <a:off x="44510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7" name="Text"/>
          <p:cNvSpPr/>
          <p:nvPr/>
        </p:nvSpPr>
        <p:spPr>
          <a:xfrm>
            <a:off x="45810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8" name="Text"/>
          <p:cNvSpPr/>
          <p:nvPr/>
        </p:nvSpPr>
        <p:spPr>
          <a:xfrm>
            <a:off x="45810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Web App</a:t>
            </a:r>
          </a:p>
        </p:txBody>
      </p:sp>
      <p:sp>
        <p:nvSpPr>
          <p:cNvPr id="129" name="Text"/>
          <p:cNvSpPr/>
          <p:nvPr/>
        </p:nvSpPr>
        <p:spPr>
          <a:xfrm>
            <a:off x="45810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creditriskplatform.azurewebsites.net</a:t>
            </a:r>
          </a:p>
        </p:txBody>
      </p:sp>
      <p:sp>
        <p:nvSpPr>
          <p:cNvPr id="130" name="Card"/>
          <p:cNvSpPr/>
          <p:nvPr/>
        </p:nvSpPr>
        <p:spPr>
          <a:xfrm>
            <a:off x="64479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31" name="Text"/>
          <p:cNvSpPr/>
          <p:nvPr/>
        </p:nvSpPr>
        <p:spPr>
          <a:xfrm>
            <a:off x="65779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32" name="Text"/>
          <p:cNvSpPr/>
          <p:nvPr/>
        </p:nvSpPr>
        <p:spPr>
          <a:xfrm>
            <a:off x="65779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Environment Vars</a:t>
            </a:r>
          </a:p>
        </p:txBody>
      </p:sp>
      <p:sp>
        <p:nvSpPr>
          <p:cNvPr id="133" name="Text"/>
          <p:cNvSpPr/>
          <p:nvPr/>
        </p:nvSpPr>
        <p:spPr>
          <a:xfrm>
            <a:off x="65779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13 secure settings, never baked into image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WRAP-UP</a:t>
            </a:r>
          </a:p>
        </p:txBody>
      </p:sp>
      <p:sp>
        <p:nvSpPr>
          <p:cNvPr id="103" name="Title"/>
          <p:cNvSpPr/>
          <p:nvPr/>
        </p:nvSpPr>
        <p:spPr>
          <a:xfrm>
            <a:off x="417755" y="475218"/>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The Codebase &amp; Credits</a:t>
            </a:r>
          </a:p>
        </p:txBody>
      </p:sp>
      <p:sp>
        <p:nvSpPr>
          <p:cNvPr id="104" name="Rounded Rectangle 103"/>
          <p:cNvSpPr/>
          <p:nvPr/>
        </p:nvSpPr>
        <p:spPr>
          <a:xfrm>
            <a:off x="457200" y="950000"/>
            <a:ext cx="8229600" cy="700000"/>
          </a:xfrm>
          <a:prstGeom prst="roundRect">
            <a:avLst>
              <a:gd name="adj" fmla="val 15000"/>
            </a:avLst>
          </a:prstGeom>
          <a:solidFill>
            <a:srgbClr val="162032"/>
          </a:solidFill>
          <a:ln w="9525">
            <a:solidFill>
              <a:srgbClr val="D9B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5" name="Oval 104"/>
          <p:cNvSpPr/>
          <p:nvPr/>
        </p:nvSpPr>
        <p:spPr>
          <a:xfrm>
            <a:off x="620000" y="1130000"/>
            <a:ext cx="340000" cy="340000"/>
          </a:xfrm>
          <a:prstGeom prst="ellipse">
            <a:avLst/>
          </a:prstGeom>
          <a:solidFill>
            <a:srgbClr val="4A35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6" name="TextBox 105"/>
          <p:cNvSpPr txBox="1"/>
          <p:nvPr/>
        </p:nvSpPr>
        <p:spPr>
          <a:xfrm>
            <a:off x="620000" y="1180000"/>
            <a:ext cx="340000"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D9B84A"/>
                </a:solidFill>
                <a:effectLst/>
                <a:uLnTx/>
                <a:uFillTx/>
                <a:latin typeface="Calibri"/>
                <a:ea typeface="+mn-ea"/>
                <a:cs typeface="+mn-cs"/>
              </a:rPr>
              <a:t>!</a:t>
            </a:r>
          </a:p>
        </p:txBody>
      </p:sp>
      <p:sp>
        <p:nvSpPr>
          <p:cNvPr id="107" name="TextBox 106"/>
          <p:cNvSpPr txBox="1"/>
          <p:nvPr/>
        </p:nvSpPr>
        <p:spPr>
          <a:xfrm>
            <a:off x="1130000" y="1040000"/>
            <a:ext cx="7350000" cy="323165"/>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dirty="0">
                <a:ln>
                  <a:noFill/>
                </a:ln>
                <a:solidFill>
                  <a:srgbClr val="E2E8F0"/>
                </a:solidFill>
                <a:effectLst/>
                <a:uLnTx/>
                <a:uFillTx/>
                <a:latin typeface="Calibri"/>
                <a:ea typeface="+mn-ea"/>
                <a:cs typeface="+mn-cs"/>
              </a:rPr>
              <a:t>With gratitude — built end-to-end by a 2-person team over 5 days for the EY Training 2026 Capstone, with guidance from o</a:t>
            </a:r>
            <a:r>
              <a:rPr kumimoji="0" lang="en-US" sz="1050" b="0" i="0" u="none" strike="noStrike" kern="1200" cap="none" spc="0" normalizeH="0" baseline="0" noProof="0" dirty="0">
                <a:ln>
                  <a:noFill/>
                </a:ln>
                <a:solidFill>
                  <a:srgbClr val="E2E8F0"/>
                </a:solidFill>
                <a:effectLst/>
                <a:uLnTx/>
                <a:uFillTx/>
                <a:latin typeface="Calibri"/>
                <a:ea typeface="+mn-ea"/>
                <a:cs typeface="+mn-cs"/>
              </a:rPr>
              <a:t>ur trainer Rajat Garg</a:t>
            </a:r>
            <a:r>
              <a:rPr kumimoji="0" sz="1050" b="0" i="0" u="none" strike="noStrike" kern="1200" cap="none" spc="0" normalizeH="0" baseline="0" noProof="0" dirty="0">
                <a:ln>
                  <a:noFill/>
                </a:ln>
                <a:solidFill>
                  <a:srgbClr val="E2E8F0"/>
                </a:solidFill>
                <a:effectLst/>
                <a:uLnTx/>
                <a:uFillTx/>
                <a:latin typeface="Calibri"/>
                <a:ea typeface="+mn-ea"/>
                <a:cs typeface="+mn-cs"/>
              </a:rPr>
              <a:t> throughout the training sessions.</a:t>
            </a:r>
          </a:p>
        </p:txBody>
      </p:sp>
      <p:sp>
        <p:nvSpPr>
          <p:cNvPr id="108" name="TextBox 107"/>
          <p:cNvSpPr txBox="1"/>
          <p:nvPr/>
        </p:nvSpPr>
        <p:spPr>
          <a:xfrm>
            <a:off x="457200" y="1850000"/>
            <a:ext cx="4000000" cy="2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59669"/>
                </a:solidFill>
                <a:effectLst/>
                <a:uLnTx/>
                <a:uFillTx/>
                <a:latin typeface="Calibri"/>
                <a:ea typeface="+mn-ea"/>
                <a:cs typeface="+mn-cs"/>
              </a:rPr>
              <a:t>BY THE NUMBERS</a:t>
            </a:r>
          </a:p>
        </p:txBody>
      </p:sp>
      <p:sp>
        <p:nvSpPr>
          <p:cNvPr id="109" name="Oval 108"/>
          <p:cNvSpPr/>
          <p:nvPr/>
        </p:nvSpPr>
        <p:spPr>
          <a:xfrm>
            <a:off x="457200" y="22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p:cNvSpPr txBox="1"/>
          <p:nvPr/>
        </p:nvSpPr>
        <p:spPr>
          <a:xfrm>
            <a:off x="497200" y="22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1" name="TextBox 110"/>
          <p:cNvSpPr txBox="1"/>
          <p:nvPr/>
        </p:nvSpPr>
        <p:spPr>
          <a:xfrm>
            <a:off x="737200" y="22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11,625 total lines of code (Python + docs/config)</a:t>
            </a:r>
          </a:p>
        </p:txBody>
      </p:sp>
      <p:sp>
        <p:nvSpPr>
          <p:cNvPr id="112" name="Oval 111"/>
          <p:cNvSpPr/>
          <p:nvPr/>
        </p:nvSpPr>
        <p:spPr>
          <a:xfrm>
            <a:off x="457200" y="26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TextBox 112"/>
          <p:cNvSpPr txBox="1"/>
          <p:nvPr/>
        </p:nvSpPr>
        <p:spPr>
          <a:xfrm>
            <a:off x="497200" y="26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4" name="TextBox 113"/>
          <p:cNvSpPr txBox="1"/>
          <p:nvPr/>
        </p:nvSpPr>
        <p:spPr>
          <a:xfrm>
            <a:off x="737200" y="26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10,491 Python lines across 77 files</a:t>
            </a:r>
          </a:p>
        </p:txBody>
      </p:sp>
      <p:sp>
        <p:nvSpPr>
          <p:cNvPr id="115" name="Oval 114"/>
          <p:cNvSpPr/>
          <p:nvPr/>
        </p:nvSpPr>
        <p:spPr>
          <a:xfrm>
            <a:off x="457200" y="30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TextBox 115"/>
          <p:cNvSpPr txBox="1"/>
          <p:nvPr/>
        </p:nvSpPr>
        <p:spPr>
          <a:xfrm>
            <a:off x="497200" y="30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7" name="TextBox 116"/>
          <p:cNvSpPr txBox="1"/>
          <p:nvPr/>
        </p:nvSpPr>
        <p:spPr>
          <a:xfrm>
            <a:off x="737200" y="30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src/ backend: 4,696 lines · ui/: 3,660 lines</a:t>
            </a:r>
          </a:p>
        </p:txBody>
      </p:sp>
      <p:sp>
        <p:nvSpPr>
          <p:cNvPr id="118" name="Oval 117"/>
          <p:cNvSpPr/>
          <p:nvPr/>
        </p:nvSpPr>
        <p:spPr>
          <a:xfrm>
            <a:off x="457200" y="34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TextBox 118"/>
          <p:cNvSpPr txBox="1"/>
          <p:nvPr/>
        </p:nvSpPr>
        <p:spPr>
          <a:xfrm>
            <a:off x="497200" y="34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0" name="TextBox 119"/>
          <p:cNvSpPr txBox="1"/>
          <p:nvPr/>
        </p:nvSpPr>
        <p:spPr>
          <a:xfrm>
            <a:off x="737200" y="34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tests/: 1,270 lines · 96 unit tests passing</a:t>
            </a:r>
          </a:p>
        </p:txBody>
      </p:sp>
      <p:sp>
        <p:nvSpPr>
          <p:cNvPr id="121" name="Oval 120"/>
          <p:cNvSpPr/>
          <p:nvPr/>
        </p:nvSpPr>
        <p:spPr>
          <a:xfrm>
            <a:off x="457200" y="38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 name="TextBox 121"/>
          <p:cNvSpPr txBox="1"/>
          <p:nvPr/>
        </p:nvSpPr>
        <p:spPr>
          <a:xfrm>
            <a:off x="497200" y="38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3" name="TextBox 122"/>
          <p:cNvSpPr txBox="1"/>
          <p:nvPr/>
        </p:nvSpPr>
        <p:spPr>
          <a:xfrm>
            <a:off x="737200" y="38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3 LLM providers with automatic fallback</a:t>
            </a:r>
          </a:p>
        </p:txBody>
      </p:sp>
      <p:sp>
        <p:nvSpPr>
          <p:cNvPr id="124" name="Oval 123"/>
          <p:cNvSpPr/>
          <p:nvPr/>
        </p:nvSpPr>
        <p:spPr>
          <a:xfrm>
            <a:off x="457200" y="42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TextBox 124"/>
          <p:cNvSpPr txBox="1"/>
          <p:nvPr/>
        </p:nvSpPr>
        <p:spPr>
          <a:xfrm>
            <a:off x="497200" y="42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6" name="TextBox 125"/>
          <p:cNvSpPr txBox="1"/>
          <p:nvPr/>
        </p:nvSpPr>
        <p:spPr>
          <a:xfrm>
            <a:off x="737200" y="42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40 Indian cities in the retirement planner</a:t>
            </a:r>
          </a:p>
        </p:txBody>
      </p:sp>
      <p:sp>
        <p:nvSpPr>
          <p:cNvPr id="127" name="Oval 126"/>
          <p:cNvSpPr/>
          <p:nvPr/>
        </p:nvSpPr>
        <p:spPr>
          <a:xfrm>
            <a:off x="457200" y="46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TextBox 127"/>
          <p:cNvSpPr txBox="1"/>
          <p:nvPr/>
        </p:nvSpPr>
        <p:spPr>
          <a:xfrm>
            <a:off x="497200" y="46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9" name="TextBox 128"/>
          <p:cNvSpPr txBox="1"/>
          <p:nvPr/>
        </p:nvSpPr>
        <p:spPr>
          <a:xfrm>
            <a:off x="737200" y="46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6 fictional test profiles for reproducible demos</a:t>
            </a:r>
          </a:p>
        </p:txBody>
      </p:sp>
      <p:sp>
        <p:nvSpPr>
          <p:cNvPr id="130" name="Rounded Rectangle 129"/>
          <p:cNvSpPr/>
          <p:nvPr/>
        </p:nvSpPr>
        <p:spPr>
          <a:xfrm>
            <a:off x="4910555" y="1713165"/>
            <a:ext cx="3736800" cy="3350000"/>
          </a:xfrm>
          <a:prstGeom prst="roundRect">
            <a:avLst>
              <a:gd name="adj" fmla="val 5000"/>
            </a:avLst>
          </a:prstGeom>
          <a:solidFill>
            <a:srgbClr val="0E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TextBox 130"/>
          <p:cNvSpPr txBox="1"/>
          <p:nvPr/>
        </p:nvSpPr>
        <p:spPr>
          <a:xfrm>
            <a:off x="5230000" y="2070000"/>
            <a:ext cx="317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OPEN SOURCE WE BUILT ON</a:t>
            </a:r>
          </a:p>
        </p:txBody>
      </p:sp>
      <p:sp>
        <p:nvSpPr>
          <p:cNvPr id="132" name="Oval 131"/>
          <p:cNvSpPr/>
          <p:nvPr/>
        </p:nvSpPr>
        <p:spPr>
          <a:xfrm>
            <a:off x="5230000" y="2550000"/>
            <a:ext cx="500000" cy="500000"/>
          </a:xfrm>
          <a:prstGeom prst="ellipse">
            <a:avLst/>
          </a:prstGeom>
          <a:solidFill>
            <a:srgbClr val="114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TextBox 132"/>
          <p:cNvSpPr txBox="1"/>
          <p:nvPr/>
        </p:nvSpPr>
        <p:spPr>
          <a:xfrm>
            <a:off x="5230000" y="2670000"/>
            <a:ext cx="500000" cy="30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Calibri"/>
                <a:ea typeface="+mn-ea"/>
                <a:cs typeface="+mn-cs"/>
              </a:rPr>
              <a:t>AI</a:t>
            </a:r>
          </a:p>
        </p:txBody>
      </p:sp>
      <p:sp>
        <p:nvSpPr>
          <p:cNvPr id="134" name="TextBox 133"/>
          <p:cNvSpPr txBox="1"/>
          <p:nvPr/>
        </p:nvSpPr>
        <p:spPr>
          <a:xfrm>
            <a:off x="5850000" y="2590000"/>
            <a:ext cx="258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AI / Backend</a:t>
            </a:r>
          </a:p>
        </p:txBody>
      </p:sp>
      <p:sp>
        <p:nvSpPr>
          <p:cNvPr id="135" name="TextBox 134"/>
          <p:cNvSpPr txBox="1"/>
          <p:nvPr/>
        </p:nvSpPr>
        <p:spPr>
          <a:xfrm>
            <a:off x="5230000" y="3130000"/>
            <a:ext cx="3176800" cy="7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CFE3F2"/>
                </a:solidFill>
                <a:effectLst/>
                <a:uLnTx/>
                <a:uFillTx/>
                <a:latin typeface="Calibri"/>
                <a:ea typeface="+mn-ea"/>
                <a:cs typeface="+mn-cs"/>
              </a:rPr>
              <a:t>Streamlit · LangChain · OpenAI · Groq · Gemini · FAISS / Pinecone · rank_bm25 · PyMuPDF / pypdf · bcrypt · PyJWT</a:t>
            </a:r>
          </a:p>
        </p:txBody>
      </p:sp>
      <p:sp>
        <p:nvSpPr>
          <p:cNvPr id="136" name="Oval 135"/>
          <p:cNvSpPr/>
          <p:nvPr/>
        </p:nvSpPr>
        <p:spPr>
          <a:xfrm>
            <a:off x="5230000" y="4100000"/>
            <a:ext cx="500000" cy="500000"/>
          </a:xfrm>
          <a:prstGeom prst="ellipse">
            <a:avLst/>
          </a:prstGeom>
          <a:solidFill>
            <a:srgbClr val="114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 name="TextBox 136"/>
          <p:cNvSpPr txBox="1"/>
          <p:nvPr/>
        </p:nvSpPr>
        <p:spPr>
          <a:xfrm>
            <a:off x="5230000" y="4220000"/>
            <a:ext cx="500000" cy="30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Calibri"/>
                <a:ea typeface="+mn-ea"/>
                <a:cs typeface="+mn-cs"/>
              </a:rPr>
              <a:t>UI</a:t>
            </a:r>
          </a:p>
        </p:txBody>
      </p:sp>
      <p:sp>
        <p:nvSpPr>
          <p:cNvPr id="138" name="TextBox 137"/>
          <p:cNvSpPr txBox="1"/>
          <p:nvPr/>
        </p:nvSpPr>
        <p:spPr>
          <a:xfrm>
            <a:off x="5850000" y="4140000"/>
            <a:ext cx="258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UI / Quality / Ops</a:t>
            </a:r>
          </a:p>
        </p:txBody>
      </p:sp>
      <p:sp>
        <p:nvSpPr>
          <p:cNvPr id="139" name="TextBox 138"/>
          <p:cNvSpPr txBox="1"/>
          <p:nvPr/>
        </p:nvSpPr>
        <p:spPr>
          <a:xfrm>
            <a:off x="5230000" y="4680000"/>
            <a:ext cx="3176800" cy="7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CFE3F2"/>
                </a:solidFill>
                <a:effectLst/>
                <a:uLnTx/>
                <a:uFillTx/>
                <a:latin typeface="Calibri"/>
                <a:ea typeface="+mn-ea"/>
                <a:cs typeface="+mn-cs"/>
              </a:rPr>
              <a:t>Plotly · pytest · RAGAS · DeepEval · Docker · GitHub Actions · LangSmith · Azure App Service</a:t>
            </a:r>
          </a:p>
        </p:txBody>
      </p:sp>
      <p:sp>
        <p:nvSpPr>
          <p:cNvPr id="140" name="TextBox 139"/>
          <p:cNvSpPr txBox="1"/>
          <p:nvPr/>
        </p:nvSpPr>
        <p:spPr>
          <a:xfrm>
            <a:off x="457200" y="5300000"/>
            <a:ext cx="50000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9CA9BC"/>
                </a:solidFill>
                <a:effectLst/>
                <a:uLnTx/>
                <a:uFillTx/>
                <a:latin typeface="Calibri"/>
                <a:ea typeface="+mn-ea"/>
                <a:cs typeface="+mn-cs"/>
              </a:rPr>
              <a:t>Credit Risk Intelligence Platform — Akash Chaurasiya · Ashu Sharma</a:t>
            </a:r>
          </a:p>
        </p:txBody>
      </p:sp>
    </p:spTree>
    <p:extLst>
      <p:ext uri="{BB962C8B-B14F-4D97-AF65-F5344CB8AC3E}">
        <p14:creationId xmlns:p14="http://schemas.microsoft.com/office/powerpoint/2010/main" val="26875469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Challenges and Lesson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C262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C2626"/>
                </a:solidFill>
              </a:rPr>
              <a:t>LESSONS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Challenges We Solved &amp; What We Learned</a:t>
            </a:r>
          </a:p>
        </p:txBody>
      </p:sp>
      <p:sp>
        <p:nvSpPr>
          <p:cNvPr id="104" name="Badge"/>
          <p:cNvSpPr/>
          <p:nvPr/>
        </p:nvSpPr>
        <p:spPr>
          <a:xfrm>
            <a:off x="457200" y="1180000"/>
            <a:ext cx="2100000" cy="230000"/>
          </a:xfrm>
          <a:prstGeom prst="roundRect">
            <a:avLst>
              <a:gd name="adj" fmla="val 50000"/>
            </a:avLst>
          </a:prstGeom>
          <a:solidFill>
            <a:srgbClr val="DC2626">
              <a:alpha val="25000"/>
            </a:srgbClr>
          </a:solidFill>
          <a:ln/>
        </p:spPr>
      </p:sp>
      <p:sp>
        <p:nvSpPr>
          <p:cNvPr id="105" name="BadgeText"/>
          <p:cNvSpPr/>
          <p:nvPr/>
        </p:nvSpPr>
        <p:spPr>
          <a:xfrm>
            <a:off x="457200" y="1180000"/>
            <a:ext cx="210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HARDEST PROBLEMS</a:t>
            </a:r>
          </a:p>
        </p:txBody>
      </p:sp>
      <p:sp>
        <p:nvSpPr>
          <p:cNvPr id="106" name="Text"/>
          <p:cNvSpPr/>
          <p:nvPr/>
        </p:nvSpPr>
        <p:spPr>
          <a:xfrm>
            <a:off x="457200" y="148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Hallucination in RAG</a:t>
            </a:r>
          </a:p>
        </p:txBody>
      </p:sp>
      <p:sp>
        <p:nvSpPr>
          <p:cNvPr id="107" name="Text"/>
          <p:cNvSpPr/>
          <p:nvPr/>
        </p:nvSpPr>
        <p:spPr>
          <a:xfrm>
            <a:off x="457200" y="168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Hybrid BM25 + vector search with year-aware re-ranking. 0.58 → 0.22.</a:t>
            </a:r>
          </a:p>
        </p:txBody>
      </p:sp>
      <p:sp>
        <p:nvSpPr>
          <p:cNvPr id="108" name="Text"/>
          <p:cNvSpPr/>
          <p:nvPr/>
        </p:nvSpPr>
        <p:spPr>
          <a:xfrm>
            <a:off x="457200" y="206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Python 3.11 vs Docker</a:t>
            </a:r>
          </a:p>
        </p:txBody>
      </p:sp>
      <p:sp>
        <p:nvSpPr>
          <p:cNvPr id="109" name="Text"/>
          <p:cNvSpPr/>
          <p:nvPr/>
        </p:nvSpPr>
        <p:spPr>
          <a:xfrm>
            <a:off x="457200" y="226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SyntaxError only in Docker's Python 3.11 — fixed, now tested inside Docker pre-deploy.</a:t>
            </a:r>
          </a:p>
        </p:txBody>
      </p:sp>
      <p:sp>
        <p:nvSpPr>
          <p:cNvPr id="110" name="Text"/>
          <p:cNvSpPr/>
          <p:nvPr/>
        </p:nvSpPr>
        <p:spPr>
          <a:xfrm>
            <a:off x="457200" y="264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Azure CI/CD permissions</a:t>
            </a:r>
          </a:p>
        </p:txBody>
      </p:sp>
      <p:sp>
        <p:nvSpPr>
          <p:cNvPr id="111" name="Text"/>
          <p:cNvSpPr/>
          <p:nvPr/>
        </p:nvSpPr>
        <p:spPr>
          <a:xfrm>
            <a:off x="457200" y="284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No Owner role for a service principal — used Deployment Center + system identity instead.</a:t>
            </a:r>
          </a:p>
        </p:txBody>
      </p:sp>
      <p:sp>
        <p:nvSpPr>
          <p:cNvPr id="112" name="Text"/>
          <p:cNvSpPr/>
          <p:nvPr/>
        </p:nvSpPr>
        <p:spPr>
          <a:xfrm>
            <a:off x="457200" y="322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LLM provider reliability</a:t>
            </a:r>
          </a:p>
        </p:txBody>
      </p:sp>
      <p:sp>
        <p:nvSpPr>
          <p:cNvPr id="113" name="Text"/>
          <p:cNvSpPr/>
          <p:nvPr/>
        </p:nvSpPr>
        <p:spPr>
          <a:xfrm>
            <a:off x="457200" y="342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Gemini deprecations, OpenAI 401s, Groq limits — solved with a 3-tier fallback chain.</a:t>
            </a:r>
          </a:p>
        </p:txBody>
      </p:sp>
      <p:sp>
        <p:nvSpPr>
          <p:cNvPr id="114" name="Badge"/>
          <p:cNvSpPr/>
          <p:nvPr/>
        </p:nvSpPr>
        <p:spPr>
          <a:xfrm>
            <a:off x="4686300" y="1180000"/>
            <a:ext cx="1500000" cy="230000"/>
          </a:xfrm>
          <a:prstGeom prst="roundRect">
            <a:avLst>
              <a:gd name="adj" fmla="val 50000"/>
            </a:avLst>
          </a:prstGeom>
          <a:solidFill>
            <a:srgbClr val="059669">
              <a:alpha val="25000"/>
            </a:srgbClr>
          </a:solidFill>
          <a:ln/>
        </p:spPr>
      </p:sp>
      <p:sp>
        <p:nvSpPr>
          <p:cNvPr id="115" name="BadgeText"/>
          <p:cNvSpPr/>
          <p:nvPr/>
        </p:nvSpPr>
        <p:spPr>
          <a:xfrm>
            <a:off x="4686300" y="1180000"/>
            <a:ext cx="150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WHAT WORKED</a:t>
            </a:r>
          </a:p>
        </p:txBody>
      </p:sp>
      <p:sp>
        <p:nvSpPr>
          <p:cNvPr id="116" name="Text"/>
          <p:cNvSpPr/>
          <p:nvPr/>
        </p:nvSpPr>
        <p:spPr>
          <a:xfrm>
            <a:off x="4686300" y="148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7" name="Text"/>
          <p:cNvSpPr/>
          <p:nvPr/>
        </p:nvSpPr>
        <p:spPr>
          <a:xfrm>
            <a:off x="4886300" y="1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Hybrid search dramatically cut hallucination</a:t>
            </a:r>
          </a:p>
        </p:txBody>
      </p:sp>
      <p:sp>
        <p:nvSpPr>
          <p:cNvPr id="118" name="Text"/>
          <p:cNvSpPr/>
          <p:nvPr/>
        </p:nvSpPr>
        <p:spPr>
          <a:xfrm>
            <a:off x="4686300" y="174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9" name="Text"/>
          <p:cNvSpPr/>
          <p:nvPr/>
        </p:nvSpPr>
        <p:spPr>
          <a:xfrm>
            <a:off x="4886300" y="1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LangSmith tracing made debugging fast</a:t>
            </a:r>
          </a:p>
        </p:txBody>
      </p:sp>
      <p:sp>
        <p:nvSpPr>
          <p:cNvPr id="120" name="Text"/>
          <p:cNvSpPr/>
          <p:nvPr/>
        </p:nvSpPr>
        <p:spPr>
          <a:xfrm>
            <a:off x="4686300" y="200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1" name="Text"/>
          <p:cNvSpPr/>
          <p:nvPr/>
        </p:nvSpPr>
        <p:spPr>
          <a:xfrm>
            <a:off x="4886300" y="200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Pydantic settings caught config errors early</a:t>
            </a:r>
          </a:p>
        </p:txBody>
      </p:sp>
      <p:sp>
        <p:nvSpPr>
          <p:cNvPr id="122" name="Text"/>
          <p:cNvSpPr/>
          <p:nvPr/>
        </p:nvSpPr>
        <p:spPr>
          <a:xfrm>
            <a:off x="4686300" y="226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3" name="Text"/>
          <p:cNvSpPr/>
          <p:nvPr/>
        </p:nvSpPr>
        <p:spPr>
          <a:xfrm>
            <a:off x="4886300" y="22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96 tests caught Docker/Python issues pre-deploy</a:t>
            </a:r>
          </a:p>
        </p:txBody>
      </p:sp>
      <p:sp>
        <p:nvSpPr>
          <p:cNvPr id="124" name="Badge"/>
          <p:cNvSpPr/>
          <p:nvPr/>
        </p:nvSpPr>
        <p:spPr>
          <a:xfrm>
            <a:off x="4686300" y="2660000"/>
            <a:ext cx="1900000" cy="230000"/>
          </a:xfrm>
          <a:prstGeom prst="roundRect">
            <a:avLst>
              <a:gd name="adj" fmla="val 50000"/>
            </a:avLst>
          </a:prstGeom>
          <a:solidFill>
            <a:srgbClr val="D97706">
              <a:alpha val="25000"/>
            </a:srgbClr>
          </a:solidFill>
          <a:ln/>
        </p:spPr>
      </p:sp>
      <p:sp>
        <p:nvSpPr>
          <p:cNvPr id="125" name="BadgeText"/>
          <p:cNvSpPr/>
          <p:nvPr/>
        </p:nvSpPr>
        <p:spPr>
          <a:xfrm>
            <a:off x="4686300" y="2660000"/>
            <a:ext cx="1900000" cy="230000"/>
          </a:xfrm>
          <a:prstGeom prst="rect">
            <a:avLst/>
          </a:prstGeom>
          <a:noFill/>
          <a:ln/>
        </p:spPr>
        <p:txBody>
          <a:bodyPr wrap="square" lIns="0" tIns="0" rIns="0" bIns="0" rtlCol="0" anchor="ctr"/>
          <a:lstStyle/>
          <a:p>
            <a:pPr marL="0" indent="0" algn="ctr">
              <a:buNone/>
            </a:pPr>
            <a:r>
              <a:rPr lang="en-US" sz="900" b="1" kern="0" spc="150" dirty="0">
                <a:solidFill>
                  <a:srgbClr val="D97706"/>
                </a:solidFill>
              </a:rPr>
              <a:t>WHAT WE'D DO DIFFERENTLY</a:t>
            </a:r>
          </a:p>
        </p:txBody>
      </p:sp>
      <p:sp>
        <p:nvSpPr>
          <p:cNvPr id="126" name="Text"/>
          <p:cNvSpPr/>
          <p:nvPr/>
        </p:nvSpPr>
        <p:spPr>
          <a:xfrm>
            <a:off x="4686300" y="296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7" name="Text"/>
          <p:cNvSpPr/>
          <p:nvPr/>
        </p:nvSpPr>
        <p:spPr>
          <a:xfrm>
            <a:off x="4886300" y="29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Use managed auth (Supabase/Auth0) from day one</a:t>
            </a:r>
          </a:p>
        </p:txBody>
      </p:sp>
      <p:sp>
        <p:nvSpPr>
          <p:cNvPr id="128" name="Text"/>
          <p:cNvSpPr/>
          <p:nvPr/>
        </p:nvSpPr>
        <p:spPr>
          <a:xfrm>
            <a:off x="4686300" y="322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9" name="Text"/>
          <p:cNvSpPr/>
          <p:nvPr/>
        </p:nvSpPr>
        <p:spPr>
          <a:xfrm>
            <a:off x="4886300" y="322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Pin all package versions from the start</a:t>
            </a:r>
          </a:p>
        </p:txBody>
      </p:sp>
      <p:sp>
        <p:nvSpPr>
          <p:cNvPr id="130" name="Text"/>
          <p:cNvSpPr/>
          <p:nvPr/>
        </p:nvSpPr>
        <p:spPr>
          <a:xfrm>
            <a:off x="4686300" y="348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1" name="Text"/>
          <p:cNvSpPr/>
          <p:nvPr/>
        </p:nvSpPr>
        <p:spPr>
          <a:xfrm>
            <a:off x="4886300" y="3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Set up LangSmith tracing from day one</a:t>
            </a:r>
          </a:p>
        </p:txBody>
      </p:sp>
      <p:sp>
        <p:nvSpPr>
          <p:cNvPr id="132" name="Text"/>
          <p:cNvSpPr/>
          <p:nvPr/>
        </p:nvSpPr>
        <p:spPr>
          <a:xfrm>
            <a:off x="4686300" y="374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3" name="Text"/>
          <p:cNvSpPr/>
          <p:nvPr/>
        </p:nvSpPr>
        <p:spPr>
          <a:xfrm>
            <a:off x="4886300" y="3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Add a background job queue for large PDFs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2286000" cy="256032"/>
          </a:xfrm>
          <a:prstGeom prst="roundRect">
            <a:avLst>
              <a:gd name="adj" fmla="val 21429"/>
            </a:avLst>
          </a:prstGeom>
          <a:solidFill>
            <a:srgbClr val="F5A623">
              <a:alpha val="22000"/>
            </a:srgbClr>
          </a:solidFill>
          <a:ln/>
        </p:spPr>
      </p:sp>
      <p:sp>
        <p:nvSpPr>
          <p:cNvPr id="3" name="Text 1"/>
          <p:cNvSpPr/>
          <p:nvPr/>
        </p:nvSpPr>
        <p:spPr>
          <a:xfrm>
            <a:off x="457200" y="274320"/>
            <a:ext cx="2286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20" normalizeH="0" baseline="0" noProof="0" dirty="0">
                <a:ln>
                  <a:noFill/>
                </a:ln>
                <a:solidFill>
                  <a:srgbClr val="F5A623"/>
                </a:solidFill>
                <a:effectLst/>
                <a:uLnTx/>
                <a:uFillTx/>
                <a:latin typeface="Calibri" pitchFamily="34" charset="0"/>
                <a:ea typeface="Calibri" pitchFamily="34" charset="-122"/>
                <a:cs typeface="Calibri" pitchFamily="34" charset="-120"/>
              </a:rPr>
              <a:t>EY GUIDELINES · IN PRACTICE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457200" y="566928"/>
            <a:ext cx="8229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How Our Project Followed Coding Guidelines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 y="969264"/>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EY coding principle mapped to what we actually built and shipped on the Credit Risk Intelligence Platform.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45720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7" name="Shape 5"/>
          <p:cNvSpPr/>
          <p:nvPr/>
        </p:nvSpPr>
        <p:spPr>
          <a:xfrm>
            <a:off x="603504" y="1545336"/>
            <a:ext cx="402336" cy="402336"/>
          </a:xfrm>
          <a:prstGeom prst="ellipse">
            <a:avLst/>
          </a:prstGeom>
          <a:solidFill>
            <a:srgbClr val="E8544E">
              <a:alpha val="20000"/>
            </a:srgbClr>
          </a:solidFill>
          <a:ln/>
        </p:spPr>
      </p:sp>
      <p:sp>
        <p:nvSpPr>
          <p:cNvPr id="8" name="Text 6"/>
          <p:cNvSpPr/>
          <p:nvPr/>
        </p:nvSpPr>
        <p:spPr>
          <a:xfrm>
            <a:off x="60350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11556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Naming Conventions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11556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Modules named by responsibility — test_auth.py, test_loan_workflow.py, test_reranker.py, retrieval_agent, chat_agent — consistent across the codebase.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70916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2" name="Shape 10"/>
          <p:cNvSpPr/>
          <p:nvPr/>
        </p:nvSpPr>
        <p:spPr>
          <a:xfrm>
            <a:off x="4855464" y="1545336"/>
            <a:ext cx="402336" cy="402336"/>
          </a:xfrm>
          <a:prstGeom prst="ellipse">
            <a:avLst/>
          </a:prstGeom>
          <a:solidFill>
            <a:srgbClr val="3B82F6">
              <a:alpha val="20000"/>
            </a:srgbClr>
          </a:solidFill>
          <a:ln/>
        </p:spPr>
      </p:sp>
      <p:sp>
        <p:nvSpPr>
          <p:cNvPr id="13" name="Text 11"/>
          <p:cNvSpPr/>
          <p:nvPr/>
        </p:nvSpPr>
        <p:spPr>
          <a:xfrm>
            <a:off x="485546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36752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Code Reviews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36752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push is gated: GitHub Actions runs all 96 tests automatically before code can move forward — no merge without a passing check.</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7" name="Shape 15"/>
          <p:cNvSpPr/>
          <p:nvPr/>
        </p:nvSpPr>
        <p:spPr>
          <a:xfrm>
            <a:off x="603504" y="2459736"/>
            <a:ext cx="402336" cy="402336"/>
          </a:xfrm>
          <a:prstGeom prst="ellipse">
            <a:avLst/>
          </a:prstGeom>
          <a:solidFill>
            <a:srgbClr val="059669">
              <a:alpha val="20000"/>
            </a:srgbClr>
          </a:solidFill>
          <a:ln/>
        </p:spPr>
      </p:sp>
      <p:sp>
        <p:nvSpPr>
          <p:cNvPr id="18" name="Text 16"/>
          <p:cNvSpPr/>
          <p:nvPr/>
        </p:nvSpPr>
        <p:spPr>
          <a:xfrm>
            <a:off x="60350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59669"/>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111556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Documentation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11556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LangSmith traces every step by name (auth.login_attempt, document_processing, run_risk_analysis) — intent is visible, not just code.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70916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2" name="Shape 20"/>
          <p:cNvSpPr/>
          <p:nvPr/>
        </p:nvSpPr>
        <p:spPr>
          <a:xfrm>
            <a:off x="4855464" y="2459736"/>
            <a:ext cx="402336" cy="402336"/>
          </a:xfrm>
          <a:prstGeom prst="ellipse">
            <a:avLst/>
          </a:prstGeom>
          <a:solidFill>
            <a:srgbClr val="F5A623">
              <a:alpha val="20000"/>
            </a:srgbClr>
          </a:solidFill>
          <a:ln/>
        </p:spPr>
      </p:sp>
      <p:sp>
        <p:nvSpPr>
          <p:cNvPr id="23" name="Text 21"/>
          <p:cNvSpPr/>
          <p:nvPr/>
        </p:nvSpPr>
        <p:spPr>
          <a:xfrm>
            <a:off x="485546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5A623"/>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536752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Security &amp; Compliance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36752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JWT + bcrypt authentication; 13 secure environment settings kept out of the Docker image, never baked into the build.</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5720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7" name="Shape 25"/>
          <p:cNvSpPr/>
          <p:nvPr/>
        </p:nvSpPr>
        <p:spPr>
          <a:xfrm>
            <a:off x="603504" y="3374136"/>
            <a:ext cx="402336" cy="402336"/>
          </a:xfrm>
          <a:prstGeom prst="ellipse">
            <a:avLst/>
          </a:prstGeom>
          <a:solidFill>
            <a:srgbClr val="E8544E">
              <a:alpha val="20000"/>
            </a:srgbClr>
          </a:solidFill>
          <a:ln/>
        </p:spPr>
      </p:sp>
      <p:sp>
        <p:nvSpPr>
          <p:cNvPr id="28" name="Text 26"/>
          <p:cNvSpPr/>
          <p:nvPr/>
        </p:nvSpPr>
        <p:spPr>
          <a:xfrm>
            <a:off x="60350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11556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Testing Standards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111556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96 unit tests across every module, plus DeepEval (0.22 hallucination score) and RAGAS (0.88 faithfulness) — all run in CI in 6 seconds.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70916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32" name="Shape 30"/>
          <p:cNvSpPr/>
          <p:nvPr/>
        </p:nvSpPr>
        <p:spPr>
          <a:xfrm>
            <a:off x="4855464" y="3374136"/>
            <a:ext cx="402336" cy="402336"/>
          </a:xfrm>
          <a:prstGeom prst="ellipse">
            <a:avLst/>
          </a:prstGeom>
          <a:solidFill>
            <a:srgbClr val="3B82F6">
              <a:alpha val="20000"/>
            </a:srgbClr>
          </a:solidFill>
          <a:ln/>
        </p:spPr>
      </p:sp>
      <p:sp>
        <p:nvSpPr>
          <p:cNvPr id="33" name="Text 31"/>
          <p:cNvSpPr/>
          <p:nvPr/>
        </p:nvSpPr>
        <p:spPr>
          <a:xfrm>
            <a:off x="485546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36752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Version Control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36752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Trunk-based flow: git push → tests → Docker build → push to ACR → deploy — a clean, atomic, automated pipeline to Azure.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433816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SUBMITTED</a:t>
            </a:r>
            <a:endParaRPr lang="en-US" sz="900" dirty="0"/>
          </a:p>
        </p:txBody>
      </p:sp>
      <p:sp>
        <p:nvSpPr>
          <p:cNvPr id="6" name="Text 4"/>
          <p:cNvSpPr/>
          <p:nvPr/>
        </p:nvSpPr>
        <p:spPr>
          <a:xfrm>
            <a:off x="91440" y="1275588"/>
            <a:ext cx="8229600" cy="7315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Thank You</a:t>
            </a:r>
          </a:p>
          <a:p>
            <a:pPr algn="ctr"/>
            <a:r>
              <a:rPr lang="en-US" sz="2400" b="1" dirty="0">
                <a:solidFill>
                  <a:srgbClr val="FFFFFF"/>
                </a:solidFill>
                <a:latin typeface="Cambria" pitchFamily="34" charset="0"/>
                <a:ea typeface="Cambria" pitchFamily="34" charset="-122"/>
                <a:cs typeface="Cambria" pitchFamily="34" charset="-120"/>
              </a:rPr>
              <a:t>Questions &amp; Answers</a:t>
            </a:r>
            <a:endParaRPr lang="en-US" sz="2400" dirty="0"/>
          </a:p>
          <a:p>
            <a:pPr marL="0" indent="0" algn="ctr">
              <a:buNone/>
            </a:pPr>
            <a:endParaRPr lang="en-US" sz="4800" dirty="0"/>
          </a:p>
        </p:txBody>
      </p:sp>
      <p:sp>
        <p:nvSpPr>
          <p:cNvPr id="8" name="Shape 6"/>
          <p:cNvSpPr/>
          <p:nvPr/>
        </p:nvSpPr>
        <p:spPr>
          <a:xfrm>
            <a:off x="82296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9" name="Text 7"/>
          <p:cNvSpPr/>
          <p:nvPr/>
        </p:nvSpPr>
        <p:spPr>
          <a:xfrm>
            <a:off x="1005840" y="2487168"/>
            <a:ext cx="1097280" cy="384048"/>
          </a:xfrm>
          <a:prstGeom prst="rect">
            <a:avLst/>
          </a:prstGeom>
          <a:noFill/>
          <a:ln/>
        </p:spPr>
        <p:txBody>
          <a:bodyPr wrap="square" lIns="0" tIns="0" rIns="0" bIns="0" rtlCol="0" anchor="ctr"/>
          <a:lstStyle/>
          <a:p>
            <a:pPr marL="0" indent="0">
              <a:buNone/>
            </a:pPr>
            <a:r>
              <a:rPr lang="en-US" sz="1000" b="1" dirty="0">
                <a:solidFill>
                  <a:srgbClr val="0891B2"/>
                </a:solidFill>
              </a:rPr>
              <a:t>🌐 Live App  </a:t>
            </a:r>
            <a:endParaRPr lang="en-US" sz="1000" dirty="0"/>
          </a:p>
        </p:txBody>
      </p:sp>
      <p:sp>
        <p:nvSpPr>
          <p:cNvPr id="10" name="Text 8"/>
          <p:cNvSpPr/>
          <p:nvPr/>
        </p:nvSpPr>
        <p:spPr>
          <a:xfrm>
            <a:off x="192024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creditriskplatform.azurewebsites.net</a:t>
            </a:r>
            <a:endParaRPr lang="en-US" sz="950" dirty="0"/>
          </a:p>
        </p:txBody>
      </p:sp>
      <p:sp>
        <p:nvSpPr>
          <p:cNvPr id="11" name="Shape 9"/>
          <p:cNvSpPr/>
          <p:nvPr/>
        </p:nvSpPr>
        <p:spPr>
          <a:xfrm>
            <a:off x="466344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2" name="Text 10"/>
          <p:cNvSpPr/>
          <p:nvPr/>
        </p:nvSpPr>
        <p:spPr>
          <a:xfrm>
            <a:off x="4846320" y="2487168"/>
            <a:ext cx="1097280" cy="384048"/>
          </a:xfrm>
          <a:prstGeom prst="rect">
            <a:avLst/>
          </a:prstGeom>
          <a:noFill/>
          <a:ln/>
        </p:spPr>
        <p:txBody>
          <a:bodyPr wrap="square" lIns="0" tIns="0" rIns="0" bIns="0" rtlCol="0" anchor="ctr"/>
          <a:lstStyle/>
          <a:p>
            <a:pPr marL="0" indent="0">
              <a:buNone/>
            </a:pPr>
            <a:r>
              <a:rPr lang="en-US" sz="1000" b="1" dirty="0">
                <a:solidFill>
                  <a:srgbClr val="2563EB"/>
                </a:solidFill>
              </a:rPr>
              <a:t>💻 GitHub  </a:t>
            </a:r>
            <a:endParaRPr lang="en-US" sz="1000" dirty="0"/>
          </a:p>
        </p:txBody>
      </p:sp>
      <p:sp>
        <p:nvSpPr>
          <p:cNvPr id="13" name="Text 11"/>
          <p:cNvSpPr/>
          <p:nvPr/>
        </p:nvSpPr>
        <p:spPr>
          <a:xfrm>
            <a:off x="576072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github.com/Chaurasiyakash0136/EY-Training-2026</a:t>
            </a:r>
            <a:endParaRPr lang="en-US" sz="950" dirty="0"/>
          </a:p>
        </p:txBody>
      </p:sp>
      <p:sp>
        <p:nvSpPr>
          <p:cNvPr id="14" name="Shape 12"/>
          <p:cNvSpPr/>
          <p:nvPr/>
        </p:nvSpPr>
        <p:spPr>
          <a:xfrm>
            <a:off x="82296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5" name="Text 13"/>
          <p:cNvSpPr/>
          <p:nvPr/>
        </p:nvSpPr>
        <p:spPr>
          <a:xfrm>
            <a:off x="1005840" y="3200400"/>
            <a:ext cx="1097280" cy="384048"/>
          </a:xfrm>
          <a:prstGeom prst="rect">
            <a:avLst/>
          </a:prstGeom>
          <a:noFill/>
          <a:ln/>
        </p:spPr>
        <p:txBody>
          <a:bodyPr wrap="square" lIns="0" tIns="0" rIns="0" bIns="0" rtlCol="0" anchor="ctr"/>
          <a:lstStyle/>
          <a:p>
            <a:pPr marL="0" indent="0">
              <a:buNone/>
            </a:pPr>
            <a:r>
              <a:rPr lang="en-US" sz="1000" b="1" dirty="0">
                <a:solidFill>
                  <a:srgbClr val="D97706"/>
                </a:solidFill>
              </a:rPr>
              <a:t>🔍 LangSmith  </a:t>
            </a:r>
            <a:endParaRPr lang="en-US" sz="1000" dirty="0"/>
          </a:p>
        </p:txBody>
      </p:sp>
      <p:sp>
        <p:nvSpPr>
          <p:cNvPr id="16" name="Text 14"/>
          <p:cNvSpPr/>
          <p:nvPr/>
        </p:nvSpPr>
        <p:spPr>
          <a:xfrm>
            <a:off x="192024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smith.langchain.com → credit-risk-platform</a:t>
            </a:r>
            <a:endParaRPr lang="en-US" sz="950" dirty="0"/>
          </a:p>
        </p:txBody>
      </p:sp>
      <p:sp>
        <p:nvSpPr>
          <p:cNvPr id="17" name="Shape 15"/>
          <p:cNvSpPr/>
          <p:nvPr/>
        </p:nvSpPr>
        <p:spPr>
          <a:xfrm>
            <a:off x="466344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8" name="Text 16"/>
          <p:cNvSpPr/>
          <p:nvPr/>
        </p:nvSpPr>
        <p:spPr>
          <a:xfrm>
            <a:off x="4846320" y="3200400"/>
            <a:ext cx="1097280" cy="384048"/>
          </a:xfrm>
          <a:prstGeom prst="rect">
            <a:avLst/>
          </a:prstGeom>
          <a:noFill/>
          <a:ln/>
        </p:spPr>
        <p:txBody>
          <a:bodyPr wrap="square" lIns="0" tIns="0" rIns="0" bIns="0" rtlCol="0" anchor="ctr"/>
          <a:lstStyle/>
          <a:p>
            <a:pPr marL="0" indent="0">
              <a:buNone/>
            </a:pPr>
            <a:r>
              <a:rPr lang="en-US" sz="1000" b="1" dirty="0">
                <a:solidFill>
                  <a:srgbClr val="059669"/>
                </a:solidFill>
              </a:rPr>
              <a:t>🏷️ Version  </a:t>
            </a:r>
            <a:endParaRPr lang="en-US" sz="1000" dirty="0"/>
          </a:p>
        </p:txBody>
      </p:sp>
      <p:sp>
        <p:nvSpPr>
          <p:cNvPr id="19" name="Text 17"/>
          <p:cNvSpPr/>
          <p:nvPr/>
        </p:nvSpPr>
        <p:spPr>
          <a:xfrm>
            <a:off x="576072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 tag v1.0 — main branch</a:t>
            </a:r>
            <a:endParaRPr lang="en-US" sz="95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Akash Chaurasiya  ·  Ashu Sharma  ·  EY Training 2026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305</TotalTime>
  <Words>2269</Words>
  <Application>Microsoft Office PowerPoint</Application>
  <PresentationFormat>On-screen Show (16:9)</PresentationFormat>
  <Paragraphs>394</Paragraphs>
  <Slides>19</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Arial</vt:lpstr>
      <vt:lpstr>Calibri</vt:lpstr>
      <vt:lpstr>Cambria</vt:lpstr>
      <vt:lpstr>Courier New</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Risk Intelligence Platform</dc:title>
  <dc:subject>EY Training 2026 Capstone</dc:subject>
  <dc:creator>Akash Chaurasiya &amp; Ashu Sharma</dc:creator>
  <cp:lastModifiedBy>azuser7270_mml.local</cp:lastModifiedBy>
  <cp:revision>64</cp:revision>
  <dcterms:created xsi:type="dcterms:W3CDTF">2026-07-02T07:39:23Z</dcterms:created>
  <dcterms:modified xsi:type="dcterms:W3CDTF">2026-07-09T02:17:32Z</dcterms:modified>
</cp:coreProperties>
</file>